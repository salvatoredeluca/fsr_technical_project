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56" r:id="rId5"/>
    <p:sldId id="260" r:id="rId6"/>
    <p:sldId id="261" r:id="rId7"/>
    <p:sldId id="262" r:id="rId8"/>
    <p:sldId id="263" r:id="rId9"/>
    <p:sldId id="264" r:id="rId10"/>
    <p:sldId id="265" r:id="rId11"/>
    <p:sldId id="266" r:id="rId12"/>
    <p:sldId id="271" r:id="rId13"/>
    <p:sldId id="267" r:id="rId14"/>
    <p:sldId id="272" r:id="rId15"/>
    <p:sldId id="268" r:id="rId16"/>
    <p:sldId id="269" r:id="rId17"/>
    <p:sldId id="270" r:id="rId18"/>
    <p:sldId id="273" r:id="rId19"/>
    <p:sldId id="274" r:id="rId20"/>
  </p:sldIdLst>
  <p:sldSz cx="12192000" cy="6858000"/>
  <p:notesSz cx="6858000" cy="9144000"/>
  <p:defaultText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C00"/>
    <a:srgbClr val="971720"/>
    <a:srgbClr val="4A7EBB"/>
    <a:srgbClr val="162230"/>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44" autoAdjust="0"/>
    <p:restoredTop sz="59085" autoAdjust="0"/>
  </p:normalViewPr>
  <p:slideViewPr>
    <p:cSldViewPr snapToGrid="0" snapToObjects="1">
      <p:cViewPr>
        <p:scale>
          <a:sx n="49" d="100"/>
          <a:sy n="49" d="100"/>
        </p:scale>
        <p:origin x="2376" y="29"/>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914F915-DDDE-4CAA-895D-614564BB8837}" type="datetimeFigureOut">
              <a:rPr lang="en-GB" smtClean="0"/>
              <a:t>30/08/2025</a:t>
            </a:fld>
            <a:endParaRPr lang="en-GB"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CBB5884-7D75-46CC-B688-7B54B2BD8EAE}" type="slidenum">
              <a:rPr lang="en-GB" smtClean="0"/>
              <a:t>‹N›</a:t>
            </a:fld>
            <a:endParaRPr lang="en-GB" dirty="0"/>
          </a:p>
        </p:txBody>
      </p:sp>
    </p:spTree>
    <p:extLst>
      <p:ext uri="{BB962C8B-B14F-4D97-AF65-F5344CB8AC3E}">
        <p14:creationId xmlns:p14="http://schemas.microsoft.com/office/powerpoint/2010/main" val="36697033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D4C5A5-33D0-4441-96FE-163C8B7C9D3F}" type="datetimeFigureOut">
              <a:rPr lang="en-GB" smtClean="0"/>
              <a:t>30/08/2025</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04E1B5-63BC-4334-9D81-D58D41015F1C}" type="slidenum">
              <a:rPr lang="en-GB" smtClean="0"/>
              <a:t>‹N›</a:t>
            </a:fld>
            <a:endParaRPr lang="en-GB" dirty="0"/>
          </a:p>
        </p:txBody>
      </p:sp>
    </p:spTree>
    <p:extLst>
      <p:ext uri="{BB962C8B-B14F-4D97-AF65-F5344CB8AC3E}">
        <p14:creationId xmlns:p14="http://schemas.microsoft.com/office/powerpoint/2010/main" val="3450470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it-IT" dirty="0"/>
              <a:t>The Technical Project I </a:t>
            </a:r>
            <a:r>
              <a:rPr lang="it-IT" dirty="0" err="1"/>
              <a:t>worked</a:t>
            </a:r>
            <a:r>
              <a:rPr lang="it-IT" dirty="0"/>
              <a:t> on </a:t>
            </a:r>
            <a:r>
              <a:rPr lang="it-IT" dirty="0" err="1"/>
              <a:t>consists</a:t>
            </a:r>
            <a:r>
              <a:rPr lang="it-IT" dirty="0"/>
              <a:t> in the </a:t>
            </a:r>
            <a:r>
              <a:rPr lang="it-IT" dirty="0" err="1"/>
              <a:t>modelling</a:t>
            </a:r>
            <a:r>
              <a:rPr lang="it-IT" dirty="0"/>
              <a:t> and control of an </a:t>
            </a:r>
            <a:r>
              <a:rPr lang="it-IT" dirty="0" err="1"/>
              <a:t>Underwater</a:t>
            </a:r>
            <a:r>
              <a:rPr lang="it-IT" dirty="0"/>
              <a:t> Robot</a:t>
            </a:r>
          </a:p>
        </p:txBody>
      </p:sp>
      <p:sp>
        <p:nvSpPr>
          <p:cNvPr id="4" name="Segnaposto numero diapositiva 3"/>
          <p:cNvSpPr>
            <a:spLocks noGrp="1"/>
          </p:cNvSpPr>
          <p:nvPr>
            <p:ph type="sldNum" sz="quarter" idx="5"/>
          </p:nvPr>
        </p:nvSpPr>
        <p:spPr/>
        <p:txBody>
          <a:bodyPr/>
          <a:lstStyle/>
          <a:p>
            <a:fld id="{EE04E1B5-63BC-4334-9D81-D58D41015F1C}" type="slidenum">
              <a:rPr lang="en-GB" smtClean="0"/>
              <a:t>1</a:t>
            </a:fld>
            <a:endParaRPr lang="en-GB" dirty="0"/>
          </a:p>
        </p:txBody>
      </p:sp>
    </p:spTree>
    <p:extLst>
      <p:ext uri="{BB962C8B-B14F-4D97-AF65-F5344CB8AC3E}">
        <p14:creationId xmlns:p14="http://schemas.microsoft.com/office/powerpoint/2010/main" val="32600516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EE04E1B5-63BC-4334-9D81-D58D41015F1C}" type="slidenum">
              <a:rPr lang="en-GB" smtClean="0"/>
              <a:t>2</a:t>
            </a:fld>
            <a:endParaRPr lang="en-GB" dirty="0"/>
          </a:p>
        </p:txBody>
      </p:sp>
    </p:spTree>
    <p:extLst>
      <p:ext uri="{BB962C8B-B14F-4D97-AF65-F5344CB8AC3E}">
        <p14:creationId xmlns:p14="http://schemas.microsoft.com/office/powerpoint/2010/main" val="17496621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0840E-532F-13CA-824A-1AD97B0A0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6F4F5-EDCF-C1FC-E778-3FC2798D974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2102A62-2831-8010-3C43-A91C6D809BEC}"/>
              </a:ext>
            </a:extLst>
          </p:cNvPr>
          <p:cNvSpPr>
            <a:spLocks noGrp="1"/>
          </p:cNvSpPr>
          <p:nvPr>
            <p:ph type="body" idx="1"/>
          </p:nvPr>
        </p:nvSpPr>
        <p:spPr/>
        <p:txBody>
          <a:bodyPr/>
          <a:lstStyle/>
          <a:p>
            <a:r>
              <a:rPr lang="en-GB" dirty="0"/>
              <a:t>In particular the project is focused on modelling a BlueROV2, so a 6-DOF dynamic model has been developed. Underwater robots are characterized by highly non linear terms, so control of such vehicles could be challenging, for this reason one can adopt Model-Based control technique to obtain some sort of compensation of the non linearities. In this project two non linear control strategies have been developed and tested in simulation to make to ROV follow a trajectory</a:t>
            </a:r>
          </a:p>
        </p:txBody>
      </p:sp>
      <p:sp>
        <p:nvSpPr>
          <p:cNvPr id="4" name="Slide Number Placeholder 3">
            <a:extLst>
              <a:ext uri="{FF2B5EF4-FFF2-40B4-BE49-F238E27FC236}">
                <a16:creationId xmlns:a16="http://schemas.microsoft.com/office/drawing/2014/main" id="{E42E03CA-2C85-326C-3CA7-3DBF51496C36}"/>
              </a:ext>
            </a:extLst>
          </p:cNvPr>
          <p:cNvSpPr>
            <a:spLocks noGrp="1"/>
          </p:cNvSpPr>
          <p:nvPr>
            <p:ph type="sldNum" sz="quarter" idx="10"/>
          </p:nvPr>
        </p:nvSpPr>
        <p:spPr/>
        <p:txBody>
          <a:bodyPr/>
          <a:lstStyle/>
          <a:p>
            <a:fld id="{EE04E1B5-63BC-4334-9D81-D58D41015F1C}" type="slidenum">
              <a:rPr lang="en-GB" smtClean="0"/>
              <a:t>3</a:t>
            </a:fld>
            <a:endParaRPr lang="en-GB" dirty="0"/>
          </a:p>
        </p:txBody>
      </p:sp>
    </p:spTree>
    <p:extLst>
      <p:ext uri="{BB962C8B-B14F-4D97-AF65-F5344CB8AC3E}">
        <p14:creationId xmlns:p14="http://schemas.microsoft.com/office/powerpoint/2010/main" val="3480900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852F4-D774-1DCE-3E9D-FC749FB4F6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9AA390-7200-6330-BC72-7D063F9B2DA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62B1A7F-4252-2D0D-26B2-789721A9D15E}"/>
              </a:ext>
            </a:extLst>
          </p:cNvPr>
          <p:cNvSpPr>
            <a:spLocks noGrp="1"/>
          </p:cNvSpPr>
          <p:nvPr>
            <p:ph type="body" idx="1"/>
          </p:nvPr>
        </p:nvSpPr>
        <p:spPr/>
        <p:txBody>
          <a:bodyPr/>
          <a:lstStyle/>
          <a:p>
            <a:pPr marL="0" indent="0">
              <a:buFont typeface="Arial" panose="020B0604020202020204" pitchFamily="34" charset="0"/>
              <a:buNone/>
            </a:pPr>
            <a:r>
              <a:rPr lang="en-GB" dirty="0"/>
              <a:t>To compute the model two frames have been considered: </a:t>
            </a:r>
          </a:p>
          <a:p>
            <a:pPr marL="171450" indent="-171450">
              <a:buFont typeface="Arial" panose="020B0604020202020204" pitchFamily="34" charset="0"/>
              <a:buChar char="•"/>
            </a:pPr>
            <a:r>
              <a:rPr lang="en-GB" dirty="0"/>
              <a:t>a NED reference frame, which refers to the real world, where the </a:t>
            </a:r>
            <a:r>
              <a:rPr lang="en-GB" dirty="0" err="1"/>
              <a:t>x,y,z</a:t>
            </a:r>
            <a:r>
              <a:rPr lang="en-GB" dirty="0"/>
              <a:t> axes points toward </a:t>
            </a:r>
            <a:r>
              <a:rPr lang="en-GB" dirty="0" err="1"/>
              <a:t>north,east</a:t>
            </a:r>
            <a:r>
              <a:rPr lang="en-GB" dirty="0"/>
              <a:t> and downwards NORMAL to the earth’s surface</a:t>
            </a:r>
          </a:p>
          <a:p>
            <a:pPr marL="171450" indent="-171450">
              <a:buFont typeface="Arial" panose="020B0604020202020204" pitchFamily="34" charset="0"/>
              <a:buChar char="•"/>
            </a:pPr>
            <a:r>
              <a:rPr lang="en-GB" dirty="0"/>
              <a:t>A Body frame attached to the body of the vehicle and fixed with respect to it, the </a:t>
            </a:r>
            <a:r>
              <a:rPr lang="en-GB" dirty="0" err="1"/>
              <a:t>center</a:t>
            </a:r>
            <a:r>
              <a:rPr lang="en-GB" dirty="0"/>
              <a:t> of such a frame typically coincides with the </a:t>
            </a:r>
            <a:r>
              <a:rPr lang="en-GB" dirty="0" err="1"/>
              <a:t>center</a:t>
            </a:r>
            <a:r>
              <a:rPr lang="en-GB" dirty="0"/>
              <a:t> of mass of the body</a:t>
            </a:r>
          </a:p>
          <a:p>
            <a:pPr marL="0" indent="0">
              <a:buFont typeface="Arial" panose="020B0604020202020204" pitchFamily="34" charset="0"/>
              <a:buNone/>
            </a:pPr>
            <a:r>
              <a:rPr lang="en-GB" dirty="0"/>
              <a:t>Once the frame have been fixed we can define</a:t>
            </a:r>
          </a:p>
          <a:p>
            <a:pPr marL="171450" indent="-171450">
              <a:buFont typeface="Arial" panose="020B0604020202020204" pitchFamily="34" charset="0"/>
              <a:buChar char="•"/>
            </a:pPr>
            <a:r>
              <a:rPr lang="en-GB" dirty="0"/>
              <a:t> the pose vector in the NED reference frame</a:t>
            </a:r>
          </a:p>
          <a:p>
            <a:pPr marL="171450" indent="-171450">
              <a:buFont typeface="Arial" panose="020B0604020202020204" pitchFamily="34" charset="0"/>
              <a:buChar char="•"/>
            </a:pPr>
            <a:r>
              <a:rPr lang="en-GB" dirty="0"/>
              <a:t> a twist vector in the body-fixed frame </a:t>
            </a:r>
          </a:p>
          <a:p>
            <a:pPr marL="171450" indent="-171450">
              <a:buFont typeface="Arial" panose="020B0604020202020204" pitchFamily="34" charset="0"/>
              <a:buChar char="•"/>
            </a:pPr>
            <a:r>
              <a:rPr lang="en-GB" dirty="0"/>
              <a:t> the vector of forces and moments that act on the vehicle in the body fixed frame</a:t>
            </a:r>
          </a:p>
        </p:txBody>
      </p:sp>
      <p:sp>
        <p:nvSpPr>
          <p:cNvPr id="4" name="Slide Number Placeholder 3">
            <a:extLst>
              <a:ext uri="{FF2B5EF4-FFF2-40B4-BE49-F238E27FC236}">
                <a16:creationId xmlns:a16="http://schemas.microsoft.com/office/drawing/2014/main" id="{75BC4035-C376-9DDF-1C39-5099E41DC2E0}"/>
              </a:ext>
            </a:extLst>
          </p:cNvPr>
          <p:cNvSpPr>
            <a:spLocks noGrp="1"/>
          </p:cNvSpPr>
          <p:nvPr>
            <p:ph type="sldNum" sz="quarter" idx="10"/>
          </p:nvPr>
        </p:nvSpPr>
        <p:spPr/>
        <p:txBody>
          <a:bodyPr/>
          <a:lstStyle/>
          <a:p>
            <a:fld id="{EE04E1B5-63BC-4334-9D81-D58D41015F1C}" type="slidenum">
              <a:rPr lang="en-GB" smtClean="0"/>
              <a:t>4</a:t>
            </a:fld>
            <a:endParaRPr lang="en-GB" dirty="0"/>
          </a:p>
        </p:txBody>
      </p:sp>
    </p:spTree>
    <p:extLst>
      <p:ext uri="{BB962C8B-B14F-4D97-AF65-F5344CB8AC3E}">
        <p14:creationId xmlns:p14="http://schemas.microsoft.com/office/powerpoint/2010/main" val="42087913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E3342-8807-DF11-ACD9-7EF8639D1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59076F-B2B4-7A81-C2B2-8499B01DE0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12B0CDD-7A8B-1ABD-3FAC-D298E8EDF496}"/>
              </a:ext>
            </a:extLst>
          </p:cNvPr>
          <p:cNvSpPr>
            <a:spLocks noGrp="1"/>
          </p:cNvSpPr>
          <p:nvPr>
            <p:ph type="body" idx="1"/>
          </p:nvPr>
        </p:nvSpPr>
        <p:spPr/>
        <p:txBody>
          <a:bodyPr/>
          <a:lstStyle/>
          <a:p>
            <a:r>
              <a:rPr lang="en-GB" dirty="0"/>
              <a:t>Then the kinematic model has been derived. Unit Quaternion has been used to represent orientation (since from the simulation singularities of Euler Angles occurred). This implies that the pose vector is a 7x1 vector and the Jacobian that describe the mapping from world frame coordinates and body frame coordinate has more rows than columns</a:t>
            </a:r>
          </a:p>
          <a:p>
            <a:r>
              <a:rPr lang="en-GB" dirty="0"/>
              <a:t> </a:t>
            </a:r>
          </a:p>
          <a:p>
            <a:pPr marL="0" indent="0">
              <a:buFont typeface="Arial" panose="020B0604020202020204" pitchFamily="34" charset="0"/>
              <a:buNone/>
            </a:pPr>
            <a:r>
              <a:rPr lang="en-GB" dirty="0"/>
              <a:t>Then a 6-DOF dynamic model has been derived. In this model both hydrostatics and hydrodynamic effects appear. In fact when a body moves in a fluid whose density is comparable with the body density, one should take into account that the particles around the moving body exhibit non zero acceleration, then a reaction force is necessary to achieve an acceleration and this hydrodynamic effect is treated as an additional mass from a modelling point of view</a:t>
            </a:r>
          </a:p>
          <a:p>
            <a:pPr marL="171450" indent="-171450">
              <a:buFont typeface="Arial" panose="020B0604020202020204" pitchFamily="34" charset="0"/>
              <a:buChar char="•"/>
            </a:pPr>
            <a:r>
              <a:rPr lang="en-GB" dirty="0"/>
              <a:t>So then M is a sum of the rigid-body inertia matrix and the added mass inertia</a:t>
            </a:r>
          </a:p>
          <a:p>
            <a:pPr marL="171450" indent="-171450">
              <a:buFont typeface="Arial" panose="020B0604020202020204" pitchFamily="34" charset="0"/>
              <a:buChar char="•"/>
            </a:pPr>
            <a:r>
              <a:rPr lang="en-GB" dirty="0"/>
              <a:t>The Coriolis and centrifugal matrix is the sum of a term regarding the rigid body and a term regarding the added mass</a:t>
            </a:r>
          </a:p>
          <a:p>
            <a:pPr marL="171450" indent="-171450">
              <a:buFont typeface="Arial" panose="020B0604020202020204" pitchFamily="34" charset="0"/>
              <a:buChar char="•"/>
            </a:pPr>
            <a:r>
              <a:rPr lang="en-GB" dirty="0"/>
              <a:t>The damping matrix is a sum of linear damping and a non linear damping term</a:t>
            </a:r>
          </a:p>
          <a:p>
            <a:pPr marL="171450" indent="-171450">
              <a:buFont typeface="Arial" panose="020B0604020202020204" pitchFamily="34" charset="0"/>
              <a:buChar char="•"/>
            </a:pPr>
            <a:r>
              <a:rPr lang="en-GB" dirty="0"/>
              <a:t>The g is the vector of forces and moments due to gravity and buoyancy (the force that the fluid exerts in the partially or completely submerged body)</a:t>
            </a:r>
          </a:p>
          <a:p>
            <a:pPr marL="171450" indent="-171450">
              <a:buFont typeface="Arial" panose="020B0604020202020204" pitchFamily="34" charset="0"/>
              <a:buChar char="•"/>
            </a:pPr>
            <a:r>
              <a:rPr lang="en-GB" dirty="0"/>
              <a:t>B is the allocation matrix that maps the actual thrusts of the vehicle into the generalized force and moments</a:t>
            </a:r>
          </a:p>
        </p:txBody>
      </p:sp>
      <p:sp>
        <p:nvSpPr>
          <p:cNvPr id="4" name="Slide Number Placeholder 3">
            <a:extLst>
              <a:ext uri="{FF2B5EF4-FFF2-40B4-BE49-F238E27FC236}">
                <a16:creationId xmlns:a16="http://schemas.microsoft.com/office/drawing/2014/main" id="{96D20E11-ADF4-258D-1323-8CFFA9751807}"/>
              </a:ext>
            </a:extLst>
          </p:cNvPr>
          <p:cNvSpPr>
            <a:spLocks noGrp="1"/>
          </p:cNvSpPr>
          <p:nvPr>
            <p:ph type="sldNum" sz="quarter" idx="10"/>
          </p:nvPr>
        </p:nvSpPr>
        <p:spPr/>
        <p:txBody>
          <a:bodyPr/>
          <a:lstStyle/>
          <a:p>
            <a:fld id="{EE04E1B5-63BC-4334-9D81-D58D41015F1C}" type="slidenum">
              <a:rPr lang="en-GB" smtClean="0"/>
              <a:t>5</a:t>
            </a:fld>
            <a:endParaRPr lang="en-GB" dirty="0"/>
          </a:p>
        </p:txBody>
      </p:sp>
    </p:spTree>
    <p:extLst>
      <p:ext uri="{BB962C8B-B14F-4D97-AF65-F5344CB8AC3E}">
        <p14:creationId xmlns:p14="http://schemas.microsoft.com/office/powerpoint/2010/main" val="829349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06717-6B97-6A60-12AF-6FAF3AC729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234A5F-4A01-D86F-E1F0-E4D007BC1F8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C7C4B66-F382-4720-31B1-DF4737FF9C7D}"/>
              </a:ext>
            </a:extLst>
          </p:cNvPr>
          <p:cNvSpPr>
            <a:spLocks noGrp="1"/>
          </p:cNvSpPr>
          <p:nvPr>
            <p:ph type="body" idx="1"/>
          </p:nvPr>
        </p:nvSpPr>
        <p:spPr/>
        <p:txBody>
          <a:bodyPr/>
          <a:lstStyle/>
          <a:p>
            <a:r>
              <a:rPr lang="en-GB" dirty="0"/>
              <a:t>The vehicle considered in the project is BlueROV2 in Heavy Configuration. Eight thrusters are mounted on the vehicle instead of six in the classical configuration and the configuration is such that the vehicle is fully actuated. This can be verified by computing the rank of the allocation matrix, and also from an heuristic point of view by looking at the thrusters configuration depicted in figure.</a:t>
            </a:r>
          </a:p>
        </p:txBody>
      </p:sp>
      <p:sp>
        <p:nvSpPr>
          <p:cNvPr id="4" name="Slide Number Placeholder 3">
            <a:extLst>
              <a:ext uri="{FF2B5EF4-FFF2-40B4-BE49-F238E27FC236}">
                <a16:creationId xmlns:a16="http://schemas.microsoft.com/office/drawing/2014/main" id="{D192FE3E-AE04-023B-AE98-186677B6EE73}"/>
              </a:ext>
            </a:extLst>
          </p:cNvPr>
          <p:cNvSpPr>
            <a:spLocks noGrp="1"/>
          </p:cNvSpPr>
          <p:nvPr>
            <p:ph type="sldNum" sz="quarter" idx="10"/>
          </p:nvPr>
        </p:nvSpPr>
        <p:spPr/>
        <p:txBody>
          <a:bodyPr/>
          <a:lstStyle/>
          <a:p>
            <a:fld id="{EE04E1B5-63BC-4334-9D81-D58D41015F1C}" type="slidenum">
              <a:rPr lang="en-GB" smtClean="0"/>
              <a:t>6</a:t>
            </a:fld>
            <a:endParaRPr lang="en-GB" dirty="0"/>
          </a:p>
        </p:txBody>
      </p:sp>
    </p:spTree>
    <p:extLst>
      <p:ext uri="{BB962C8B-B14F-4D97-AF65-F5344CB8AC3E}">
        <p14:creationId xmlns:p14="http://schemas.microsoft.com/office/powerpoint/2010/main" val="7836779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A43F1-C7A1-6537-42F8-1E0AA16C14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DFAFC-4F8F-CD7E-BB82-DE6A56701D6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3310E60-E36A-BF8D-CF34-46C60EF817E9}"/>
              </a:ext>
            </a:extLst>
          </p:cNvPr>
          <p:cNvSpPr>
            <a:spLocks noGrp="1"/>
          </p:cNvSpPr>
          <p:nvPr>
            <p:ph type="body" idx="1"/>
          </p:nvPr>
        </p:nvSpPr>
        <p:spPr/>
        <p:txBody>
          <a:bodyPr/>
          <a:lstStyle/>
          <a:p>
            <a:r>
              <a:rPr lang="en-GB" dirty="0"/>
              <a:t>The controllers that have been developed are the sliding mode controller and a feedback linearizing controller. </a:t>
            </a:r>
          </a:p>
          <a:p>
            <a:r>
              <a:rPr lang="en-GB" dirty="0"/>
              <a:t>The main idea of sliding mode controller is to define a sliding surface in terms of the state error vector and its derivative, then the controller, once the sliding condition is satisfied, force the state to remain on the sliding surface. This may cause a high control activity due also to the presence of a switching part of the controller (the sign function). So typically such controllers may suffer from chattering effect. To overcome that a boundary layer strategy has been adopted modifying accordingly the signum function. This will cause the error do not stay on the sliding surface but force the error to stay in the boundary layer (and so it will be norm bounded)</a:t>
            </a:r>
          </a:p>
        </p:txBody>
      </p:sp>
      <p:sp>
        <p:nvSpPr>
          <p:cNvPr id="4" name="Slide Number Placeholder 3">
            <a:extLst>
              <a:ext uri="{FF2B5EF4-FFF2-40B4-BE49-F238E27FC236}">
                <a16:creationId xmlns:a16="http://schemas.microsoft.com/office/drawing/2014/main" id="{5838A453-0B06-6AD3-D2A3-8A218EC28355}"/>
              </a:ext>
            </a:extLst>
          </p:cNvPr>
          <p:cNvSpPr>
            <a:spLocks noGrp="1"/>
          </p:cNvSpPr>
          <p:nvPr>
            <p:ph type="sldNum" sz="quarter" idx="10"/>
          </p:nvPr>
        </p:nvSpPr>
        <p:spPr/>
        <p:txBody>
          <a:bodyPr/>
          <a:lstStyle/>
          <a:p>
            <a:fld id="{EE04E1B5-63BC-4334-9D81-D58D41015F1C}" type="slidenum">
              <a:rPr lang="en-GB" smtClean="0"/>
              <a:t>7</a:t>
            </a:fld>
            <a:endParaRPr lang="en-GB" dirty="0"/>
          </a:p>
        </p:txBody>
      </p:sp>
    </p:spTree>
    <p:extLst>
      <p:ext uri="{BB962C8B-B14F-4D97-AF65-F5344CB8AC3E}">
        <p14:creationId xmlns:p14="http://schemas.microsoft.com/office/powerpoint/2010/main" val="21571411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7424F-6368-2454-F125-DACAC2159D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9A5BF-F6D5-C39F-BB6F-4E888B84A74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23638D0-62C6-6FFB-0B25-B063086CB05A}"/>
              </a:ext>
            </a:extLst>
          </p:cNvPr>
          <p:cNvSpPr>
            <a:spLocks noGrp="1"/>
          </p:cNvSpPr>
          <p:nvPr>
            <p:ph type="body" idx="1"/>
          </p:nvPr>
        </p:nvSpPr>
        <p:spPr/>
        <p:txBody>
          <a:bodyPr/>
          <a:lstStyle/>
          <a:p>
            <a:r>
              <a:rPr lang="en-GB" dirty="0"/>
              <a:t>Feedback linearizing approach is to obtain a dynamic model linear and decoupled, so a set of independent integrators, as we can see from the formulas. The control input is chosen as a sum of a non linear compensating term, and M times the body fixed commanded acceleration, which is given by the following expression (we have to use the pseudo inverse since we are adopting unit quaternion representation).</a:t>
            </a:r>
          </a:p>
          <a:p>
            <a:r>
              <a:rPr lang="en-GB" dirty="0"/>
              <a:t>Then the commanded acceleration in the body frame consists of a feedforward in the acceleration and a PD action on the tracking error.</a:t>
            </a:r>
          </a:p>
          <a:p>
            <a:endParaRPr lang="en-GB" dirty="0"/>
          </a:p>
        </p:txBody>
      </p:sp>
      <p:sp>
        <p:nvSpPr>
          <p:cNvPr id="4" name="Slide Number Placeholder 3">
            <a:extLst>
              <a:ext uri="{FF2B5EF4-FFF2-40B4-BE49-F238E27FC236}">
                <a16:creationId xmlns:a16="http://schemas.microsoft.com/office/drawing/2014/main" id="{347851C8-B109-B4FC-97CC-58D5F83E3834}"/>
              </a:ext>
            </a:extLst>
          </p:cNvPr>
          <p:cNvSpPr>
            <a:spLocks noGrp="1"/>
          </p:cNvSpPr>
          <p:nvPr>
            <p:ph type="sldNum" sz="quarter" idx="10"/>
          </p:nvPr>
        </p:nvSpPr>
        <p:spPr/>
        <p:txBody>
          <a:bodyPr/>
          <a:lstStyle/>
          <a:p>
            <a:fld id="{EE04E1B5-63BC-4334-9D81-D58D41015F1C}" type="slidenum">
              <a:rPr lang="en-GB" smtClean="0"/>
              <a:t>8</a:t>
            </a:fld>
            <a:endParaRPr lang="en-GB" dirty="0"/>
          </a:p>
        </p:txBody>
      </p:sp>
    </p:spTree>
    <p:extLst>
      <p:ext uri="{BB962C8B-B14F-4D97-AF65-F5344CB8AC3E}">
        <p14:creationId xmlns:p14="http://schemas.microsoft.com/office/powerpoint/2010/main" val="22133908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FC9EB-D240-3A41-C4F4-D01F43FBA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3181B8-478C-989F-3212-2736C8EC371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03E72C1-3BBA-1DCA-5448-5E76ECAFEEC2}"/>
              </a:ext>
            </a:extLst>
          </p:cNvPr>
          <p:cNvSpPr>
            <a:spLocks noGrp="1"/>
          </p:cNvSpPr>
          <p:nvPr>
            <p:ph type="body" idx="1"/>
          </p:nvPr>
        </p:nvSpPr>
        <p:spPr/>
        <p:txBody>
          <a:bodyPr/>
          <a:lstStyle/>
          <a:p>
            <a:r>
              <a:rPr lang="en-GB" dirty="0"/>
              <a:t>Simulation has been carried out in </a:t>
            </a:r>
            <a:r>
              <a:rPr lang="en-GB" dirty="0" err="1"/>
              <a:t>Matlab</a:t>
            </a:r>
            <a:r>
              <a:rPr lang="en-GB" dirty="0"/>
              <a:t> Simulink. The solver adopted was Dormand-Prince because the system is quite stiff. Otherwise singular solutions in the numerical integration occur. The objective is to make the ROV follows a trajectory in the 3D space, a helix in </a:t>
            </a:r>
            <a:r>
              <a:rPr lang="en-GB" dirty="0" err="1"/>
              <a:t>particular,whereas</a:t>
            </a:r>
            <a:r>
              <a:rPr lang="en-GB" dirty="0"/>
              <a:t> for the orientational part the controller should ensure that the initial value of the quaternion (1,0,0,0) stays the same during the motion. Tuning of the control gains have been tuned via trial and error.</a:t>
            </a:r>
          </a:p>
        </p:txBody>
      </p:sp>
      <p:sp>
        <p:nvSpPr>
          <p:cNvPr id="4" name="Slide Number Placeholder 3">
            <a:extLst>
              <a:ext uri="{FF2B5EF4-FFF2-40B4-BE49-F238E27FC236}">
                <a16:creationId xmlns:a16="http://schemas.microsoft.com/office/drawing/2014/main" id="{A7215A6B-55F1-74C5-DBD4-2FFD5222B148}"/>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E04E1B5-63BC-4334-9D81-D58D41015F1C}"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070301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E3128-103E-8E00-30F6-CB752C423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01BE46-FC76-07C5-1F09-C55616F4C01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CDEC4A1-83AF-4774-D702-D43F919DD5FB}"/>
              </a:ext>
            </a:extLst>
          </p:cNvPr>
          <p:cNvSpPr>
            <a:spLocks noGrp="1"/>
          </p:cNvSpPr>
          <p:nvPr>
            <p:ph type="body" idx="1"/>
          </p:nvPr>
        </p:nvSpPr>
        <p:spPr/>
        <p:txBody>
          <a:bodyPr/>
          <a:lstStyle/>
          <a:p>
            <a:r>
              <a:rPr lang="en-GB" dirty="0"/>
              <a:t>For the Sliding Controller it was noticed that the KD gain and the Lambda were the parameters that most influenced the tracking precision. In the video we can see the result and we can already observe that the trajectory is tracked correctly</a:t>
            </a:r>
          </a:p>
        </p:txBody>
      </p:sp>
      <p:sp>
        <p:nvSpPr>
          <p:cNvPr id="4" name="Slide Number Placeholder 3">
            <a:extLst>
              <a:ext uri="{FF2B5EF4-FFF2-40B4-BE49-F238E27FC236}">
                <a16:creationId xmlns:a16="http://schemas.microsoft.com/office/drawing/2014/main" id="{82B1EDF1-D904-DEA7-5C87-719C0E3EB2BA}"/>
              </a:ext>
            </a:extLst>
          </p:cNvPr>
          <p:cNvSpPr>
            <a:spLocks noGrp="1"/>
          </p:cNvSpPr>
          <p:nvPr>
            <p:ph type="sldNum" sz="quarter" idx="10"/>
          </p:nvPr>
        </p:nvSpPr>
        <p:spPr/>
        <p:txBody>
          <a:bodyPr/>
          <a:lstStyle/>
          <a:p>
            <a:fld id="{EE04E1B5-63BC-4334-9D81-D58D41015F1C}" type="slidenum">
              <a:rPr lang="en-GB" smtClean="0"/>
              <a:t>10</a:t>
            </a:fld>
            <a:endParaRPr lang="en-GB" dirty="0"/>
          </a:p>
        </p:txBody>
      </p:sp>
    </p:spTree>
    <p:extLst>
      <p:ext uri="{BB962C8B-B14F-4D97-AF65-F5344CB8AC3E}">
        <p14:creationId xmlns:p14="http://schemas.microsoft.com/office/powerpoint/2010/main" val="1189853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AE649-1CE1-DD1F-6B2B-99636964F7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38B83F-34C3-18B8-CD6B-BF88EF78A2D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65EFC97-D6B9-5E8F-F46F-8DE4F2AB6BB1}"/>
              </a:ext>
            </a:extLst>
          </p:cNvPr>
          <p:cNvSpPr>
            <a:spLocks noGrp="1"/>
          </p:cNvSpPr>
          <p:nvPr>
            <p:ph type="body" idx="1"/>
          </p:nvPr>
        </p:nvSpPr>
        <p:spPr/>
        <p:txBody>
          <a:bodyPr/>
          <a:lstStyle/>
          <a:p>
            <a:r>
              <a:rPr lang="en-GB" dirty="0"/>
              <a:t>In the Feedback Linearizing controller case the proportional gain is chosen greater than the derivative one since with this choice we could obtain sufficiently small tracking errors. From the comparison among the two video it’s possible to see that in this case the tracking is slightly inaccurate with respect to the former case.</a:t>
            </a:r>
          </a:p>
        </p:txBody>
      </p:sp>
      <p:sp>
        <p:nvSpPr>
          <p:cNvPr id="4" name="Slide Number Placeholder 3">
            <a:extLst>
              <a:ext uri="{FF2B5EF4-FFF2-40B4-BE49-F238E27FC236}">
                <a16:creationId xmlns:a16="http://schemas.microsoft.com/office/drawing/2014/main" id="{379EF180-A628-7A21-41B4-AF2877C300C1}"/>
              </a:ext>
            </a:extLst>
          </p:cNvPr>
          <p:cNvSpPr>
            <a:spLocks noGrp="1"/>
          </p:cNvSpPr>
          <p:nvPr>
            <p:ph type="sldNum" sz="quarter" idx="10"/>
          </p:nvPr>
        </p:nvSpPr>
        <p:spPr/>
        <p:txBody>
          <a:bodyPr/>
          <a:lstStyle/>
          <a:p>
            <a:fld id="{EE04E1B5-63BC-4334-9D81-D58D41015F1C}" type="slidenum">
              <a:rPr lang="en-GB" smtClean="0"/>
              <a:t>11</a:t>
            </a:fld>
            <a:endParaRPr lang="en-GB" dirty="0"/>
          </a:p>
        </p:txBody>
      </p:sp>
    </p:spTree>
    <p:extLst>
      <p:ext uri="{BB962C8B-B14F-4D97-AF65-F5344CB8AC3E}">
        <p14:creationId xmlns:p14="http://schemas.microsoft.com/office/powerpoint/2010/main" val="3628450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E0FF6-6804-E5A9-654E-4F070B5B51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69AEF3-5888-5E12-8323-E2874F2209A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5E42943-F4B2-23C4-66F1-28AB06E663C3}"/>
              </a:ext>
            </a:extLst>
          </p:cNvPr>
          <p:cNvSpPr>
            <a:spLocks noGrp="1"/>
          </p:cNvSpPr>
          <p:nvPr>
            <p:ph type="body" idx="1"/>
          </p:nvPr>
        </p:nvSpPr>
        <p:spPr/>
        <p:txBody>
          <a:bodyPr/>
          <a:lstStyle/>
          <a:p>
            <a:r>
              <a:rPr lang="en-GB" dirty="0"/>
              <a:t>By looking at the errors plot in fact it’s possible to see that in both cases norm bounded errors have been achieved. In the Feedback Linearizing controller the z-component is tracked worse than in the sliding mode case. The main difference is in terms of orientation error since it’s smaller of 1 order of magnitude in the sliding mode case.</a:t>
            </a:r>
          </a:p>
        </p:txBody>
      </p:sp>
      <p:sp>
        <p:nvSpPr>
          <p:cNvPr id="4" name="Slide Number Placeholder 3">
            <a:extLst>
              <a:ext uri="{FF2B5EF4-FFF2-40B4-BE49-F238E27FC236}">
                <a16:creationId xmlns:a16="http://schemas.microsoft.com/office/drawing/2014/main" id="{710AFECE-F14E-3F8C-EB46-B7C84E1A55E2}"/>
              </a:ext>
            </a:extLst>
          </p:cNvPr>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E04E1B5-63BC-4334-9D81-D58D41015F1C}"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4287857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FC8E5-E667-AD0F-034B-8E26235BD1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840503-8118-97EB-B061-02C33A31558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669E697-294C-0A80-CC77-4204575385C0}"/>
              </a:ext>
            </a:extLst>
          </p:cNvPr>
          <p:cNvSpPr>
            <a:spLocks noGrp="1"/>
          </p:cNvSpPr>
          <p:nvPr>
            <p:ph type="body" idx="1"/>
          </p:nvPr>
        </p:nvSpPr>
        <p:spPr/>
        <p:txBody>
          <a:bodyPr/>
          <a:lstStyle/>
          <a:p>
            <a:r>
              <a:rPr lang="en-GB" dirty="0"/>
              <a:t>Concerning the control inputs the order of magnitude of the forces is comparable, although in the second case the peaks are greater. The torques are slightly smaller in the FL case, and also in this second case the control input has more components in high frequency.</a:t>
            </a:r>
          </a:p>
        </p:txBody>
      </p:sp>
      <p:sp>
        <p:nvSpPr>
          <p:cNvPr id="4" name="Slide Number Placeholder 3">
            <a:extLst>
              <a:ext uri="{FF2B5EF4-FFF2-40B4-BE49-F238E27FC236}">
                <a16:creationId xmlns:a16="http://schemas.microsoft.com/office/drawing/2014/main" id="{09D8C4B3-6066-7E75-7C82-91CC1D2D6521}"/>
              </a:ext>
            </a:extLst>
          </p:cNvPr>
          <p:cNvSpPr>
            <a:spLocks noGrp="1"/>
          </p:cNvSpPr>
          <p:nvPr>
            <p:ph type="sldNum" sz="quarter" idx="10"/>
          </p:nvPr>
        </p:nvSpPr>
        <p:spPr/>
        <p:txBody>
          <a:bodyPr/>
          <a:lstStyle/>
          <a:p>
            <a:fld id="{EE04E1B5-63BC-4334-9D81-D58D41015F1C}" type="slidenum">
              <a:rPr lang="en-GB" smtClean="0"/>
              <a:t>13</a:t>
            </a:fld>
            <a:endParaRPr lang="en-GB" dirty="0"/>
          </a:p>
        </p:txBody>
      </p:sp>
    </p:spTree>
    <p:extLst>
      <p:ext uri="{BB962C8B-B14F-4D97-AF65-F5344CB8AC3E}">
        <p14:creationId xmlns:p14="http://schemas.microsoft.com/office/powerpoint/2010/main" val="35328229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3402F-C996-0AD2-CA80-58C8F798B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A5BD1-C072-9EEE-3600-8656AD57478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84B337C-D1B0-329B-9480-E9B2B6D134C5}"/>
              </a:ext>
            </a:extLst>
          </p:cNvPr>
          <p:cNvSpPr>
            <a:spLocks noGrp="1"/>
          </p:cNvSpPr>
          <p:nvPr>
            <p:ph type="body" idx="1"/>
          </p:nvPr>
        </p:nvSpPr>
        <p:spPr/>
        <p:txBody>
          <a:bodyPr/>
          <a:lstStyle/>
          <a:p>
            <a:r>
              <a:rPr lang="en-GB" dirty="0"/>
              <a:t>Finally, for the twists the angular velocities reach smaller values in the sliding mode case, and the yaw components in both cases oscillates around the zero, whereas the heave  component of the linear velocities reaches a constant values, and it’s periodic in the feedback linearizing control case. Regarding the other components of linear velocity the peaks of linear velocities are smaller in this second case.</a:t>
            </a:r>
          </a:p>
        </p:txBody>
      </p:sp>
      <p:sp>
        <p:nvSpPr>
          <p:cNvPr id="4" name="Slide Number Placeholder 3">
            <a:extLst>
              <a:ext uri="{FF2B5EF4-FFF2-40B4-BE49-F238E27FC236}">
                <a16:creationId xmlns:a16="http://schemas.microsoft.com/office/drawing/2014/main" id="{750813A2-269E-B207-2C2F-C7F97BB03005}"/>
              </a:ext>
            </a:extLst>
          </p:cNvPr>
          <p:cNvSpPr>
            <a:spLocks noGrp="1"/>
          </p:cNvSpPr>
          <p:nvPr>
            <p:ph type="sldNum" sz="quarter" idx="10"/>
          </p:nvPr>
        </p:nvSpPr>
        <p:spPr/>
        <p:txBody>
          <a:bodyPr/>
          <a:lstStyle/>
          <a:p>
            <a:fld id="{EE04E1B5-63BC-4334-9D81-D58D41015F1C}" type="slidenum">
              <a:rPr lang="en-GB" smtClean="0"/>
              <a:t>14</a:t>
            </a:fld>
            <a:endParaRPr lang="en-GB" dirty="0"/>
          </a:p>
        </p:txBody>
      </p:sp>
    </p:spTree>
    <p:extLst>
      <p:ext uri="{BB962C8B-B14F-4D97-AF65-F5344CB8AC3E}">
        <p14:creationId xmlns:p14="http://schemas.microsoft.com/office/powerpoint/2010/main" val="23754875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2719A-401A-5E9D-287D-16A334593A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4A34E4-8AD1-C760-8FCE-A1901400C81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A7C1297-8286-2753-142A-EA16169AE126}"/>
              </a:ext>
            </a:extLst>
          </p:cNvPr>
          <p:cNvSpPr>
            <a:spLocks noGrp="1"/>
          </p:cNvSpPr>
          <p:nvPr>
            <p:ph type="body" idx="1"/>
          </p:nvPr>
        </p:nvSpPr>
        <p:spPr/>
        <p:txBody>
          <a:bodyPr/>
          <a:lstStyle/>
          <a:p>
            <a:r>
              <a:rPr lang="en-GB" dirty="0"/>
              <a:t>So to summarize the project compared two non linear control strategy. In both cases norm bounded trajectory error has been achieved with satisfactory behaviour. Sliding Control demonstrated greater accuracy in particular concerning the orientational part.</a:t>
            </a:r>
          </a:p>
          <a:p>
            <a:endParaRPr lang="en-GB" dirty="0"/>
          </a:p>
          <a:p>
            <a:r>
              <a:rPr lang="en-GB" dirty="0"/>
              <a:t>As further developments one should test the robustness of such controllers inserting some uncertainties and also how good they are in terms of disturbance rejection (current effect has not been addressed). </a:t>
            </a:r>
          </a:p>
          <a:p>
            <a:r>
              <a:rPr lang="en-GB" dirty="0"/>
              <a:t>And finally such control law should be tested to track a trajectory planned accordingly also for the orientational part.</a:t>
            </a:r>
          </a:p>
        </p:txBody>
      </p:sp>
      <p:sp>
        <p:nvSpPr>
          <p:cNvPr id="4" name="Slide Number Placeholder 3">
            <a:extLst>
              <a:ext uri="{FF2B5EF4-FFF2-40B4-BE49-F238E27FC236}">
                <a16:creationId xmlns:a16="http://schemas.microsoft.com/office/drawing/2014/main" id="{EEBD40EC-1865-5844-335D-412481952E2C}"/>
              </a:ext>
            </a:extLst>
          </p:cNvPr>
          <p:cNvSpPr>
            <a:spLocks noGrp="1"/>
          </p:cNvSpPr>
          <p:nvPr>
            <p:ph type="sldNum" sz="quarter" idx="10"/>
          </p:nvPr>
        </p:nvSpPr>
        <p:spPr/>
        <p:txBody>
          <a:bodyPr/>
          <a:lstStyle/>
          <a:p>
            <a:fld id="{EE04E1B5-63BC-4334-9D81-D58D41015F1C}" type="slidenum">
              <a:rPr lang="en-GB" smtClean="0"/>
              <a:t>15</a:t>
            </a:fld>
            <a:endParaRPr lang="en-GB" dirty="0"/>
          </a:p>
        </p:txBody>
      </p:sp>
    </p:spTree>
    <p:extLst>
      <p:ext uri="{BB962C8B-B14F-4D97-AF65-F5344CB8AC3E}">
        <p14:creationId xmlns:p14="http://schemas.microsoft.com/office/powerpoint/2010/main" val="16261654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D2439-99D3-E0F5-BD0E-25ADD78A02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5A203-E83F-945C-CA6D-D44ABBF711F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203FADD-8DEA-228F-21D5-C2FFE8FE3275}"/>
              </a:ext>
            </a:extLst>
          </p:cNvPr>
          <p:cNvSpPr>
            <a:spLocks noGrp="1"/>
          </p:cNvSpPr>
          <p:nvPr>
            <p:ph type="body" idx="1"/>
          </p:nvPr>
        </p:nvSpPr>
        <p:spPr/>
        <p:txBody>
          <a:bodyPr/>
          <a:lstStyle/>
          <a:p>
            <a:r>
              <a:rPr lang="en-GB" dirty="0"/>
              <a:t>Thank you for the </a:t>
            </a:r>
            <a:r>
              <a:rPr lang="en-GB"/>
              <a:t>attention ❤️</a:t>
            </a:r>
            <a:endParaRPr lang="en-GB" dirty="0"/>
          </a:p>
        </p:txBody>
      </p:sp>
      <p:sp>
        <p:nvSpPr>
          <p:cNvPr id="4" name="Slide Number Placeholder 3">
            <a:extLst>
              <a:ext uri="{FF2B5EF4-FFF2-40B4-BE49-F238E27FC236}">
                <a16:creationId xmlns:a16="http://schemas.microsoft.com/office/drawing/2014/main" id="{A6F0F7B0-B526-EB0D-74DA-9E339D52E3E6}"/>
              </a:ext>
            </a:extLst>
          </p:cNvPr>
          <p:cNvSpPr>
            <a:spLocks noGrp="1"/>
          </p:cNvSpPr>
          <p:nvPr>
            <p:ph type="sldNum" sz="quarter" idx="10"/>
          </p:nvPr>
        </p:nvSpPr>
        <p:spPr/>
        <p:txBody>
          <a:bodyPr/>
          <a:lstStyle/>
          <a:p>
            <a:fld id="{EE04E1B5-63BC-4334-9D81-D58D41015F1C}" type="slidenum">
              <a:rPr lang="en-GB" smtClean="0"/>
              <a:t>16</a:t>
            </a:fld>
            <a:endParaRPr lang="en-GB" dirty="0"/>
          </a:p>
        </p:txBody>
      </p:sp>
    </p:spTree>
    <p:extLst>
      <p:ext uri="{BB962C8B-B14F-4D97-AF65-F5344CB8AC3E}">
        <p14:creationId xmlns:p14="http://schemas.microsoft.com/office/powerpoint/2010/main" val="16847232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914400" y="2130426"/>
            <a:ext cx="10363200" cy="1470025"/>
          </a:xfrm>
        </p:spPr>
        <p:txBody>
          <a:bodyPr/>
          <a:lstStyle/>
          <a:p>
            <a:r>
              <a:rPr lang="it-IT"/>
              <a:t>Fare clic per modificare stile</a:t>
            </a:r>
          </a:p>
        </p:txBody>
      </p:sp>
      <p:sp>
        <p:nvSpPr>
          <p:cNvPr id="3" name="Sottotitolo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p>
        </p:txBody>
      </p:sp>
      <p:sp>
        <p:nvSpPr>
          <p:cNvPr id="4" name="Segnaposto data 3"/>
          <p:cNvSpPr>
            <a:spLocks noGrp="1"/>
          </p:cNvSpPr>
          <p:nvPr>
            <p:ph type="dt" sz="half" idx="10"/>
          </p:nvPr>
        </p:nvSpPr>
        <p:spPr/>
        <p:txBody>
          <a:bodyPr/>
          <a:lstStyle/>
          <a:p>
            <a:fld id="{2C790A91-0F3D-9944-94EF-F5C93CDE0643}" type="datetimeFigureOut">
              <a:rPr lang="it-IT" smtClean="0"/>
              <a:t>30/08/2025</a:t>
            </a:fld>
            <a:endParaRPr lang="it-IT" dirty="0"/>
          </a:p>
        </p:txBody>
      </p:sp>
      <p:sp>
        <p:nvSpPr>
          <p:cNvPr id="5" name="Segnaposto piè di pagina 4"/>
          <p:cNvSpPr>
            <a:spLocks noGrp="1"/>
          </p:cNvSpPr>
          <p:nvPr>
            <p:ph type="ftr" sz="quarter" idx="11"/>
          </p:nvPr>
        </p:nvSpPr>
        <p:spPr/>
        <p:txBody>
          <a:bodyPr/>
          <a:lstStyle/>
          <a:p>
            <a:endParaRPr lang="it-IT" dirty="0"/>
          </a:p>
        </p:txBody>
      </p:sp>
      <p:sp>
        <p:nvSpPr>
          <p:cNvPr id="6" name="Segnaposto numero diapositiva 5"/>
          <p:cNvSpPr>
            <a:spLocks noGrp="1"/>
          </p:cNvSpPr>
          <p:nvPr>
            <p:ph type="sldNum" sz="quarter" idx="12"/>
          </p:nvPr>
        </p:nvSpPr>
        <p:spPr/>
        <p:txBody>
          <a:bodyPr/>
          <a:lstStyle/>
          <a:p>
            <a:fld id="{8D9A2948-A980-434D-BAB3-FF8DF2F4692E}" type="slidenum">
              <a:rPr lang="it-IT" smtClean="0"/>
              <a:t>‹N›</a:t>
            </a:fld>
            <a:endParaRPr lang="it-IT" dirty="0"/>
          </a:p>
        </p:txBody>
      </p:sp>
    </p:spTree>
    <p:extLst>
      <p:ext uri="{BB962C8B-B14F-4D97-AF65-F5344CB8AC3E}">
        <p14:creationId xmlns:p14="http://schemas.microsoft.com/office/powerpoint/2010/main" val="32168737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2C790A91-0F3D-9944-94EF-F5C93CDE0643}" type="datetimeFigureOut">
              <a:rPr lang="it-IT" smtClean="0"/>
              <a:t>30/08/2025</a:t>
            </a:fld>
            <a:endParaRPr lang="it-IT" dirty="0"/>
          </a:p>
        </p:txBody>
      </p:sp>
      <p:sp>
        <p:nvSpPr>
          <p:cNvPr id="5" name="Segnaposto piè di pagina 4"/>
          <p:cNvSpPr>
            <a:spLocks noGrp="1"/>
          </p:cNvSpPr>
          <p:nvPr>
            <p:ph type="ftr" sz="quarter" idx="11"/>
          </p:nvPr>
        </p:nvSpPr>
        <p:spPr/>
        <p:txBody>
          <a:bodyPr/>
          <a:lstStyle/>
          <a:p>
            <a:endParaRPr lang="it-IT" dirty="0"/>
          </a:p>
        </p:txBody>
      </p:sp>
      <p:sp>
        <p:nvSpPr>
          <p:cNvPr id="6" name="Segnaposto numero diapositiva 5"/>
          <p:cNvSpPr>
            <a:spLocks noGrp="1"/>
          </p:cNvSpPr>
          <p:nvPr>
            <p:ph type="sldNum" sz="quarter" idx="12"/>
          </p:nvPr>
        </p:nvSpPr>
        <p:spPr/>
        <p:txBody>
          <a:bodyPr/>
          <a:lstStyle/>
          <a:p>
            <a:fld id="{8D9A2948-A980-434D-BAB3-FF8DF2F4692E}" type="slidenum">
              <a:rPr lang="it-IT" smtClean="0"/>
              <a:t>‹N›</a:t>
            </a:fld>
            <a:endParaRPr lang="it-IT" dirty="0"/>
          </a:p>
        </p:txBody>
      </p:sp>
    </p:spTree>
    <p:extLst>
      <p:ext uri="{BB962C8B-B14F-4D97-AF65-F5344CB8AC3E}">
        <p14:creationId xmlns:p14="http://schemas.microsoft.com/office/powerpoint/2010/main" val="33212666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963084" y="4406901"/>
            <a:ext cx="10363200" cy="1362075"/>
          </a:xfrm>
        </p:spPr>
        <p:txBody>
          <a:bodyPr anchor="t"/>
          <a:lstStyle>
            <a:lvl1pPr algn="l">
              <a:defRPr sz="4000" b="1" cap="all"/>
            </a:lvl1pPr>
          </a:lstStyle>
          <a:p>
            <a:r>
              <a:rPr lang="it-IT"/>
              <a:t>Fare clic per modificare stile</a:t>
            </a:r>
          </a:p>
        </p:txBody>
      </p:sp>
      <p:sp>
        <p:nvSpPr>
          <p:cNvPr id="3" name="Segnaposto testo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Segnaposto data 3"/>
          <p:cNvSpPr>
            <a:spLocks noGrp="1"/>
          </p:cNvSpPr>
          <p:nvPr>
            <p:ph type="dt" sz="half" idx="10"/>
          </p:nvPr>
        </p:nvSpPr>
        <p:spPr/>
        <p:txBody>
          <a:bodyPr/>
          <a:lstStyle/>
          <a:p>
            <a:fld id="{2C790A91-0F3D-9944-94EF-F5C93CDE0643}" type="datetimeFigureOut">
              <a:rPr lang="it-IT" smtClean="0"/>
              <a:t>30/08/2025</a:t>
            </a:fld>
            <a:endParaRPr lang="it-IT" dirty="0"/>
          </a:p>
        </p:txBody>
      </p:sp>
      <p:sp>
        <p:nvSpPr>
          <p:cNvPr id="5" name="Segnaposto piè di pagina 4"/>
          <p:cNvSpPr>
            <a:spLocks noGrp="1"/>
          </p:cNvSpPr>
          <p:nvPr>
            <p:ph type="ftr" sz="quarter" idx="11"/>
          </p:nvPr>
        </p:nvSpPr>
        <p:spPr/>
        <p:txBody>
          <a:bodyPr/>
          <a:lstStyle/>
          <a:p>
            <a:endParaRPr lang="it-IT" dirty="0"/>
          </a:p>
        </p:txBody>
      </p:sp>
      <p:sp>
        <p:nvSpPr>
          <p:cNvPr id="6" name="Segnaposto numero diapositiva 5"/>
          <p:cNvSpPr>
            <a:spLocks noGrp="1"/>
          </p:cNvSpPr>
          <p:nvPr>
            <p:ph type="sldNum" sz="quarter" idx="12"/>
          </p:nvPr>
        </p:nvSpPr>
        <p:spPr/>
        <p:txBody>
          <a:bodyPr/>
          <a:lstStyle/>
          <a:p>
            <a:fld id="{8D9A2948-A980-434D-BAB3-FF8DF2F4692E}" type="slidenum">
              <a:rPr lang="it-IT" smtClean="0"/>
              <a:t>‹N›</a:t>
            </a:fld>
            <a:endParaRPr lang="it-IT" dirty="0"/>
          </a:p>
        </p:txBody>
      </p:sp>
    </p:spTree>
    <p:extLst>
      <p:ext uri="{BB962C8B-B14F-4D97-AF65-F5344CB8AC3E}">
        <p14:creationId xmlns:p14="http://schemas.microsoft.com/office/powerpoint/2010/main" val="20174703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Contenuto 2">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contenuto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p:cNvSpPr>
            <a:spLocks noGrp="1"/>
          </p:cNvSpPr>
          <p:nvPr>
            <p:ph type="dt" sz="half" idx="10"/>
          </p:nvPr>
        </p:nvSpPr>
        <p:spPr/>
        <p:txBody>
          <a:bodyPr/>
          <a:lstStyle/>
          <a:p>
            <a:fld id="{2C790A91-0F3D-9944-94EF-F5C93CDE0643}" type="datetimeFigureOut">
              <a:rPr lang="it-IT" smtClean="0"/>
              <a:t>30/08/2025</a:t>
            </a:fld>
            <a:endParaRPr lang="it-IT" dirty="0"/>
          </a:p>
        </p:txBody>
      </p:sp>
      <p:sp>
        <p:nvSpPr>
          <p:cNvPr id="6" name="Segnaposto piè di pagina 5"/>
          <p:cNvSpPr>
            <a:spLocks noGrp="1"/>
          </p:cNvSpPr>
          <p:nvPr>
            <p:ph type="ftr" sz="quarter" idx="11"/>
          </p:nvPr>
        </p:nvSpPr>
        <p:spPr/>
        <p:txBody>
          <a:bodyPr/>
          <a:lstStyle/>
          <a:p>
            <a:endParaRPr lang="it-IT" dirty="0"/>
          </a:p>
        </p:txBody>
      </p:sp>
      <p:sp>
        <p:nvSpPr>
          <p:cNvPr id="7" name="Segnaposto numero diapositiva 6"/>
          <p:cNvSpPr>
            <a:spLocks noGrp="1"/>
          </p:cNvSpPr>
          <p:nvPr>
            <p:ph type="sldNum" sz="quarter" idx="12"/>
          </p:nvPr>
        </p:nvSpPr>
        <p:spPr/>
        <p:txBody>
          <a:bodyPr/>
          <a:lstStyle/>
          <a:p>
            <a:fld id="{8D9A2948-A980-434D-BAB3-FF8DF2F4692E}" type="slidenum">
              <a:rPr lang="it-IT" smtClean="0"/>
              <a:t>‹N›</a:t>
            </a:fld>
            <a:endParaRPr lang="it-IT" dirty="0"/>
          </a:p>
        </p:txBody>
      </p:sp>
    </p:spTree>
    <p:extLst>
      <p:ext uri="{BB962C8B-B14F-4D97-AF65-F5344CB8AC3E}">
        <p14:creationId xmlns:p14="http://schemas.microsoft.com/office/powerpoint/2010/main" val="3610067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a:t>Fare clic per modificare stile</a:t>
            </a:r>
          </a:p>
        </p:txBody>
      </p:sp>
      <p:sp>
        <p:nvSpPr>
          <p:cNvPr id="3" name="Segnaposto testo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p:cNvSpPr>
            <a:spLocks noGrp="1"/>
          </p:cNvSpPr>
          <p:nvPr>
            <p:ph type="dt" sz="half" idx="10"/>
          </p:nvPr>
        </p:nvSpPr>
        <p:spPr/>
        <p:txBody>
          <a:bodyPr/>
          <a:lstStyle/>
          <a:p>
            <a:fld id="{2C790A91-0F3D-9944-94EF-F5C93CDE0643}" type="datetimeFigureOut">
              <a:rPr lang="it-IT" smtClean="0"/>
              <a:t>30/08/2025</a:t>
            </a:fld>
            <a:endParaRPr lang="it-IT" dirty="0"/>
          </a:p>
        </p:txBody>
      </p:sp>
      <p:sp>
        <p:nvSpPr>
          <p:cNvPr id="8" name="Segnaposto piè di pagina 7"/>
          <p:cNvSpPr>
            <a:spLocks noGrp="1"/>
          </p:cNvSpPr>
          <p:nvPr>
            <p:ph type="ftr" sz="quarter" idx="11"/>
          </p:nvPr>
        </p:nvSpPr>
        <p:spPr/>
        <p:txBody>
          <a:bodyPr/>
          <a:lstStyle/>
          <a:p>
            <a:endParaRPr lang="it-IT" dirty="0"/>
          </a:p>
        </p:txBody>
      </p:sp>
      <p:sp>
        <p:nvSpPr>
          <p:cNvPr id="9" name="Segnaposto numero diapositiva 8"/>
          <p:cNvSpPr>
            <a:spLocks noGrp="1"/>
          </p:cNvSpPr>
          <p:nvPr>
            <p:ph type="sldNum" sz="quarter" idx="12"/>
          </p:nvPr>
        </p:nvSpPr>
        <p:spPr/>
        <p:txBody>
          <a:bodyPr/>
          <a:lstStyle/>
          <a:p>
            <a:fld id="{8D9A2948-A980-434D-BAB3-FF8DF2F4692E}" type="slidenum">
              <a:rPr lang="it-IT" smtClean="0"/>
              <a:t>‹N›</a:t>
            </a:fld>
            <a:endParaRPr lang="it-IT" dirty="0"/>
          </a:p>
        </p:txBody>
      </p:sp>
    </p:spTree>
    <p:extLst>
      <p:ext uri="{BB962C8B-B14F-4D97-AF65-F5344CB8AC3E}">
        <p14:creationId xmlns:p14="http://schemas.microsoft.com/office/powerpoint/2010/main" val="2015360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data 2"/>
          <p:cNvSpPr>
            <a:spLocks noGrp="1"/>
          </p:cNvSpPr>
          <p:nvPr>
            <p:ph type="dt" sz="half" idx="10"/>
          </p:nvPr>
        </p:nvSpPr>
        <p:spPr/>
        <p:txBody>
          <a:bodyPr/>
          <a:lstStyle/>
          <a:p>
            <a:fld id="{2C790A91-0F3D-9944-94EF-F5C93CDE0643}" type="datetimeFigureOut">
              <a:rPr lang="it-IT" smtClean="0"/>
              <a:t>30/08/2025</a:t>
            </a:fld>
            <a:endParaRPr lang="it-IT" dirty="0"/>
          </a:p>
        </p:txBody>
      </p:sp>
      <p:sp>
        <p:nvSpPr>
          <p:cNvPr id="4" name="Segnaposto piè di pagina 3"/>
          <p:cNvSpPr>
            <a:spLocks noGrp="1"/>
          </p:cNvSpPr>
          <p:nvPr>
            <p:ph type="ftr" sz="quarter" idx="11"/>
          </p:nvPr>
        </p:nvSpPr>
        <p:spPr/>
        <p:txBody>
          <a:bodyPr/>
          <a:lstStyle/>
          <a:p>
            <a:endParaRPr lang="it-IT" dirty="0"/>
          </a:p>
        </p:txBody>
      </p:sp>
      <p:sp>
        <p:nvSpPr>
          <p:cNvPr id="5" name="Segnaposto numero diapositiva 4"/>
          <p:cNvSpPr>
            <a:spLocks noGrp="1"/>
          </p:cNvSpPr>
          <p:nvPr>
            <p:ph type="sldNum" sz="quarter" idx="12"/>
          </p:nvPr>
        </p:nvSpPr>
        <p:spPr/>
        <p:txBody>
          <a:bodyPr/>
          <a:lstStyle/>
          <a:p>
            <a:fld id="{8D9A2948-A980-434D-BAB3-FF8DF2F4692E}" type="slidenum">
              <a:rPr lang="it-IT" smtClean="0"/>
              <a:t>‹N›</a:t>
            </a:fld>
            <a:endParaRPr lang="it-IT" dirty="0"/>
          </a:p>
        </p:txBody>
      </p:sp>
    </p:spTree>
    <p:extLst>
      <p:ext uri="{BB962C8B-B14F-4D97-AF65-F5344CB8AC3E}">
        <p14:creationId xmlns:p14="http://schemas.microsoft.com/office/powerpoint/2010/main" val="7695112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o">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2C790A91-0F3D-9944-94EF-F5C93CDE0643}" type="datetimeFigureOut">
              <a:rPr lang="it-IT" smtClean="0"/>
              <a:t>30/08/2025</a:t>
            </a:fld>
            <a:endParaRPr lang="it-IT" dirty="0"/>
          </a:p>
        </p:txBody>
      </p:sp>
      <p:sp>
        <p:nvSpPr>
          <p:cNvPr id="3" name="Segnaposto piè di pagina 2"/>
          <p:cNvSpPr>
            <a:spLocks noGrp="1"/>
          </p:cNvSpPr>
          <p:nvPr>
            <p:ph type="ftr" sz="quarter" idx="11"/>
          </p:nvPr>
        </p:nvSpPr>
        <p:spPr/>
        <p:txBody>
          <a:bodyPr/>
          <a:lstStyle/>
          <a:p>
            <a:endParaRPr lang="it-IT" dirty="0"/>
          </a:p>
        </p:txBody>
      </p:sp>
      <p:sp>
        <p:nvSpPr>
          <p:cNvPr id="4" name="Segnaposto numero diapositiva 3"/>
          <p:cNvSpPr>
            <a:spLocks noGrp="1"/>
          </p:cNvSpPr>
          <p:nvPr>
            <p:ph type="sldNum" sz="quarter" idx="12"/>
          </p:nvPr>
        </p:nvSpPr>
        <p:spPr/>
        <p:txBody>
          <a:bodyPr/>
          <a:lstStyle/>
          <a:p>
            <a:fld id="{8D9A2948-A980-434D-BAB3-FF8DF2F4692E}" type="slidenum">
              <a:rPr lang="it-IT" smtClean="0"/>
              <a:t>‹N›</a:t>
            </a:fld>
            <a:endParaRPr lang="it-IT" dirty="0"/>
          </a:p>
        </p:txBody>
      </p:sp>
    </p:spTree>
    <p:extLst>
      <p:ext uri="{BB962C8B-B14F-4D97-AF65-F5344CB8AC3E}">
        <p14:creationId xmlns:p14="http://schemas.microsoft.com/office/powerpoint/2010/main" val="32346219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609601" y="273050"/>
            <a:ext cx="4011084" cy="1162050"/>
          </a:xfrm>
        </p:spPr>
        <p:txBody>
          <a:bodyPr anchor="b"/>
          <a:lstStyle>
            <a:lvl1pPr algn="l">
              <a:defRPr sz="2000" b="1"/>
            </a:lvl1pPr>
          </a:lstStyle>
          <a:p>
            <a:r>
              <a:rPr lang="it-IT"/>
              <a:t>Fare clic per modificare stile</a:t>
            </a:r>
          </a:p>
        </p:txBody>
      </p:sp>
      <p:sp>
        <p:nvSpPr>
          <p:cNvPr id="3" name="Segnaposto contenuto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p:txBody>
          <a:bodyPr/>
          <a:lstStyle/>
          <a:p>
            <a:fld id="{2C790A91-0F3D-9944-94EF-F5C93CDE0643}" type="datetimeFigureOut">
              <a:rPr lang="it-IT" smtClean="0"/>
              <a:t>30/08/2025</a:t>
            </a:fld>
            <a:endParaRPr lang="it-IT" dirty="0"/>
          </a:p>
        </p:txBody>
      </p:sp>
      <p:sp>
        <p:nvSpPr>
          <p:cNvPr id="6" name="Segnaposto piè di pagina 5"/>
          <p:cNvSpPr>
            <a:spLocks noGrp="1"/>
          </p:cNvSpPr>
          <p:nvPr>
            <p:ph type="ftr" sz="quarter" idx="11"/>
          </p:nvPr>
        </p:nvSpPr>
        <p:spPr/>
        <p:txBody>
          <a:bodyPr/>
          <a:lstStyle/>
          <a:p>
            <a:endParaRPr lang="it-IT" dirty="0"/>
          </a:p>
        </p:txBody>
      </p:sp>
      <p:sp>
        <p:nvSpPr>
          <p:cNvPr id="7" name="Segnaposto numero diapositiva 6"/>
          <p:cNvSpPr>
            <a:spLocks noGrp="1"/>
          </p:cNvSpPr>
          <p:nvPr>
            <p:ph type="sldNum" sz="quarter" idx="12"/>
          </p:nvPr>
        </p:nvSpPr>
        <p:spPr/>
        <p:txBody>
          <a:bodyPr/>
          <a:lstStyle/>
          <a:p>
            <a:fld id="{8D9A2948-A980-434D-BAB3-FF8DF2F4692E}" type="slidenum">
              <a:rPr lang="it-IT" smtClean="0"/>
              <a:t>‹N›</a:t>
            </a:fld>
            <a:endParaRPr lang="it-IT" dirty="0"/>
          </a:p>
        </p:txBody>
      </p:sp>
    </p:spTree>
    <p:extLst>
      <p:ext uri="{BB962C8B-B14F-4D97-AF65-F5344CB8AC3E}">
        <p14:creationId xmlns:p14="http://schemas.microsoft.com/office/powerpoint/2010/main" val="37482418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2389717" y="4800600"/>
            <a:ext cx="7315200" cy="566738"/>
          </a:xfrm>
        </p:spPr>
        <p:txBody>
          <a:bodyPr anchor="b"/>
          <a:lstStyle>
            <a:lvl1pPr algn="l">
              <a:defRPr sz="2000" b="1"/>
            </a:lvl1pPr>
          </a:lstStyle>
          <a:p>
            <a:r>
              <a:rPr lang="it-IT"/>
              <a:t>Fare clic per modificare stile</a:t>
            </a:r>
          </a:p>
        </p:txBody>
      </p:sp>
      <p:sp>
        <p:nvSpPr>
          <p:cNvPr id="3" name="Segnaposto immagine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Segnaposto data 4"/>
          <p:cNvSpPr>
            <a:spLocks noGrp="1"/>
          </p:cNvSpPr>
          <p:nvPr>
            <p:ph type="dt" sz="half" idx="10"/>
          </p:nvPr>
        </p:nvSpPr>
        <p:spPr/>
        <p:txBody>
          <a:bodyPr/>
          <a:lstStyle/>
          <a:p>
            <a:fld id="{2C790A91-0F3D-9944-94EF-F5C93CDE0643}" type="datetimeFigureOut">
              <a:rPr lang="it-IT" smtClean="0"/>
              <a:t>30/08/2025</a:t>
            </a:fld>
            <a:endParaRPr lang="it-IT" dirty="0"/>
          </a:p>
        </p:txBody>
      </p:sp>
      <p:sp>
        <p:nvSpPr>
          <p:cNvPr id="6" name="Segnaposto piè di pagina 5"/>
          <p:cNvSpPr>
            <a:spLocks noGrp="1"/>
          </p:cNvSpPr>
          <p:nvPr>
            <p:ph type="ftr" sz="quarter" idx="11"/>
          </p:nvPr>
        </p:nvSpPr>
        <p:spPr/>
        <p:txBody>
          <a:bodyPr/>
          <a:lstStyle/>
          <a:p>
            <a:endParaRPr lang="it-IT" dirty="0"/>
          </a:p>
        </p:txBody>
      </p:sp>
      <p:sp>
        <p:nvSpPr>
          <p:cNvPr id="7" name="Segnaposto numero diapositiva 6"/>
          <p:cNvSpPr>
            <a:spLocks noGrp="1"/>
          </p:cNvSpPr>
          <p:nvPr>
            <p:ph type="sldNum" sz="quarter" idx="12"/>
          </p:nvPr>
        </p:nvSpPr>
        <p:spPr/>
        <p:txBody>
          <a:bodyPr/>
          <a:lstStyle/>
          <a:p>
            <a:fld id="{8D9A2948-A980-434D-BAB3-FF8DF2F4692E}" type="slidenum">
              <a:rPr lang="it-IT" smtClean="0"/>
              <a:t>‹N›</a:t>
            </a:fld>
            <a:endParaRPr lang="it-IT" dirty="0"/>
          </a:p>
        </p:txBody>
      </p:sp>
    </p:spTree>
    <p:extLst>
      <p:ext uri="{BB962C8B-B14F-4D97-AF65-F5344CB8AC3E}">
        <p14:creationId xmlns:p14="http://schemas.microsoft.com/office/powerpoint/2010/main" val="6591011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a:t>Fare clic per modificare stile</a:t>
            </a:r>
          </a:p>
        </p:txBody>
      </p:sp>
      <p:sp>
        <p:nvSpPr>
          <p:cNvPr id="3" name="Segnaposto testo verticale 2"/>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2C790A91-0F3D-9944-94EF-F5C93CDE0643}" type="datetimeFigureOut">
              <a:rPr lang="it-IT" smtClean="0"/>
              <a:t>30/08/2025</a:t>
            </a:fld>
            <a:endParaRPr lang="it-IT" dirty="0"/>
          </a:p>
        </p:txBody>
      </p:sp>
      <p:sp>
        <p:nvSpPr>
          <p:cNvPr id="5" name="Segnaposto piè di pagina 4"/>
          <p:cNvSpPr>
            <a:spLocks noGrp="1"/>
          </p:cNvSpPr>
          <p:nvPr>
            <p:ph type="ftr" sz="quarter" idx="11"/>
          </p:nvPr>
        </p:nvSpPr>
        <p:spPr/>
        <p:txBody>
          <a:bodyPr/>
          <a:lstStyle/>
          <a:p>
            <a:endParaRPr lang="it-IT" dirty="0"/>
          </a:p>
        </p:txBody>
      </p:sp>
      <p:sp>
        <p:nvSpPr>
          <p:cNvPr id="6" name="Segnaposto numero diapositiva 5"/>
          <p:cNvSpPr>
            <a:spLocks noGrp="1"/>
          </p:cNvSpPr>
          <p:nvPr>
            <p:ph type="sldNum" sz="quarter" idx="12"/>
          </p:nvPr>
        </p:nvSpPr>
        <p:spPr/>
        <p:txBody>
          <a:bodyPr/>
          <a:lstStyle/>
          <a:p>
            <a:fld id="{8D9A2948-A980-434D-BAB3-FF8DF2F4692E}" type="slidenum">
              <a:rPr lang="it-IT" smtClean="0"/>
              <a:t>‹N›</a:t>
            </a:fld>
            <a:endParaRPr lang="it-IT" dirty="0"/>
          </a:p>
        </p:txBody>
      </p:sp>
    </p:spTree>
    <p:extLst>
      <p:ext uri="{BB962C8B-B14F-4D97-AF65-F5344CB8AC3E}">
        <p14:creationId xmlns:p14="http://schemas.microsoft.com/office/powerpoint/2010/main" val="40412857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verticale e testo">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8839200" y="274639"/>
            <a:ext cx="2743200" cy="5851525"/>
          </a:xfrm>
        </p:spPr>
        <p:txBody>
          <a:bodyPr vert="eaVert"/>
          <a:lstStyle/>
          <a:p>
            <a:r>
              <a:rPr lang="it-IT"/>
              <a:t>Fare clic per modificare stile</a:t>
            </a:r>
          </a:p>
        </p:txBody>
      </p:sp>
      <p:sp>
        <p:nvSpPr>
          <p:cNvPr id="3" name="Segnaposto testo verticale 2"/>
          <p:cNvSpPr>
            <a:spLocks noGrp="1"/>
          </p:cNvSpPr>
          <p:nvPr>
            <p:ph type="body" orient="vert" idx="1"/>
          </p:nvPr>
        </p:nvSpPr>
        <p:spPr>
          <a:xfrm>
            <a:off x="609600" y="274639"/>
            <a:ext cx="8026400" cy="5851525"/>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10"/>
          </p:nvPr>
        </p:nvSpPr>
        <p:spPr/>
        <p:txBody>
          <a:bodyPr/>
          <a:lstStyle/>
          <a:p>
            <a:fld id="{2C790A91-0F3D-9944-94EF-F5C93CDE0643}" type="datetimeFigureOut">
              <a:rPr lang="it-IT" smtClean="0"/>
              <a:t>30/08/2025</a:t>
            </a:fld>
            <a:endParaRPr lang="it-IT" dirty="0"/>
          </a:p>
        </p:txBody>
      </p:sp>
      <p:sp>
        <p:nvSpPr>
          <p:cNvPr id="5" name="Segnaposto piè di pagina 4"/>
          <p:cNvSpPr>
            <a:spLocks noGrp="1"/>
          </p:cNvSpPr>
          <p:nvPr>
            <p:ph type="ftr" sz="quarter" idx="11"/>
          </p:nvPr>
        </p:nvSpPr>
        <p:spPr/>
        <p:txBody>
          <a:bodyPr/>
          <a:lstStyle/>
          <a:p>
            <a:endParaRPr lang="it-IT" dirty="0"/>
          </a:p>
        </p:txBody>
      </p:sp>
      <p:sp>
        <p:nvSpPr>
          <p:cNvPr id="6" name="Segnaposto numero diapositiva 5"/>
          <p:cNvSpPr>
            <a:spLocks noGrp="1"/>
          </p:cNvSpPr>
          <p:nvPr>
            <p:ph type="sldNum" sz="quarter" idx="12"/>
          </p:nvPr>
        </p:nvSpPr>
        <p:spPr/>
        <p:txBody>
          <a:bodyPr/>
          <a:lstStyle/>
          <a:p>
            <a:fld id="{8D9A2948-A980-434D-BAB3-FF8DF2F4692E}" type="slidenum">
              <a:rPr lang="it-IT" smtClean="0"/>
              <a:t>‹N›</a:t>
            </a:fld>
            <a:endParaRPr lang="it-IT" dirty="0"/>
          </a:p>
        </p:txBody>
      </p:sp>
    </p:spTree>
    <p:extLst>
      <p:ext uri="{BB962C8B-B14F-4D97-AF65-F5344CB8AC3E}">
        <p14:creationId xmlns:p14="http://schemas.microsoft.com/office/powerpoint/2010/main" val="33580958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it-IT"/>
              <a:t>Fare clic per modificare stile</a:t>
            </a:r>
          </a:p>
        </p:txBody>
      </p:sp>
      <p:sp>
        <p:nvSpPr>
          <p:cNvPr id="3" name="Segnaposto testo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790A91-0F3D-9944-94EF-F5C93CDE0643}" type="datetimeFigureOut">
              <a:rPr lang="it-IT" smtClean="0"/>
              <a:t>30/08/2025</a:t>
            </a:fld>
            <a:endParaRPr lang="it-IT" dirty="0"/>
          </a:p>
        </p:txBody>
      </p:sp>
      <p:sp>
        <p:nvSpPr>
          <p:cNvPr id="5" name="Segnaposto piè di pagina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dirty="0"/>
          </a:p>
        </p:txBody>
      </p:sp>
      <p:sp>
        <p:nvSpPr>
          <p:cNvPr id="6" name="Segnaposto numero diapositiva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9A2948-A980-434D-BAB3-FF8DF2F4692E}" type="slidenum">
              <a:rPr lang="it-IT" smtClean="0"/>
              <a:t>‹N›</a:t>
            </a:fld>
            <a:endParaRPr lang="it-IT" dirty="0"/>
          </a:p>
        </p:txBody>
      </p:sp>
    </p:spTree>
    <p:extLst>
      <p:ext uri="{BB962C8B-B14F-4D97-AF65-F5344CB8AC3E}">
        <p14:creationId xmlns:p14="http://schemas.microsoft.com/office/powerpoint/2010/main" val="1722204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it-IT"/>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2.jp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3.png"/><Relationship Id="rId5"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16.png"/><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jpeg"/><Relationship Id="rId5" Type="http://schemas.openxmlformats.org/officeDocument/2006/relationships/image" Target="../media/image18.jpeg"/><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4.jp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3.jpg"/><Relationship Id="rId5" Type="http://schemas.openxmlformats.org/officeDocument/2006/relationships/image" Target="../media/image22.jpg"/><Relationship Id="rId4" Type="http://schemas.openxmlformats.org/officeDocument/2006/relationships/image" Target="../media/image21.jpe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8.jp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7.jpg"/><Relationship Id="rId5" Type="http://schemas.openxmlformats.org/officeDocument/2006/relationships/image" Target="../media/image26.jpg"/><Relationship Id="rId4" Type="http://schemas.openxmlformats.org/officeDocument/2006/relationships/image" Target="../media/image25.jp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magine 8" descr="banner.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
            <a:ext cx="12192001" cy="1052622"/>
          </a:xfrm>
          <a:prstGeom prst="rect">
            <a:avLst/>
          </a:prstGeom>
        </p:spPr>
      </p:pic>
      <p:sp>
        <p:nvSpPr>
          <p:cNvPr id="11" name="Rettangolo 10"/>
          <p:cNvSpPr/>
          <p:nvPr/>
        </p:nvSpPr>
        <p:spPr>
          <a:xfrm>
            <a:off x="0" y="4896892"/>
            <a:ext cx="12192000" cy="1961108"/>
          </a:xfrm>
          <a:prstGeom prst="rect">
            <a:avLst/>
          </a:prstGeom>
          <a:solidFill>
            <a:srgbClr val="FFDC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16" name="Rectangle 15">
            <a:extLst>
              <a:ext uri="{FF2B5EF4-FFF2-40B4-BE49-F238E27FC236}">
                <a16:creationId xmlns:a16="http://schemas.microsoft.com/office/drawing/2014/main" id="{4D57FBD8-41E3-EFCA-B9B5-AF6BBD13CA89}"/>
              </a:ext>
            </a:extLst>
          </p:cNvPr>
          <p:cNvSpPr/>
          <p:nvPr/>
        </p:nvSpPr>
        <p:spPr>
          <a:xfrm>
            <a:off x="531560" y="5253991"/>
            <a:ext cx="1624665" cy="12469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19" name="Rectangle 18">
            <a:extLst>
              <a:ext uri="{FF2B5EF4-FFF2-40B4-BE49-F238E27FC236}">
                <a16:creationId xmlns:a16="http://schemas.microsoft.com/office/drawing/2014/main" id="{7F20DA70-63A6-8C3B-D3D7-BCA7582A531E}"/>
              </a:ext>
            </a:extLst>
          </p:cNvPr>
          <p:cNvSpPr/>
          <p:nvPr/>
        </p:nvSpPr>
        <p:spPr>
          <a:xfrm>
            <a:off x="5283666" y="5253990"/>
            <a:ext cx="1624665" cy="12469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22" name="Rectangle 21">
            <a:extLst>
              <a:ext uri="{FF2B5EF4-FFF2-40B4-BE49-F238E27FC236}">
                <a16:creationId xmlns:a16="http://schemas.microsoft.com/office/drawing/2014/main" id="{5B3EDA7A-C2FE-104F-A798-B57E12F134BE}"/>
              </a:ext>
            </a:extLst>
          </p:cNvPr>
          <p:cNvSpPr/>
          <p:nvPr/>
        </p:nvSpPr>
        <p:spPr>
          <a:xfrm>
            <a:off x="10035775" y="5253989"/>
            <a:ext cx="1624665" cy="1246909"/>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noProof="0" dirty="0"/>
          </a:p>
        </p:txBody>
      </p:sp>
      <p:sp>
        <p:nvSpPr>
          <p:cNvPr id="30" name="CasellaDiTesto 9">
            <a:extLst>
              <a:ext uri="{FF2B5EF4-FFF2-40B4-BE49-F238E27FC236}">
                <a16:creationId xmlns:a16="http://schemas.microsoft.com/office/drawing/2014/main" id="{25D6C0D8-3AB5-2879-A1AE-3041DE17451A}"/>
              </a:ext>
            </a:extLst>
          </p:cNvPr>
          <p:cNvSpPr txBox="1"/>
          <p:nvPr/>
        </p:nvSpPr>
        <p:spPr>
          <a:xfrm>
            <a:off x="217714" y="1147820"/>
            <a:ext cx="9110186" cy="923330"/>
          </a:xfrm>
          <a:prstGeom prst="rect">
            <a:avLst/>
          </a:prstGeom>
          <a:noFill/>
        </p:spPr>
        <p:txBody>
          <a:bodyPr wrap="none" rtlCol="0">
            <a:spAutoFit/>
          </a:bodyPr>
          <a:lstStyle/>
          <a:p>
            <a:r>
              <a:rPr lang="en-GB" sz="2800" noProof="0" dirty="0">
                <a:solidFill>
                  <a:srgbClr val="971720"/>
                </a:solidFill>
                <a:latin typeface="Century Gothic"/>
                <a:cs typeface="Century Gothic"/>
              </a:rPr>
              <a:t>D</a:t>
            </a:r>
            <a:r>
              <a:rPr lang="en-GB" noProof="0" dirty="0">
                <a:solidFill>
                  <a:srgbClr val="162230"/>
                </a:solidFill>
                <a:latin typeface="Century Gothic"/>
                <a:cs typeface="Century Gothic"/>
              </a:rPr>
              <a:t>IPARTIMENTO DI </a:t>
            </a:r>
            <a:r>
              <a:rPr lang="en-GB" sz="2800" noProof="0" dirty="0">
                <a:solidFill>
                  <a:srgbClr val="971720"/>
                </a:solidFill>
                <a:latin typeface="Century Gothic"/>
                <a:cs typeface="Century Gothic"/>
              </a:rPr>
              <a:t>I</a:t>
            </a:r>
            <a:r>
              <a:rPr lang="en-GB" noProof="0" dirty="0">
                <a:solidFill>
                  <a:srgbClr val="162230"/>
                </a:solidFill>
                <a:latin typeface="Century Gothic"/>
                <a:cs typeface="Century Gothic"/>
              </a:rPr>
              <a:t>NGEGNERIA</a:t>
            </a:r>
            <a:r>
              <a:rPr lang="en-GB" noProof="0" dirty="0">
                <a:latin typeface="Century Gothic"/>
                <a:cs typeface="Century Gothic"/>
              </a:rPr>
              <a:t> </a:t>
            </a:r>
            <a:r>
              <a:rPr lang="en-GB" sz="2800" noProof="0" dirty="0">
                <a:solidFill>
                  <a:srgbClr val="971720"/>
                </a:solidFill>
                <a:latin typeface="Century Gothic"/>
                <a:cs typeface="Century Gothic"/>
              </a:rPr>
              <a:t>E</a:t>
            </a:r>
            <a:r>
              <a:rPr lang="en-GB" noProof="0" dirty="0">
                <a:solidFill>
                  <a:srgbClr val="162230"/>
                </a:solidFill>
                <a:latin typeface="Century Gothic"/>
                <a:cs typeface="Century Gothic"/>
              </a:rPr>
              <a:t>LETTRICA E </a:t>
            </a:r>
            <a:r>
              <a:rPr lang="en-GB" sz="2800" noProof="0" dirty="0">
                <a:solidFill>
                  <a:srgbClr val="971720"/>
                </a:solidFill>
                <a:latin typeface="Century Gothic"/>
                <a:cs typeface="Century Gothic"/>
              </a:rPr>
              <a:t>T</a:t>
            </a:r>
            <a:r>
              <a:rPr lang="en-GB" noProof="0" dirty="0">
                <a:solidFill>
                  <a:srgbClr val="162230"/>
                </a:solidFill>
                <a:latin typeface="Century Gothic"/>
                <a:cs typeface="Century Gothic"/>
              </a:rPr>
              <a:t>ECNOLOGIE DEL</a:t>
            </a:r>
            <a:r>
              <a:rPr lang="en-GB" noProof="0" dirty="0">
                <a:latin typeface="Century Gothic"/>
                <a:cs typeface="Century Gothic"/>
              </a:rPr>
              <a:t>L’</a:t>
            </a:r>
            <a:r>
              <a:rPr lang="en-GB" sz="2800" noProof="0" dirty="0">
                <a:solidFill>
                  <a:srgbClr val="971720"/>
                </a:solidFill>
                <a:latin typeface="Century Gothic"/>
                <a:cs typeface="Century Gothic"/>
              </a:rPr>
              <a:t>I</a:t>
            </a:r>
            <a:r>
              <a:rPr lang="en-GB" noProof="0" dirty="0">
                <a:solidFill>
                  <a:srgbClr val="162230"/>
                </a:solidFill>
                <a:latin typeface="Century Gothic"/>
                <a:cs typeface="Century Gothic"/>
              </a:rPr>
              <a:t>NFORMAZIONE</a:t>
            </a:r>
          </a:p>
          <a:p>
            <a:endParaRPr lang="en-GB" sz="800" noProof="0" dirty="0">
              <a:solidFill>
                <a:srgbClr val="162230"/>
              </a:solidFill>
              <a:latin typeface="Century Gothic"/>
              <a:cs typeface="Century Gothic"/>
            </a:endParaRPr>
          </a:p>
          <a:p>
            <a:r>
              <a:rPr lang="en-GB" noProof="0" dirty="0">
                <a:solidFill>
                  <a:srgbClr val="162230"/>
                </a:solidFill>
                <a:latin typeface="Century Gothic"/>
                <a:cs typeface="Century Gothic"/>
              </a:rPr>
              <a:t>SCUOLA POLITECNICA E DELLE SCIENZE DI BASE</a:t>
            </a:r>
          </a:p>
        </p:txBody>
      </p:sp>
      <p:sp>
        <p:nvSpPr>
          <p:cNvPr id="32" name="CasellaDiTesto 12">
            <a:extLst>
              <a:ext uri="{FF2B5EF4-FFF2-40B4-BE49-F238E27FC236}">
                <a16:creationId xmlns:a16="http://schemas.microsoft.com/office/drawing/2014/main" id="{38EFD608-08ED-887B-303A-AEDE2A4AA94C}"/>
              </a:ext>
            </a:extLst>
          </p:cNvPr>
          <p:cNvSpPr txBox="1"/>
          <p:nvPr/>
        </p:nvSpPr>
        <p:spPr>
          <a:xfrm>
            <a:off x="213416" y="2989765"/>
            <a:ext cx="11978584" cy="1123384"/>
          </a:xfrm>
          <a:prstGeom prst="rect">
            <a:avLst/>
          </a:prstGeom>
          <a:noFill/>
        </p:spPr>
        <p:txBody>
          <a:bodyPr wrap="square" rtlCol="0">
            <a:spAutoFit/>
          </a:bodyPr>
          <a:lstStyle/>
          <a:p>
            <a:pP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200" b="1" noProof="0" dirty="0">
                <a:solidFill>
                  <a:srgbClr val="971720"/>
                </a:solidFill>
                <a:latin typeface="Cambria" panose="02040503050406030204" pitchFamily="18" charset="0"/>
                <a:ea typeface="Cambria" panose="02040503050406030204" pitchFamily="18" charset="0"/>
                <a:cs typeface="Century Gothic"/>
              </a:rPr>
              <a:t>Control of an Underwater Robot (BlueROV2)</a:t>
            </a:r>
          </a:p>
          <a:p>
            <a:pPr>
              <a:spcBef>
                <a:spcPts val="180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2000" noProof="0" dirty="0">
                <a:latin typeface="Cambria" panose="02040503050406030204" pitchFamily="18" charset="0"/>
                <a:ea typeface="Cambria" panose="02040503050406030204" pitchFamily="18" charset="0"/>
                <a:cs typeface="Century Gothic"/>
              </a:rPr>
              <a:t>Student: Salvatore De Luca P38000281</a:t>
            </a:r>
          </a:p>
        </p:txBody>
      </p:sp>
      <p:sp>
        <p:nvSpPr>
          <p:cNvPr id="34" name="CasellaDiTesto 11">
            <a:extLst>
              <a:ext uri="{FF2B5EF4-FFF2-40B4-BE49-F238E27FC236}">
                <a16:creationId xmlns:a16="http://schemas.microsoft.com/office/drawing/2014/main" id="{544B29C9-AD94-C7B7-2FFE-708F9C0DC931}"/>
              </a:ext>
            </a:extLst>
          </p:cNvPr>
          <p:cNvSpPr txBox="1"/>
          <p:nvPr/>
        </p:nvSpPr>
        <p:spPr>
          <a:xfrm>
            <a:off x="249987" y="2375300"/>
            <a:ext cx="9075155" cy="369332"/>
          </a:xfrm>
          <a:prstGeom prst="rect">
            <a:avLst/>
          </a:prstGeom>
          <a:noFill/>
        </p:spPr>
        <p:txBody>
          <a:bodyPr wrap="square" rtlCol="0">
            <a:spAutoFit/>
          </a:bodyPr>
          <a:lstStyle/>
          <a:p>
            <a:r>
              <a:rPr lang="en-GB" b="1" noProof="0" dirty="0">
                <a:solidFill>
                  <a:srgbClr val="162230"/>
                </a:solidFill>
                <a:latin typeface="Century Gothic"/>
                <a:cs typeface="Century Gothic"/>
              </a:rPr>
              <a:t>Field and Service Robotics Technical Project</a:t>
            </a:r>
          </a:p>
        </p:txBody>
      </p:sp>
      <p:pic>
        <p:nvPicPr>
          <p:cNvPr id="3" name="Immagine 2" descr="Immagine che contiene Ricambio auto, moto, automobile&#10;&#10;Il contenuto generato dall'IA potrebbe non essere corretto.">
            <a:extLst>
              <a:ext uri="{FF2B5EF4-FFF2-40B4-BE49-F238E27FC236}">
                <a16:creationId xmlns:a16="http://schemas.microsoft.com/office/drawing/2014/main" id="{3467F1C7-C6DF-3047-B46C-BB669CC5ADED}"/>
              </a:ext>
            </a:extLst>
          </p:cNvPr>
          <p:cNvPicPr>
            <a:picLocks noChangeAspect="1"/>
          </p:cNvPicPr>
          <p:nvPr/>
        </p:nvPicPr>
        <p:blipFill>
          <a:blip r:embed="rId4"/>
          <a:stretch>
            <a:fillRect/>
          </a:stretch>
        </p:blipFill>
        <p:spPr>
          <a:xfrm>
            <a:off x="670757" y="5288949"/>
            <a:ext cx="1346269" cy="1176985"/>
          </a:xfrm>
          <a:prstGeom prst="rect">
            <a:avLst/>
          </a:prstGeom>
        </p:spPr>
      </p:pic>
      <p:pic>
        <p:nvPicPr>
          <p:cNvPr id="6" name="Immagine 5" descr="Immagine che contiene automobile, Ricambio auto, motore&#10;&#10;Il contenuto generato dall'IA potrebbe non essere corretto.">
            <a:extLst>
              <a:ext uri="{FF2B5EF4-FFF2-40B4-BE49-F238E27FC236}">
                <a16:creationId xmlns:a16="http://schemas.microsoft.com/office/drawing/2014/main" id="{19956478-2826-124A-1C5D-BAEB411DE6F8}"/>
              </a:ext>
            </a:extLst>
          </p:cNvPr>
          <p:cNvPicPr>
            <a:picLocks noChangeAspect="1"/>
          </p:cNvPicPr>
          <p:nvPr/>
        </p:nvPicPr>
        <p:blipFill>
          <a:blip r:embed="rId5"/>
          <a:stretch>
            <a:fillRect/>
          </a:stretch>
        </p:blipFill>
        <p:spPr>
          <a:xfrm>
            <a:off x="5302393" y="5282238"/>
            <a:ext cx="1587210" cy="1190408"/>
          </a:xfrm>
          <a:prstGeom prst="rect">
            <a:avLst/>
          </a:prstGeom>
        </p:spPr>
      </p:pic>
      <p:pic>
        <p:nvPicPr>
          <p:cNvPr id="12" name="Immagine 11" descr="Immagine che contiene diagramma, schizzo, cerchio, design&#10;&#10;Il contenuto generato dall'IA potrebbe non essere corretto.">
            <a:extLst>
              <a:ext uri="{FF2B5EF4-FFF2-40B4-BE49-F238E27FC236}">
                <a16:creationId xmlns:a16="http://schemas.microsoft.com/office/drawing/2014/main" id="{A18DE9D8-C437-0281-2EDB-F8D0181D5BF5}"/>
              </a:ext>
            </a:extLst>
          </p:cNvPr>
          <p:cNvPicPr>
            <a:picLocks noChangeAspect="1"/>
          </p:cNvPicPr>
          <p:nvPr/>
        </p:nvPicPr>
        <p:blipFill>
          <a:blip r:embed="rId6"/>
          <a:stretch>
            <a:fillRect/>
          </a:stretch>
        </p:blipFill>
        <p:spPr>
          <a:xfrm>
            <a:off x="10154664" y="5313012"/>
            <a:ext cx="1386886" cy="1128860"/>
          </a:xfrm>
          <a:prstGeom prst="rect">
            <a:avLst/>
          </a:prstGeom>
        </p:spPr>
      </p:pic>
    </p:spTree>
    <p:extLst>
      <p:ext uri="{BB962C8B-B14F-4D97-AF65-F5344CB8AC3E}">
        <p14:creationId xmlns:p14="http://schemas.microsoft.com/office/powerpoint/2010/main" val="31654687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ttangolo 10"/>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en-GB" kern="0" noProof="0" dirty="0">
              <a:solidFill>
                <a:prstClr val="white"/>
              </a:solidFill>
              <a:latin typeface="Calibri"/>
            </a:endParaRPr>
          </a:p>
        </p:txBody>
      </p:sp>
      <p:pic>
        <p:nvPicPr>
          <p:cNvPr id="10" name="Picture 2" descr="C:\Bruno\campus\unina\Stationery\Dipartimenti\DIETI\Logo_DIETI_Por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p:cNvSpPr/>
          <p:nvPr/>
        </p:nvSpPr>
        <p:spPr>
          <a:xfrm>
            <a:off x="14286" y="6598816"/>
            <a:ext cx="12177714" cy="307777"/>
          </a:xfrm>
          <a:prstGeom prst="rect">
            <a:avLst/>
          </a:prstGeom>
        </p:spPr>
        <p:txBody>
          <a:bodyPr wrap="square">
            <a:spAutoFit/>
          </a:bodyPr>
          <a:lstStyle/>
          <a:p>
            <a:pPr algn="ct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noProof="0" dirty="0">
                <a:solidFill>
                  <a:srgbClr val="162230"/>
                </a:solidFill>
                <a:latin typeface="Century Gothic"/>
                <a:cs typeface="Century Gothic"/>
              </a:rPr>
              <a:t>CONTENTS</a:t>
            </a:r>
          </a:p>
        </p:txBody>
      </p:sp>
      <p:sp>
        <p:nvSpPr>
          <p:cNvPr id="3" name="Rectangle 2">
            <a:extLst>
              <a:ext uri="{FF2B5EF4-FFF2-40B4-BE49-F238E27FC236}">
                <a16:creationId xmlns:a16="http://schemas.microsoft.com/office/drawing/2014/main" id="{FC335325-D0F1-BB9A-B37B-9D0783AA7C90}"/>
              </a:ext>
            </a:extLst>
          </p:cNvPr>
          <p:cNvSpPr/>
          <p:nvPr/>
        </p:nvSpPr>
        <p:spPr>
          <a:xfrm>
            <a:off x="111616" y="122442"/>
            <a:ext cx="12080384" cy="6244723"/>
          </a:xfrm>
          <a:prstGeom prst="rect">
            <a:avLst/>
          </a:prstGeom>
          <a:solidFill>
            <a:schemeClr val="bg1"/>
          </a:solidFill>
        </p:spPr>
        <p:txBody>
          <a:bodyPr wrap="square">
            <a:spAutoFit/>
          </a:bodyPr>
          <a:lstStyle/>
          <a:p>
            <a:pPr marL="457200" indent="-457200">
              <a:spcAft>
                <a:spcPts val="600"/>
              </a:spcAft>
              <a:buClr>
                <a:srgbClr val="971720"/>
              </a:buClr>
              <a:buFont typeface="Wingdings" panose="05000000000000000000" pitchFamily="2" charset="2"/>
              <a:buChar char="v"/>
            </a:pPr>
            <a:r>
              <a:rPr lang="en-GB" sz="2800" b="1" noProof="0" dirty="0">
                <a:solidFill>
                  <a:srgbClr val="971720"/>
                </a:solidFill>
                <a:latin typeface="Cambria" panose="02040503050406030204" pitchFamily="18" charset="0"/>
                <a:ea typeface="Cambria" panose="02040503050406030204" pitchFamily="18" charset="0"/>
                <a:cs typeface="Century Gothic"/>
              </a:rPr>
              <a:t>Contents</a:t>
            </a:r>
          </a:p>
          <a:p>
            <a:pPr marL="457200" lvl="0" indent="-457200">
              <a:lnSpc>
                <a:spcPct val="150000"/>
              </a:lnSpc>
              <a:spcBef>
                <a:spcPct val="20000"/>
              </a:spcBef>
              <a:buClr>
                <a:srgbClr val="FFC000"/>
              </a:buClr>
              <a:buSzPct val="70000"/>
              <a:buFont typeface="Wingdings" panose="05000000000000000000" pitchFamily="2" charset="2"/>
              <a:buChar char="v"/>
            </a:pPr>
            <a:r>
              <a:rPr lang="en-GB" sz="2200" b="1" noProof="0" dirty="0">
                <a:solidFill>
                  <a:srgbClr val="162230"/>
                </a:solidFill>
                <a:latin typeface="Cambria" panose="02040503050406030204" pitchFamily="18" charset="0"/>
                <a:ea typeface="Cambria" panose="02040503050406030204" pitchFamily="18" charset="0"/>
              </a:rPr>
              <a:t>Introduction</a:t>
            </a:r>
          </a:p>
          <a:p>
            <a:pPr marL="457200" lvl="0" indent="-457200">
              <a:lnSpc>
                <a:spcPct val="150000"/>
              </a:lnSpc>
              <a:spcBef>
                <a:spcPct val="20000"/>
              </a:spcBef>
              <a:buClr>
                <a:srgbClr val="FFC000"/>
              </a:buClr>
              <a:buSzPct val="70000"/>
              <a:buFont typeface="Wingdings" panose="05000000000000000000" pitchFamily="2" charset="2"/>
              <a:buChar char="v"/>
            </a:pPr>
            <a:r>
              <a:rPr lang="en-GB" sz="2200" b="1" noProof="0" dirty="0">
                <a:solidFill>
                  <a:srgbClr val="162230"/>
                </a:solidFill>
                <a:latin typeface="Cambria" panose="02040503050406030204" pitchFamily="18" charset="0"/>
                <a:ea typeface="Cambria" panose="02040503050406030204" pitchFamily="18" charset="0"/>
              </a:rPr>
              <a:t>Modelling</a:t>
            </a:r>
          </a:p>
          <a:p>
            <a:pPr marL="1257300" lvl="2" indent="-342900">
              <a:lnSpc>
                <a:spcPct val="150000"/>
              </a:lnSpc>
              <a:spcBef>
                <a:spcPct val="20000"/>
              </a:spcBef>
              <a:buClr>
                <a:srgbClr val="971720"/>
              </a:buClr>
              <a:buSzPct val="70000"/>
              <a:buFont typeface="Wingdings" panose="05000000000000000000" pitchFamily="2" charset="2"/>
              <a:buChar char="v"/>
            </a:pPr>
            <a:r>
              <a:rPr lang="en-GB" sz="2200" noProof="0" dirty="0">
                <a:solidFill>
                  <a:srgbClr val="162230"/>
                </a:solidFill>
                <a:latin typeface="Cambria" panose="02040503050406030204" pitchFamily="18" charset="0"/>
                <a:ea typeface="Cambria" panose="02040503050406030204" pitchFamily="18" charset="0"/>
              </a:rPr>
              <a:t>Kinematic Model</a:t>
            </a:r>
          </a:p>
          <a:p>
            <a:pPr marL="1257300" lvl="2" indent="-342900">
              <a:lnSpc>
                <a:spcPct val="150000"/>
              </a:lnSpc>
              <a:spcBef>
                <a:spcPct val="20000"/>
              </a:spcBef>
              <a:buClr>
                <a:srgbClr val="971720"/>
              </a:buClr>
              <a:buSzPct val="70000"/>
              <a:buFont typeface="Wingdings" panose="05000000000000000000" pitchFamily="2" charset="2"/>
              <a:buChar char="v"/>
            </a:pPr>
            <a:r>
              <a:rPr lang="en-GB" sz="2200" noProof="0" dirty="0">
                <a:solidFill>
                  <a:srgbClr val="162230"/>
                </a:solidFill>
                <a:latin typeface="Cambria" panose="02040503050406030204" pitchFamily="18" charset="0"/>
                <a:ea typeface="Cambria" panose="02040503050406030204" pitchFamily="18" charset="0"/>
              </a:rPr>
              <a:t>6-DOF Dynamic Model</a:t>
            </a:r>
          </a:p>
          <a:p>
            <a:pPr marL="342900" lvl="0" indent="-342900">
              <a:lnSpc>
                <a:spcPct val="150000"/>
              </a:lnSpc>
              <a:spcBef>
                <a:spcPct val="20000"/>
              </a:spcBef>
              <a:buClr>
                <a:srgbClr val="FFC000"/>
              </a:buClr>
              <a:buSzPct val="70000"/>
              <a:buFont typeface="Wingdings" panose="05000000000000000000" pitchFamily="2" charset="2"/>
              <a:buChar char="v"/>
            </a:pPr>
            <a:r>
              <a:rPr lang="en-GB" sz="2200" b="1" noProof="0" dirty="0">
                <a:solidFill>
                  <a:srgbClr val="162230"/>
                </a:solidFill>
                <a:latin typeface="Cambria" panose="02040503050406030204" pitchFamily="18" charset="0"/>
                <a:ea typeface="Cambria" panose="02040503050406030204" pitchFamily="18" charset="0"/>
              </a:rPr>
              <a:t>BlueROV2</a:t>
            </a:r>
          </a:p>
          <a:p>
            <a:pPr marL="342900" indent="-342900">
              <a:lnSpc>
                <a:spcPct val="150000"/>
              </a:lnSpc>
              <a:spcBef>
                <a:spcPct val="20000"/>
              </a:spcBef>
              <a:buClr>
                <a:srgbClr val="FFC000"/>
              </a:buClr>
              <a:buSzPct val="70000"/>
              <a:buFont typeface="Wingdings" panose="05000000000000000000" pitchFamily="2" charset="2"/>
              <a:buChar char="v"/>
            </a:pPr>
            <a:r>
              <a:rPr lang="en-GB" sz="2200" b="1" noProof="0" dirty="0">
                <a:solidFill>
                  <a:srgbClr val="162230"/>
                </a:solidFill>
                <a:latin typeface="Cambria" panose="02040503050406030204" pitchFamily="18" charset="0"/>
                <a:ea typeface="Cambria" panose="02040503050406030204" pitchFamily="18" charset="0"/>
              </a:rPr>
              <a:t>Controllers</a:t>
            </a:r>
          </a:p>
          <a:p>
            <a:pPr marL="1257300" lvl="2" indent="-342900">
              <a:lnSpc>
                <a:spcPct val="150000"/>
              </a:lnSpc>
              <a:spcBef>
                <a:spcPct val="20000"/>
              </a:spcBef>
              <a:buClr>
                <a:srgbClr val="971720"/>
              </a:buClr>
              <a:buSzPct val="70000"/>
              <a:buFont typeface="Wingdings" panose="05000000000000000000" pitchFamily="2" charset="2"/>
              <a:buChar char="v"/>
            </a:pPr>
            <a:r>
              <a:rPr lang="en-GB" sz="2200" noProof="0" dirty="0">
                <a:solidFill>
                  <a:srgbClr val="162230"/>
                </a:solidFill>
                <a:latin typeface="Cambria" panose="02040503050406030204" pitchFamily="18" charset="0"/>
                <a:ea typeface="Cambria" panose="02040503050406030204" pitchFamily="18" charset="0"/>
              </a:rPr>
              <a:t>Feedback Linearizing Control</a:t>
            </a:r>
          </a:p>
          <a:p>
            <a:pPr marL="1257300" lvl="2" indent="-342900">
              <a:lnSpc>
                <a:spcPct val="150000"/>
              </a:lnSpc>
              <a:spcBef>
                <a:spcPct val="20000"/>
              </a:spcBef>
              <a:buClr>
                <a:srgbClr val="971720"/>
              </a:buClr>
              <a:buSzPct val="70000"/>
              <a:buFont typeface="Wingdings" panose="05000000000000000000" pitchFamily="2" charset="2"/>
              <a:buChar char="v"/>
            </a:pPr>
            <a:r>
              <a:rPr lang="en-GB" sz="2200" noProof="0" dirty="0">
                <a:solidFill>
                  <a:srgbClr val="162230"/>
                </a:solidFill>
                <a:latin typeface="Cambria" panose="02040503050406030204" pitchFamily="18" charset="0"/>
                <a:ea typeface="Cambria" panose="02040503050406030204" pitchFamily="18" charset="0"/>
              </a:rPr>
              <a:t>Sliding Mode Control</a:t>
            </a:r>
            <a:endParaRPr lang="en-GB" sz="2200" noProof="0" dirty="0">
              <a:solidFill>
                <a:srgbClr val="162230"/>
              </a:solidFill>
              <a:highlight>
                <a:srgbClr val="971720"/>
              </a:highlight>
              <a:latin typeface="Cambria" panose="02040503050406030204" pitchFamily="18" charset="0"/>
              <a:ea typeface="Cambria" panose="02040503050406030204" pitchFamily="18" charset="0"/>
            </a:endParaRPr>
          </a:p>
          <a:p>
            <a:pPr marL="342900" lvl="0" indent="-342900">
              <a:lnSpc>
                <a:spcPct val="150000"/>
              </a:lnSpc>
              <a:spcBef>
                <a:spcPct val="20000"/>
              </a:spcBef>
              <a:buClr>
                <a:srgbClr val="FFC000"/>
              </a:buClr>
              <a:buSzPct val="70000"/>
              <a:buFont typeface="Wingdings" panose="05000000000000000000" pitchFamily="2" charset="2"/>
              <a:buChar char="v"/>
            </a:pPr>
            <a:r>
              <a:rPr lang="en-GB" sz="2200" b="1" noProof="0" dirty="0">
                <a:solidFill>
                  <a:srgbClr val="162230"/>
                </a:solidFill>
                <a:latin typeface="Cambria" panose="02040503050406030204" pitchFamily="18" charset="0"/>
                <a:ea typeface="Cambria" panose="02040503050406030204" pitchFamily="18" charset="0"/>
              </a:rPr>
              <a:t>Results and comparison</a:t>
            </a:r>
          </a:p>
          <a:p>
            <a:pPr lvl="1">
              <a:lnSpc>
                <a:spcPct val="150000"/>
              </a:lnSpc>
              <a:spcBef>
                <a:spcPct val="20000"/>
              </a:spcBef>
              <a:buClr>
                <a:srgbClr val="971720"/>
              </a:buClr>
              <a:buSzPct val="70000"/>
            </a:pPr>
            <a:endParaRPr lang="en-GB" sz="2000" noProof="0" dirty="0">
              <a:solidFill>
                <a:srgbClr val="162230"/>
              </a:solidFill>
              <a:latin typeface="Century Gothic" pitchFamily="34" charset="0"/>
            </a:endParaRPr>
          </a:p>
        </p:txBody>
      </p:sp>
    </p:spTree>
    <p:extLst>
      <p:ext uri="{BB962C8B-B14F-4D97-AF65-F5344CB8AC3E}">
        <p14:creationId xmlns:p14="http://schemas.microsoft.com/office/powerpoint/2010/main" val="337221137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337F3-DC9E-7BF5-9A93-FD13B42ADA8E}"/>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7152C0F7-9238-A0E9-5853-D7FBD21228B1}"/>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en-GB" kern="0" noProof="0" dirty="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D0C33E3B-DF77-C056-5C62-484185767B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FA32C626-E97D-80DB-EBF1-EBF7487A5A7C}"/>
              </a:ext>
            </a:extLst>
          </p:cNvPr>
          <p:cNvSpPr/>
          <p:nvPr/>
        </p:nvSpPr>
        <p:spPr>
          <a:xfrm>
            <a:off x="14286" y="6598816"/>
            <a:ext cx="12177714" cy="307777"/>
          </a:xfrm>
          <a:prstGeom prst="rect">
            <a:avLst/>
          </a:prstGeom>
        </p:spPr>
        <p:txBody>
          <a:bodyPr wrap="square">
            <a:spAutoFit/>
          </a:bodyPr>
          <a:lstStyle/>
          <a:p>
            <a:pPr algn="ct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noProof="0" dirty="0">
                <a:solidFill>
                  <a:srgbClr val="162230"/>
                </a:solidFill>
                <a:latin typeface="Century Gothic"/>
                <a:cs typeface="Century Gothic"/>
              </a:rPr>
              <a:t>INTRODUCTION</a:t>
            </a:r>
          </a:p>
        </p:txBody>
      </p:sp>
      <p:sp>
        <p:nvSpPr>
          <p:cNvPr id="3" name="Rectangle 2">
            <a:extLst>
              <a:ext uri="{FF2B5EF4-FFF2-40B4-BE49-F238E27FC236}">
                <a16:creationId xmlns:a16="http://schemas.microsoft.com/office/drawing/2014/main" id="{5580D233-792F-F92C-7027-3CB4FDD80C28}"/>
              </a:ext>
            </a:extLst>
          </p:cNvPr>
          <p:cNvSpPr/>
          <p:nvPr/>
        </p:nvSpPr>
        <p:spPr>
          <a:xfrm>
            <a:off x="111616" y="122442"/>
            <a:ext cx="11116823" cy="5638403"/>
          </a:xfrm>
          <a:prstGeom prst="rect">
            <a:avLst/>
          </a:prstGeom>
          <a:solidFill>
            <a:schemeClr val="bg1"/>
          </a:solidFill>
        </p:spPr>
        <p:txBody>
          <a:bodyPr wrap="square">
            <a:spAutoFit/>
          </a:bodyPr>
          <a:lstStyle/>
          <a:p>
            <a:pPr marL="457200" indent="-457200">
              <a:spcAft>
                <a:spcPts val="600"/>
              </a:spcAft>
              <a:buClr>
                <a:srgbClr val="971720"/>
              </a:buClr>
              <a:buFont typeface="Wingdings" panose="05000000000000000000" pitchFamily="2" charset="2"/>
              <a:buChar char="v"/>
            </a:pPr>
            <a:r>
              <a:rPr lang="en-GB" sz="2400" b="1" noProof="0" dirty="0">
                <a:solidFill>
                  <a:srgbClr val="971720"/>
                </a:solidFill>
                <a:latin typeface="Cambria" panose="02040503050406030204" pitchFamily="18" charset="0"/>
                <a:ea typeface="Cambria" panose="02040503050406030204" pitchFamily="18" charset="0"/>
                <a:cs typeface="Century Gothic"/>
              </a:rPr>
              <a:t>Introduction</a:t>
            </a:r>
          </a:p>
          <a:p>
            <a:pPr>
              <a:spcAft>
                <a:spcPts val="600"/>
              </a:spcAft>
              <a:buClr>
                <a:srgbClr val="971720"/>
              </a:buClr>
            </a:pPr>
            <a:endParaRPr lang="en-GB" sz="2800" b="1" noProof="0" dirty="0">
              <a:solidFill>
                <a:srgbClr val="971720"/>
              </a:solidFill>
              <a:latin typeface="Cambria" panose="02040503050406030204" pitchFamily="18" charset="0"/>
              <a:ea typeface="Cambria" panose="02040503050406030204" pitchFamily="18" charset="0"/>
              <a:cs typeface="Century Gothic"/>
            </a:endParaRPr>
          </a:p>
          <a:p>
            <a:pPr marL="457200" lvl="0" indent="-457200">
              <a:lnSpc>
                <a:spcPct val="150000"/>
              </a:lnSpc>
              <a:spcBef>
                <a:spcPct val="20000"/>
              </a:spcBef>
              <a:buClr>
                <a:srgbClr val="FFC000"/>
              </a:buClr>
              <a:buSzPct val="70000"/>
              <a:buFont typeface="Wingdings" panose="05000000000000000000" pitchFamily="2" charset="2"/>
              <a:buChar char="v"/>
            </a:pPr>
            <a:r>
              <a:rPr lang="en-GB" noProof="0" dirty="0">
                <a:solidFill>
                  <a:srgbClr val="162230"/>
                </a:solidFill>
                <a:latin typeface="Cambria" panose="02040503050406030204" pitchFamily="18" charset="0"/>
                <a:ea typeface="Cambria" panose="02040503050406030204" pitchFamily="18" charset="0"/>
              </a:rPr>
              <a:t>This project explores the modelling and control of an Underwater Robot, with a focus on BlueROV2 Heavy (Blue Robotics)</a:t>
            </a:r>
          </a:p>
          <a:p>
            <a:pPr marL="457200" lvl="0" indent="-457200">
              <a:lnSpc>
                <a:spcPct val="150000"/>
              </a:lnSpc>
              <a:spcBef>
                <a:spcPct val="20000"/>
              </a:spcBef>
              <a:buClr>
                <a:srgbClr val="FFC000"/>
              </a:buClr>
              <a:buSzPct val="70000"/>
              <a:buFont typeface="Wingdings" panose="05000000000000000000" pitchFamily="2" charset="2"/>
              <a:buChar char="v"/>
            </a:pPr>
            <a:endParaRPr lang="en-GB" noProof="0" dirty="0">
              <a:solidFill>
                <a:srgbClr val="162230"/>
              </a:solidFill>
              <a:latin typeface="Cambria" panose="02040503050406030204" pitchFamily="18" charset="0"/>
              <a:ea typeface="Cambria" panose="02040503050406030204" pitchFamily="18" charset="0"/>
            </a:endParaRPr>
          </a:p>
          <a:p>
            <a:pPr marL="457200" lvl="0" indent="-457200">
              <a:lnSpc>
                <a:spcPct val="150000"/>
              </a:lnSpc>
              <a:spcBef>
                <a:spcPct val="20000"/>
              </a:spcBef>
              <a:buClr>
                <a:srgbClr val="FFC000"/>
              </a:buClr>
              <a:buSzPct val="70000"/>
              <a:buFont typeface="Wingdings" panose="05000000000000000000" pitchFamily="2" charset="2"/>
              <a:buChar char="v"/>
            </a:pPr>
            <a:r>
              <a:rPr lang="en-GB" noProof="0" dirty="0">
                <a:solidFill>
                  <a:srgbClr val="162230"/>
                </a:solidFill>
                <a:latin typeface="Cambria" panose="02040503050406030204" pitchFamily="18" charset="0"/>
                <a:ea typeface="Cambria" panose="02040503050406030204" pitchFamily="18" charset="0"/>
              </a:rPr>
              <a:t>First a 6-DOF dynamic model has been developed</a:t>
            </a:r>
          </a:p>
          <a:p>
            <a:pPr marL="457200" lvl="0" indent="-457200">
              <a:lnSpc>
                <a:spcPct val="150000"/>
              </a:lnSpc>
              <a:spcBef>
                <a:spcPct val="20000"/>
              </a:spcBef>
              <a:buClr>
                <a:srgbClr val="FFC000"/>
              </a:buClr>
              <a:buSzPct val="70000"/>
              <a:buFont typeface="Wingdings" panose="05000000000000000000" pitchFamily="2" charset="2"/>
              <a:buChar char="v"/>
            </a:pPr>
            <a:endParaRPr lang="en-GB" noProof="0" dirty="0">
              <a:solidFill>
                <a:srgbClr val="162230"/>
              </a:solidFill>
              <a:latin typeface="Cambria" panose="02040503050406030204" pitchFamily="18" charset="0"/>
              <a:ea typeface="Cambria" panose="02040503050406030204" pitchFamily="18" charset="0"/>
            </a:endParaRPr>
          </a:p>
          <a:p>
            <a:pPr marL="457200" lvl="0" indent="-457200">
              <a:lnSpc>
                <a:spcPct val="150000"/>
              </a:lnSpc>
              <a:spcBef>
                <a:spcPct val="20000"/>
              </a:spcBef>
              <a:buClr>
                <a:srgbClr val="FFC000"/>
              </a:buClr>
              <a:buSzPct val="70000"/>
              <a:buFont typeface="Wingdings" panose="05000000000000000000" pitchFamily="2" charset="2"/>
              <a:buChar char="v"/>
            </a:pPr>
            <a:r>
              <a:rPr lang="en-GB" noProof="0" dirty="0">
                <a:solidFill>
                  <a:srgbClr val="162230"/>
                </a:solidFill>
                <a:latin typeface="Cambria" panose="02040503050406030204" pitchFamily="18" charset="0"/>
                <a:ea typeface="Cambria" panose="02040503050406030204" pitchFamily="18" charset="0"/>
              </a:rPr>
              <a:t>Control of such vehicles is a rather complex and challenging task, due the highly non-linear terms of the model</a:t>
            </a:r>
          </a:p>
          <a:p>
            <a:pPr marL="457200" lvl="0" indent="-457200">
              <a:lnSpc>
                <a:spcPct val="150000"/>
              </a:lnSpc>
              <a:spcBef>
                <a:spcPct val="20000"/>
              </a:spcBef>
              <a:buClr>
                <a:srgbClr val="FFC000"/>
              </a:buClr>
              <a:buSzPct val="70000"/>
              <a:buFont typeface="Wingdings" panose="05000000000000000000" pitchFamily="2" charset="2"/>
              <a:buChar char="v"/>
            </a:pPr>
            <a:endParaRPr lang="en-GB" noProof="0" dirty="0">
              <a:solidFill>
                <a:srgbClr val="162230"/>
              </a:solidFill>
              <a:latin typeface="Cambria" panose="02040503050406030204" pitchFamily="18" charset="0"/>
              <a:ea typeface="Cambria" panose="02040503050406030204" pitchFamily="18" charset="0"/>
            </a:endParaRPr>
          </a:p>
          <a:p>
            <a:pPr marL="457200" lvl="0" indent="-457200">
              <a:lnSpc>
                <a:spcPct val="150000"/>
              </a:lnSpc>
              <a:spcBef>
                <a:spcPct val="20000"/>
              </a:spcBef>
              <a:buClr>
                <a:srgbClr val="FFC000"/>
              </a:buClr>
              <a:buSzPct val="70000"/>
              <a:buFont typeface="Wingdings" panose="05000000000000000000" pitchFamily="2" charset="2"/>
              <a:buChar char="v"/>
            </a:pPr>
            <a:r>
              <a:rPr lang="en-GB" noProof="0" dirty="0">
                <a:solidFill>
                  <a:srgbClr val="162230"/>
                </a:solidFill>
                <a:latin typeface="Cambria" panose="02040503050406030204" pitchFamily="18" charset="0"/>
                <a:ea typeface="Cambria" panose="02040503050406030204" pitchFamily="18" charset="0"/>
              </a:rPr>
              <a:t>Two non-linear control strategies have been tested to make the robot follow a desired trajectory</a:t>
            </a:r>
          </a:p>
          <a:p>
            <a:pPr lvl="1">
              <a:lnSpc>
                <a:spcPct val="150000"/>
              </a:lnSpc>
              <a:spcBef>
                <a:spcPct val="20000"/>
              </a:spcBef>
              <a:buClr>
                <a:srgbClr val="971720"/>
              </a:buClr>
              <a:buSzPct val="70000"/>
            </a:pPr>
            <a:endParaRPr lang="en-GB" sz="2000" noProof="0" dirty="0">
              <a:solidFill>
                <a:srgbClr val="162230"/>
              </a:solidFill>
              <a:latin typeface="Century Gothic" pitchFamily="34" charset="0"/>
            </a:endParaRPr>
          </a:p>
        </p:txBody>
      </p:sp>
    </p:spTree>
    <p:extLst>
      <p:ext uri="{BB962C8B-B14F-4D97-AF65-F5344CB8AC3E}">
        <p14:creationId xmlns:p14="http://schemas.microsoft.com/office/powerpoint/2010/main" val="843233671"/>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BC223-A138-E7B9-7F86-402039697D10}"/>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FFBFBCDD-4FD4-EAB5-1960-C9466D726186}"/>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en-GB" kern="0" noProof="0" dirty="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4E90A4E3-5F7D-8AD7-5FC4-544F481A76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20334E42-2952-82A8-A9DF-41A3975DDBC6}"/>
              </a:ext>
            </a:extLst>
          </p:cNvPr>
          <p:cNvSpPr/>
          <p:nvPr/>
        </p:nvSpPr>
        <p:spPr>
          <a:xfrm>
            <a:off x="14286" y="6598816"/>
            <a:ext cx="12177714" cy="307777"/>
          </a:xfrm>
          <a:prstGeom prst="rect">
            <a:avLst/>
          </a:prstGeom>
        </p:spPr>
        <p:txBody>
          <a:bodyPr wrap="square">
            <a:spAutoFit/>
          </a:bodyPr>
          <a:lstStyle/>
          <a:p>
            <a:pPr algn="ct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noProof="0" dirty="0">
                <a:solidFill>
                  <a:srgbClr val="162230"/>
                </a:solidFill>
                <a:latin typeface="Century Gothic"/>
                <a:cs typeface="Century Gothic"/>
              </a:rPr>
              <a:t>MODELLING (1)</a:t>
            </a:r>
          </a:p>
        </p:txBody>
      </p:sp>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DEB5BAFE-5084-C246-182E-19C4AC8B1C0F}"/>
                  </a:ext>
                </a:extLst>
              </p:cNvPr>
              <p:cNvSpPr/>
              <p:nvPr/>
            </p:nvSpPr>
            <p:spPr>
              <a:xfrm>
                <a:off x="62951" y="122442"/>
                <a:ext cx="12080384" cy="5769913"/>
              </a:xfrm>
              <a:prstGeom prst="rect">
                <a:avLst/>
              </a:prstGeom>
              <a:solidFill>
                <a:schemeClr val="bg1"/>
              </a:solidFill>
            </p:spPr>
            <p:txBody>
              <a:bodyPr wrap="square">
                <a:spAutoFit/>
              </a:bodyPr>
              <a:lstStyle/>
              <a:p>
                <a:pPr marL="457200" indent="-457200">
                  <a:spcAft>
                    <a:spcPts val="600"/>
                  </a:spcAft>
                  <a:buClr>
                    <a:srgbClr val="971720"/>
                  </a:buClr>
                  <a:buFont typeface="Wingdings" panose="05000000000000000000" pitchFamily="2" charset="2"/>
                  <a:buChar char="v"/>
                </a:pPr>
                <a:r>
                  <a:rPr lang="en-GB" sz="2400" b="1" noProof="0" dirty="0">
                    <a:solidFill>
                      <a:srgbClr val="971720"/>
                    </a:solidFill>
                    <a:latin typeface="Cambria" panose="02040503050406030204" pitchFamily="18" charset="0"/>
                    <a:ea typeface="Cambria" panose="02040503050406030204" pitchFamily="18" charset="0"/>
                    <a:cs typeface="Century Gothic"/>
                  </a:rPr>
                  <a:t>Modelling</a:t>
                </a:r>
              </a:p>
              <a:p>
                <a:pPr marL="914400" lvl="1" indent="-457200">
                  <a:lnSpc>
                    <a:spcPct val="150000"/>
                  </a:lnSpc>
                  <a:spcBef>
                    <a:spcPct val="20000"/>
                  </a:spcBef>
                  <a:buClr>
                    <a:srgbClr val="FFC000"/>
                  </a:buClr>
                  <a:buSzPct val="70000"/>
                  <a:buFont typeface="Wingdings" panose="05000000000000000000" pitchFamily="2" charset="2"/>
                  <a:buChar char="v"/>
                </a:pPr>
                <a:r>
                  <a:rPr lang="en-GB" sz="2000" b="1" noProof="0" dirty="0">
                    <a:solidFill>
                      <a:srgbClr val="162230"/>
                    </a:solidFill>
                    <a:latin typeface="Cambria" panose="02040503050406030204" pitchFamily="18" charset="0"/>
                    <a:ea typeface="Cambria" panose="02040503050406030204" pitchFamily="18" charset="0"/>
                  </a:rPr>
                  <a:t>Reference Frames</a:t>
                </a:r>
              </a:p>
              <a:p>
                <a:pPr marL="1371600" lvl="2" indent="-457200">
                  <a:lnSpc>
                    <a:spcPct val="150000"/>
                  </a:lnSpc>
                  <a:spcBef>
                    <a:spcPct val="20000"/>
                  </a:spcBef>
                  <a:buClr>
                    <a:srgbClr val="FFC000"/>
                  </a:buClr>
                  <a:buSzPct val="70000"/>
                  <a:buFont typeface="Wingdings" panose="05000000000000000000" pitchFamily="2" charset="2"/>
                  <a:buChar char="v"/>
                </a:pPr>
                <a:r>
                  <a:rPr lang="en-GB" noProof="0" dirty="0">
                    <a:solidFill>
                      <a:srgbClr val="162230"/>
                    </a:solidFill>
                    <a:latin typeface="Cambria" panose="02040503050406030204" pitchFamily="18" charset="0"/>
                    <a:ea typeface="Cambria" panose="02040503050406030204" pitchFamily="18" charset="0"/>
                  </a:rPr>
                  <a:t>NED frame</a:t>
                </a:r>
              </a:p>
              <a:p>
                <a:pPr marL="1371600" lvl="2" indent="-457200">
                  <a:lnSpc>
                    <a:spcPct val="150000"/>
                  </a:lnSpc>
                  <a:spcBef>
                    <a:spcPct val="20000"/>
                  </a:spcBef>
                  <a:buClr>
                    <a:srgbClr val="FFC000"/>
                  </a:buClr>
                  <a:buSzPct val="70000"/>
                  <a:buFont typeface="Wingdings" panose="05000000000000000000" pitchFamily="2" charset="2"/>
                  <a:buChar char="v"/>
                </a:pPr>
                <a:r>
                  <a:rPr lang="en-GB" noProof="0" dirty="0">
                    <a:solidFill>
                      <a:srgbClr val="162230"/>
                    </a:solidFill>
                    <a:latin typeface="Cambria" panose="02040503050406030204" pitchFamily="18" charset="0"/>
                    <a:ea typeface="Cambria" panose="02040503050406030204" pitchFamily="18" charset="0"/>
                  </a:rPr>
                  <a:t>Body frame</a:t>
                </a:r>
              </a:p>
              <a:p>
                <a:pPr marL="914400" lvl="1" indent="-457200">
                  <a:lnSpc>
                    <a:spcPct val="150000"/>
                  </a:lnSpc>
                  <a:spcBef>
                    <a:spcPct val="20000"/>
                  </a:spcBef>
                  <a:buClr>
                    <a:srgbClr val="FFC000"/>
                  </a:buClr>
                  <a:buSzPct val="70000"/>
                  <a:buFont typeface="Wingdings" panose="05000000000000000000" pitchFamily="2" charset="2"/>
                  <a:buChar char="v"/>
                </a:pPr>
                <a:r>
                  <a:rPr lang="en-GB" sz="2000" b="1" noProof="0" dirty="0">
                    <a:solidFill>
                      <a:srgbClr val="162230"/>
                    </a:solidFill>
                    <a:latin typeface="Cambria" panose="02040503050406030204" pitchFamily="18" charset="0"/>
                    <a:ea typeface="Cambria" panose="02040503050406030204" pitchFamily="18" charset="0"/>
                  </a:rPr>
                  <a:t>Nomenclature</a:t>
                </a:r>
              </a:p>
              <a:p>
                <a:pPr marL="1200150" lvl="2" indent="-285750">
                  <a:lnSpc>
                    <a:spcPct val="150000"/>
                  </a:lnSpc>
                  <a:spcBef>
                    <a:spcPct val="20000"/>
                  </a:spcBef>
                  <a:buClr>
                    <a:srgbClr val="FFC000"/>
                  </a:buClr>
                  <a:buSzPct val="70000"/>
                  <a:buFont typeface="Wingdings" panose="05000000000000000000" pitchFamily="2" charset="2"/>
                  <a:buChar char="v"/>
                </a:pPr>
                <a:r>
                  <a:rPr lang="en-GB" noProof="0" dirty="0">
                    <a:solidFill>
                      <a:srgbClr val="162230"/>
                    </a:solidFill>
                    <a:latin typeface="Cambria" panose="02040503050406030204" pitchFamily="18" charset="0"/>
                    <a:ea typeface="Cambria" panose="02040503050406030204" pitchFamily="18" charset="0"/>
                  </a:rPr>
                  <a:t>	Pose vector in the NED frame</a:t>
                </a:r>
              </a:p>
              <a:p>
                <a:pPr lvl="2">
                  <a:lnSpc>
                    <a:spcPct val="150000"/>
                  </a:lnSpc>
                  <a:spcBef>
                    <a:spcPct val="20000"/>
                  </a:spcBef>
                  <a:buClr>
                    <a:srgbClr val="FFC000"/>
                  </a:buClr>
                  <a:buSzPct val="70000"/>
                </a:pPr>
                <a:r>
                  <a:rPr lang="en-GB" noProof="0" dirty="0">
                    <a:solidFill>
                      <a:srgbClr val="162230"/>
                    </a:solidFill>
                    <a:latin typeface="Cambria" panose="02040503050406030204" pitchFamily="18" charset="0"/>
                    <a:ea typeface="Cambria" panose="02040503050406030204" pitchFamily="18" charset="0"/>
                  </a:rPr>
                  <a:t>	</a:t>
                </a:r>
                <a14:m>
                  <m:oMath xmlns:m="http://schemas.openxmlformats.org/officeDocument/2006/math">
                    <m:r>
                      <a:rPr lang="en-GB" i="1" noProof="0" smtClean="0">
                        <a:solidFill>
                          <a:srgbClr val="162230"/>
                        </a:solidFill>
                        <a:latin typeface="Cambria Math" panose="02040503050406030204" pitchFamily="18" charset="0"/>
                        <a:ea typeface="Cambria Math" panose="02040503050406030204" pitchFamily="18" charset="0"/>
                      </a:rPr>
                      <m:t>𝜂</m:t>
                    </m:r>
                    <m:r>
                      <a:rPr lang="en-GB" b="0" i="1" noProof="0" smtClean="0">
                        <a:solidFill>
                          <a:srgbClr val="162230"/>
                        </a:solidFill>
                        <a:latin typeface="Cambria Math" panose="02040503050406030204" pitchFamily="18" charset="0"/>
                        <a:ea typeface="Cambria Math" panose="02040503050406030204" pitchFamily="18" charset="0"/>
                      </a:rPr>
                      <m:t>=</m:t>
                    </m:r>
                    <m:sSup>
                      <m:sSupPr>
                        <m:ctrlPr>
                          <a:rPr lang="en-GB" b="0" i="1" noProof="0" smtClean="0">
                            <a:solidFill>
                              <a:srgbClr val="162230"/>
                            </a:solidFill>
                            <a:latin typeface="Cambria Math" panose="02040503050406030204" pitchFamily="18" charset="0"/>
                            <a:ea typeface="Cambria Math" panose="02040503050406030204" pitchFamily="18" charset="0"/>
                          </a:rPr>
                        </m:ctrlPr>
                      </m:sSupPr>
                      <m:e>
                        <m:d>
                          <m:dPr>
                            <m:begChr m:val="["/>
                            <m:endChr m:val="]"/>
                            <m:ctrlPr>
                              <a:rPr lang="en-GB" i="1" noProof="0" smtClean="0">
                                <a:solidFill>
                                  <a:srgbClr val="162230"/>
                                </a:solidFill>
                                <a:latin typeface="Cambria Math" panose="02040503050406030204" pitchFamily="18" charset="0"/>
                                <a:ea typeface="Cambria Math" panose="02040503050406030204" pitchFamily="18" charset="0"/>
                              </a:rPr>
                            </m:ctrlPr>
                          </m:dPr>
                          <m:e>
                            <m:r>
                              <a:rPr lang="en-GB" i="1" noProof="0" smtClean="0">
                                <a:solidFill>
                                  <a:srgbClr val="162230"/>
                                </a:solidFill>
                                <a:latin typeface="Cambria Math" panose="02040503050406030204" pitchFamily="18" charset="0"/>
                                <a:ea typeface="Cambria Math" panose="02040503050406030204" pitchFamily="18" charset="0"/>
                              </a:rPr>
                              <m:t>𝑥</m:t>
                            </m:r>
                            <m:r>
                              <a:rPr lang="en-GB" i="1" noProof="0" smtClean="0">
                                <a:solidFill>
                                  <a:srgbClr val="162230"/>
                                </a:solidFill>
                                <a:latin typeface="Cambria Math" panose="02040503050406030204" pitchFamily="18" charset="0"/>
                                <a:ea typeface="Cambria Math" panose="02040503050406030204" pitchFamily="18" charset="0"/>
                              </a:rPr>
                              <m:t>   </m:t>
                            </m:r>
                            <m:r>
                              <a:rPr lang="en-GB" i="1" noProof="0" smtClean="0">
                                <a:solidFill>
                                  <a:srgbClr val="162230"/>
                                </a:solidFill>
                                <a:latin typeface="Cambria Math" panose="02040503050406030204" pitchFamily="18" charset="0"/>
                                <a:ea typeface="Cambria Math" panose="02040503050406030204" pitchFamily="18" charset="0"/>
                              </a:rPr>
                              <m:t>𝑦</m:t>
                            </m:r>
                            <m:r>
                              <a:rPr lang="en-GB" i="1" noProof="0" smtClean="0">
                                <a:solidFill>
                                  <a:srgbClr val="162230"/>
                                </a:solidFill>
                                <a:latin typeface="Cambria Math" panose="02040503050406030204" pitchFamily="18" charset="0"/>
                                <a:ea typeface="Cambria Math" panose="02040503050406030204" pitchFamily="18" charset="0"/>
                              </a:rPr>
                              <m:t>   </m:t>
                            </m:r>
                            <m:r>
                              <a:rPr lang="en-GB" i="1" noProof="0" smtClean="0">
                                <a:solidFill>
                                  <a:srgbClr val="162230"/>
                                </a:solidFill>
                                <a:latin typeface="Cambria Math" panose="02040503050406030204" pitchFamily="18" charset="0"/>
                                <a:ea typeface="Cambria Math" panose="02040503050406030204" pitchFamily="18" charset="0"/>
                              </a:rPr>
                              <m:t>𝑧</m:t>
                            </m:r>
                            <m:r>
                              <a:rPr lang="en-GB" i="1" noProof="0" smtClean="0">
                                <a:solidFill>
                                  <a:srgbClr val="162230"/>
                                </a:solidFill>
                                <a:latin typeface="Cambria Math" panose="02040503050406030204" pitchFamily="18" charset="0"/>
                                <a:ea typeface="Cambria Math" panose="02040503050406030204" pitchFamily="18" charset="0"/>
                              </a:rPr>
                              <m:t>   </m:t>
                            </m:r>
                            <m:r>
                              <a:rPr lang="en-GB" i="1" noProof="0" smtClean="0">
                                <a:solidFill>
                                  <a:srgbClr val="162230"/>
                                </a:solidFill>
                                <a:latin typeface="Cambria Math" panose="02040503050406030204" pitchFamily="18" charset="0"/>
                                <a:ea typeface="Cambria Math" panose="02040503050406030204" pitchFamily="18" charset="0"/>
                              </a:rPr>
                              <m:t>𝜙</m:t>
                            </m:r>
                            <m:r>
                              <a:rPr lang="en-GB" i="1" noProof="0" smtClean="0">
                                <a:solidFill>
                                  <a:srgbClr val="162230"/>
                                </a:solidFill>
                                <a:latin typeface="Cambria Math" panose="02040503050406030204" pitchFamily="18" charset="0"/>
                                <a:ea typeface="Cambria Math" panose="02040503050406030204" pitchFamily="18" charset="0"/>
                              </a:rPr>
                              <m:t>   </m:t>
                            </m:r>
                            <m:r>
                              <a:rPr lang="en-GB" i="1" noProof="0" smtClean="0">
                                <a:solidFill>
                                  <a:srgbClr val="162230"/>
                                </a:solidFill>
                                <a:latin typeface="Cambria Math" panose="02040503050406030204" pitchFamily="18" charset="0"/>
                                <a:ea typeface="Cambria Math" panose="02040503050406030204" pitchFamily="18" charset="0"/>
                              </a:rPr>
                              <m:t>𝜃</m:t>
                            </m:r>
                            <m:r>
                              <a:rPr lang="en-GB" i="1" noProof="0" smtClean="0">
                                <a:solidFill>
                                  <a:srgbClr val="162230"/>
                                </a:solidFill>
                                <a:latin typeface="Cambria Math" panose="02040503050406030204" pitchFamily="18" charset="0"/>
                                <a:ea typeface="Cambria Math" panose="02040503050406030204" pitchFamily="18" charset="0"/>
                              </a:rPr>
                              <m:t>   </m:t>
                            </m:r>
                            <m:r>
                              <a:rPr lang="en-GB" i="1" noProof="0" smtClean="0">
                                <a:solidFill>
                                  <a:srgbClr val="162230"/>
                                </a:solidFill>
                                <a:latin typeface="Cambria Math" panose="02040503050406030204" pitchFamily="18" charset="0"/>
                                <a:ea typeface="Cambria Math" panose="02040503050406030204" pitchFamily="18" charset="0"/>
                              </a:rPr>
                              <m:t>𝜓</m:t>
                            </m:r>
                            <m:r>
                              <a:rPr lang="en-GB" i="1" noProof="0" smtClean="0">
                                <a:solidFill>
                                  <a:srgbClr val="162230"/>
                                </a:solidFill>
                                <a:latin typeface="Cambria Math" panose="02040503050406030204" pitchFamily="18" charset="0"/>
                                <a:ea typeface="Cambria Math" panose="02040503050406030204" pitchFamily="18" charset="0"/>
                              </a:rPr>
                              <m:t> </m:t>
                            </m:r>
                          </m:e>
                        </m:d>
                      </m:e>
                      <m:sup>
                        <m:r>
                          <a:rPr lang="en-GB" b="0" i="1" noProof="0" smtClean="0">
                            <a:solidFill>
                              <a:srgbClr val="162230"/>
                            </a:solidFill>
                            <a:latin typeface="Cambria Math" panose="02040503050406030204" pitchFamily="18" charset="0"/>
                            <a:ea typeface="Cambria Math" panose="02040503050406030204" pitchFamily="18" charset="0"/>
                          </a:rPr>
                          <m:t>𝑇</m:t>
                        </m:r>
                      </m:sup>
                    </m:sSup>
                  </m:oMath>
                </a14:m>
                <a:endParaRPr lang="en-GB" noProof="0" dirty="0">
                  <a:solidFill>
                    <a:srgbClr val="162230"/>
                  </a:solidFill>
                  <a:latin typeface="Cambria" panose="02040503050406030204" pitchFamily="18" charset="0"/>
                  <a:ea typeface="Cambria" panose="02040503050406030204" pitchFamily="18" charset="0"/>
                </a:endParaRPr>
              </a:p>
              <a:p>
                <a:pPr marL="1200150" lvl="2" indent="-285750">
                  <a:lnSpc>
                    <a:spcPct val="150000"/>
                  </a:lnSpc>
                  <a:spcBef>
                    <a:spcPct val="20000"/>
                  </a:spcBef>
                  <a:buClr>
                    <a:srgbClr val="FFC000"/>
                  </a:buClr>
                  <a:buSzPct val="70000"/>
                  <a:buFont typeface="Wingdings" panose="05000000000000000000" pitchFamily="2" charset="2"/>
                  <a:buChar char="v"/>
                </a:pPr>
                <a:r>
                  <a:rPr lang="en-GB" noProof="0" dirty="0">
                    <a:solidFill>
                      <a:srgbClr val="162230"/>
                    </a:solidFill>
                    <a:latin typeface="Cambria" panose="02040503050406030204" pitchFamily="18" charset="0"/>
                    <a:ea typeface="Cambria" panose="02040503050406030204" pitchFamily="18" charset="0"/>
                  </a:rPr>
                  <a:t>   Twist vector in the body-fixed frame</a:t>
                </a:r>
              </a:p>
              <a:p>
                <a:pPr lvl="2">
                  <a:lnSpc>
                    <a:spcPct val="150000"/>
                  </a:lnSpc>
                  <a:spcBef>
                    <a:spcPct val="20000"/>
                  </a:spcBef>
                  <a:buClr>
                    <a:srgbClr val="FFC000"/>
                  </a:buClr>
                  <a:buSzPct val="70000"/>
                </a:pPr>
                <a:r>
                  <a:rPr lang="en-GB" noProof="0" dirty="0">
                    <a:solidFill>
                      <a:srgbClr val="162230"/>
                    </a:solidFill>
                    <a:latin typeface="Cambria" panose="02040503050406030204" pitchFamily="18" charset="0"/>
                    <a:ea typeface="Cambria" panose="02040503050406030204" pitchFamily="18" charset="0"/>
                  </a:rPr>
                  <a:t>	</a:t>
                </a:r>
                <a14:m>
                  <m:oMath xmlns:m="http://schemas.openxmlformats.org/officeDocument/2006/math">
                    <m:r>
                      <a:rPr lang="en-GB" b="0" i="1" noProof="0" smtClean="0">
                        <a:solidFill>
                          <a:srgbClr val="162230"/>
                        </a:solidFill>
                        <a:latin typeface="Cambria Math" panose="02040503050406030204" pitchFamily="18" charset="0"/>
                        <a:ea typeface="Cambria" panose="02040503050406030204" pitchFamily="18" charset="0"/>
                      </a:rPr>
                      <m:t>𝜈</m:t>
                    </m:r>
                    <m:r>
                      <a:rPr lang="en-GB" b="0" i="1" noProof="0" smtClean="0">
                        <a:solidFill>
                          <a:srgbClr val="162230"/>
                        </a:solidFill>
                        <a:latin typeface="Cambria Math" panose="02040503050406030204" pitchFamily="18" charset="0"/>
                        <a:ea typeface="Cambria" panose="02040503050406030204" pitchFamily="18" charset="0"/>
                      </a:rPr>
                      <m:t>=</m:t>
                    </m:r>
                    <m:sSup>
                      <m:sSupPr>
                        <m:ctrlPr>
                          <a:rPr lang="en-GB" b="0" i="1" noProof="0" smtClean="0">
                            <a:solidFill>
                              <a:srgbClr val="162230"/>
                            </a:solidFill>
                            <a:latin typeface="Cambria Math" panose="02040503050406030204" pitchFamily="18" charset="0"/>
                            <a:ea typeface="Cambria" panose="02040503050406030204" pitchFamily="18" charset="0"/>
                          </a:rPr>
                        </m:ctrlPr>
                      </m:sSupPr>
                      <m:e>
                        <m:d>
                          <m:dPr>
                            <m:begChr m:val="["/>
                            <m:endChr m:val="]"/>
                            <m:ctrlPr>
                              <a:rPr lang="en-GB" b="0" i="1" noProof="0" smtClean="0">
                                <a:solidFill>
                                  <a:srgbClr val="162230"/>
                                </a:solidFill>
                                <a:latin typeface="Cambria Math" panose="02040503050406030204" pitchFamily="18" charset="0"/>
                                <a:ea typeface="Cambria" panose="02040503050406030204" pitchFamily="18" charset="0"/>
                              </a:rPr>
                            </m:ctrlPr>
                          </m:dPr>
                          <m:e>
                            <m:r>
                              <a:rPr lang="en-GB" b="0" i="1" noProof="0" smtClean="0">
                                <a:solidFill>
                                  <a:srgbClr val="162230"/>
                                </a:solidFill>
                                <a:latin typeface="Cambria Math" panose="02040503050406030204" pitchFamily="18" charset="0"/>
                                <a:ea typeface="Cambria" panose="02040503050406030204" pitchFamily="18" charset="0"/>
                              </a:rPr>
                              <m:t>𝑢</m:t>
                            </m:r>
                            <m:r>
                              <a:rPr lang="en-GB" b="0" i="1" noProof="0" smtClean="0">
                                <a:solidFill>
                                  <a:srgbClr val="162230"/>
                                </a:solidFill>
                                <a:latin typeface="Cambria Math" panose="02040503050406030204" pitchFamily="18" charset="0"/>
                                <a:ea typeface="Cambria" panose="02040503050406030204" pitchFamily="18" charset="0"/>
                              </a:rPr>
                              <m:t>  </m:t>
                            </m:r>
                            <m:r>
                              <a:rPr lang="en-GB" b="0" i="1" noProof="0" smtClean="0">
                                <a:solidFill>
                                  <a:srgbClr val="162230"/>
                                </a:solidFill>
                                <a:latin typeface="Cambria Math" panose="02040503050406030204" pitchFamily="18" charset="0"/>
                                <a:ea typeface="Cambria" panose="02040503050406030204" pitchFamily="18" charset="0"/>
                              </a:rPr>
                              <m:t>𝑣</m:t>
                            </m:r>
                            <m:r>
                              <a:rPr lang="en-GB" b="0" i="1" noProof="0" smtClean="0">
                                <a:solidFill>
                                  <a:srgbClr val="162230"/>
                                </a:solidFill>
                                <a:latin typeface="Cambria Math" panose="02040503050406030204" pitchFamily="18" charset="0"/>
                                <a:ea typeface="Cambria" panose="02040503050406030204" pitchFamily="18" charset="0"/>
                              </a:rPr>
                              <m:t>  </m:t>
                            </m:r>
                            <m:r>
                              <a:rPr lang="en-GB" b="0" i="1" noProof="0" smtClean="0">
                                <a:solidFill>
                                  <a:srgbClr val="162230"/>
                                </a:solidFill>
                                <a:latin typeface="Cambria Math" panose="02040503050406030204" pitchFamily="18" charset="0"/>
                                <a:ea typeface="Cambria" panose="02040503050406030204" pitchFamily="18" charset="0"/>
                              </a:rPr>
                              <m:t>𝑤</m:t>
                            </m:r>
                            <m:r>
                              <a:rPr lang="en-GB" b="0" i="1" noProof="0" smtClean="0">
                                <a:solidFill>
                                  <a:srgbClr val="162230"/>
                                </a:solidFill>
                                <a:latin typeface="Cambria Math" panose="02040503050406030204" pitchFamily="18" charset="0"/>
                                <a:ea typeface="Cambria" panose="02040503050406030204" pitchFamily="18" charset="0"/>
                              </a:rPr>
                              <m:t>  </m:t>
                            </m:r>
                            <m:r>
                              <a:rPr lang="en-GB" b="0" i="1" noProof="0" smtClean="0">
                                <a:solidFill>
                                  <a:srgbClr val="162230"/>
                                </a:solidFill>
                                <a:latin typeface="Cambria Math" panose="02040503050406030204" pitchFamily="18" charset="0"/>
                                <a:ea typeface="Cambria" panose="02040503050406030204" pitchFamily="18" charset="0"/>
                              </a:rPr>
                              <m:t>𝑝</m:t>
                            </m:r>
                            <m:r>
                              <a:rPr lang="en-GB" b="0" i="1" noProof="0" smtClean="0">
                                <a:solidFill>
                                  <a:srgbClr val="162230"/>
                                </a:solidFill>
                                <a:latin typeface="Cambria Math" panose="02040503050406030204" pitchFamily="18" charset="0"/>
                                <a:ea typeface="Cambria" panose="02040503050406030204" pitchFamily="18" charset="0"/>
                              </a:rPr>
                              <m:t>  </m:t>
                            </m:r>
                            <m:r>
                              <a:rPr lang="en-GB" b="0" i="1" noProof="0" smtClean="0">
                                <a:solidFill>
                                  <a:srgbClr val="162230"/>
                                </a:solidFill>
                                <a:latin typeface="Cambria Math" panose="02040503050406030204" pitchFamily="18" charset="0"/>
                                <a:ea typeface="Cambria" panose="02040503050406030204" pitchFamily="18" charset="0"/>
                              </a:rPr>
                              <m:t>𝑞</m:t>
                            </m:r>
                            <m:r>
                              <a:rPr lang="en-GB" b="0" i="1" noProof="0" smtClean="0">
                                <a:solidFill>
                                  <a:srgbClr val="162230"/>
                                </a:solidFill>
                                <a:latin typeface="Cambria Math" panose="02040503050406030204" pitchFamily="18" charset="0"/>
                                <a:ea typeface="Cambria" panose="02040503050406030204" pitchFamily="18" charset="0"/>
                              </a:rPr>
                              <m:t>  </m:t>
                            </m:r>
                            <m:r>
                              <a:rPr lang="en-GB" b="0" i="1" noProof="0" smtClean="0">
                                <a:solidFill>
                                  <a:srgbClr val="162230"/>
                                </a:solidFill>
                                <a:latin typeface="Cambria Math" panose="02040503050406030204" pitchFamily="18" charset="0"/>
                                <a:ea typeface="Cambria" panose="02040503050406030204" pitchFamily="18" charset="0"/>
                              </a:rPr>
                              <m:t>𝑟</m:t>
                            </m:r>
                          </m:e>
                        </m:d>
                      </m:e>
                      <m:sup>
                        <m:r>
                          <m:rPr>
                            <m:sty m:val="p"/>
                          </m:rPr>
                          <a:rPr lang="en-GB" b="0" i="0" noProof="0" smtClean="0">
                            <a:solidFill>
                              <a:srgbClr val="162230"/>
                            </a:solidFill>
                            <a:latin typeface="Cambria Math" panose="02040503050406030204" pitchFamily="18" charset="0"/>
                            <a:ea typeface="Cambria" panose="02040503050406030204" pitchFamily="18" charset="0"/>
                          </a:rPr>
                          <m:t>T</m:t>
                        </m:r>
                      </m:sup>
                    </m:sSup>
                  </m:oMath>
                </a14:m>
                <a:endParaRPr lang="en-GB" b="0" noProof="0" dirty="0">
                  <a:solidFill>
                    <a:srgbClr val="162230"/>
                  </a:solidFill>
                  <a:latin typeface="Cambria" panose="02040503050406030204" pitchFamily="18" charset="0"/>
                  <a:ea typeface="Cambria" panose="02040503050406030204" pitchFamily="18" charset="0"/>
                </a:endParaRPr>
              </a:p>
              <a:p>
                <a:pPr marL="1200150" lvl="2" indent="-285750">
                  <a:lnSpc>
                    <a:spcPct val="150000"/>
                  </a:lnSpc>
                  <a:spcBef>
                    <a:spcPct val="20000"/>
                  </a:spcBef>
                  <a:buClr>
                    <a:srgbClr val="FFC000"/>
                  </a:buClr>
                  <a:buSzPct val="70000"/>
                  <a:buFont typeface="Wingdings" panose="05000000000000000000" pitchFamily="2" charset="2"/>
                  <a:buChar char="v"/>
                </a:pPr>
                <a:r>
                  <a:rPr lang="en-GB" noProof="0" dirty="0">
                    <a:solidFill>
                      <a:srgbClr val="162230"/>
                    </a:solidFill>
                    <a:latin typeface="Cambria" panose="02040503050406030204" pitchFamily="18" charset="0"/>
                    <a:ea typeface="Cambria" panose="02040503050406030204" pitchFamily="18" charset="0"/>
                  </a:rPr>
                  <a:t>   Force and moments acting on the vehicle in the body fixed frame</a:t>
                </a:r>
              </a:p>
              <a:p>
                <a:pPr lvl="3">
                  <a:lnSpc>
                    <a:spcPct val="150000"/>
                  </a:lnSpc>
                  <a:spcBef>
                    <a:spcPct val="20000"/>
                  </a:spcBef>
                  <a:buClr>
                    <a:srgbClr val="FFC000"/>
                  </a:buClr>
                  <a:buSzPct val="70000"/>
                </a:pPr>
                <a14:m>
                  <m:oMathPara xmlns:m="http://schemas.openxmlformats.org/officeDocument/2006/math">
                    <m:oMathParaPr>
                      <m:jc m:val="left"/>
                    </m:oMathParaPr>
                    <m:oMath xmlns:m="http://schemas.openxmlformats.org/officeDocument/2006/math">
                      <m:r>
                        <a:rPr lang="it-IT" b="0" i="1" noProof="0" smtClean="0">
                          <a:solidFill>
                            <a:srgbClr val="162230"/>
                          </a:solidFill>
                          <a:latin typeface="Cambria Math" panose="02040503050406030204" pitchFamily="18" charset="0"/>
                          <a:ea typeface="Cambria" panose="02040503050406030204" pitchFamily="18" charset="0"/>
                        </a:rPr>
                        <m:t>𝑢</m:t>
                      </m:r>
                      <m:r>
                        <a:rPr lang="en-GB" b="0" i="1" noProof="0" smtClean="0">
                          <a:solidFill>
                            <a:srgbClr val="162230"/>
                          </a:solidFill>
                          <a:latin typeface="Cambria Math" panose="02040503050406030204" pitchFamily="18" charset="0"/>
                          <a:ea typeface="Cambria" panose="02040503050406030204" pitchFamily="18" charset="0"/>
                        </a:rPr>
                        <m:t>=</m:t>
                      </m:r>
                      <m:sSup>
                        <m:sSupPr>
                          <m:ctrlPr>
                            <a:rPr lang="en-GB" b="0" i="1" noProof="0" smtClean="0">
                              <a:solidFill>
                                <a:srgbClr val="162230"/>
                              </a:solidFill>
                              <a:latin typeface="Cambria Math" panose="02040503050406030204" pitchFamily="18" charset="0"/>
                              <a:ea typeface="Cambria" panose="02040503050406030204" pitchFamily="18" charset="0"/>
                            </a:rPr>
                          </m:ctrlPr>
                        </m:sSupPr>
                        <m:e>
                          <m:r>
                            <a:rPr lang="en-GB" i="1" noProof="0" smtClean="0">
                              <a:solidFill>
                                <a:srgbClr val="162230"/>
                              </a:solidFill>
                              <a:latin typeface="Cambria Math" panose="02040503050406030204" pitchFamily="18" charset="0"/>
                              <a:ea typeface="Cambria" panose="02040503050406030204" pitchFamily="18" charset="0"/>
                            </a:rPr>
                            <m:t>[</m:t>
                          </m:r>
                          <m:r>
                            <a:rPr lang="en-GB" i="1" noProof="0" smtClean="0">
                              <a:solidFill>
                                <a:srgbClr val="162230"/>
                              </a:solidFill>
                              <a:latin typeface="Cambria Math" panose="02040503050406030204" pitchFamily="18" charset="0"/>
                              <a:ea typeface="Cambria" panose="02040503050406030204" pitchFamily="18" charset="0"/>
                            </a:rPr>
                            <m:t>𝑀</m:t>
                          </m:r>
                          <m:r>
                            <a:rPr lang="en-GB" i="1" noProof="0" smtClean="0">
                              <a:solidFill>
                                <a:srgbClr val="162230"/>
                              </a:solidFill>
                              <a:latin typeface="Cambria Math" panose="02040503050406030204" pitchFamily="18" charset="0"/>
                              <a:ea typeface="Cambria" panose="02040503050406030204" pitchFamily="18" charset="0"/>
                            </a:rPr>
                            <m:t> </m:t>
                          </m:r>
                          <m:r>
                            <a:rPr lang="en-GB" i="1" noProof="0" smtClean="0">
                              <a:solidFill>
                                <a:srgbClr val="162230"/>
                              </a:solidFill>
                              <a:latin typeface="Cambria Math" panose="02040503050406030204" pitchFamily="18" charset="0"/>
                              <a:ea typeface="Cambria" panose="02040503050406030204" pitchFamily="18" charset="0"/>
                            </a:rPr>
                            <m:t>𝑌</m:t>
                          </m:r>
                          <m:r>
                            <a:rPr lang="en-GB" i="1" noProof="0" smtClean="0">
                              <a:solidFill>
                                <a:srgbClr val="162230"/>
                              </a:solidFill>
                              <a:latin typeface="Cambria Math" panose="02040503050406030204" pitchFamily="18" charset="0"/>
                              <a:ea typeface="Cambria" panose="02040503050406030204" pitchFamily="18" charset="0"/>
                            </a:rPr>
                            <m:t> </m:t>
                          </m:r>
                          <m:r>
                            <a:rPr lang="en-GB" i="1" noProof="0" smtClean="0">
                              <a:solidFill>
                                <a:srgbClr val="162230"/>
                              </a:solidFill>
                              <a:latin typeface="Cambria Math" panose="02040503050406030204" pitchFamily="18" charset="0"/>
                              <a:ea typeface="Cambria" panose="02040503050406030204" pitchFamily="18" charset="0"/>
                            </a:rPr>
                            <m:t>𝑍</m:t>
                          </m:r>
                          <m:r>
                            <a:rPr lang="en-GB" i="1" noProof="0" smtClean="0">
                              <a:solidFill>
                                <a:srgbClr val="162230"/>
                              </a:solidFill>
                              <a:latin typeface="Cambria Math" panose="02040503050406030204" pitchFamily="18" charset="0"/>
                              <a:ea typeface="Cambria" panose="02040503050406030204" pitchFamily="18" charset="0"/>
                            </a:rPr>
                            <m:t> </m:t>
                          </m:r>
                          <m:r>
                            <a:rPr lang="en-GB" i="1" noProof="0" smtClean="0">
                              <a:solidFill>
                                <a:srgbClr val="162230"/>
                              </a:solidFill>
                              <a:latin typeface="Cambria Math" panose="02040503050406030204" pitchFamily="18" charset="0"/>
                              <a:ea typeface="Cambria" panose="02040503050406030204" pitchFamily="18" charset="0"/>
                            </a:rPr>
                            <m:t>𝐾</m:t>
                          </m:r>
                          <m:r>
                            <a:rPr lang="en-GB" i="1" noProof="0" smtClean="0">
                              <a:solidFill>
                                <a:srgbClr val="162230"/>
                              </a:solidFill>
                              <a:latin typeface="Cambria Math" panose="02040503050406030204" pitchFamily="18" charset="0"/>
                              <a:ea typeface="Cambria" panose="02040503050406030204" pitchFamily="18" charset="0"/>
                            </a:rPr>
                            <m:t> </m:t>
                          </m:r>
                          <m:r>
                            <a:rPr lang="en-GB" i="1" noProof="0" smtClean="0">
                              <a:solidFill>
                                <a:srgbClr val="162230"/>
                              </a:solidFill>
                              <a:latin typeface="Cambria Math" panose="02040503050406030204" pitchFamily="18" charset="0"/>
                              <a:ea typeface="Cambria" panose="02040503050406030204" pitchFamily="18" charset="0"/>
                            </a:rPr>
                            <m:t>𝑀</m:t>
                          </m:r>
                          <m:r>
                            <a:rPr lang="en-GB" i="1" noProof="0" smtClean="0">
                              <a:solidFill>
                                <a:srgbClr val="162230"/>
                              </a:solidFill>
                              <a:latin typeface="Cambria Math" panose="02040503050406030204" pitchFamily="18" charset="0"/>
                              <a:ea typeface="Cambria" panose="02040503050406030204" pitchFamily="18" charset="0"/>
                            </a:rPr>
                            <m:t> </m:t>
                          </m:r>
                          <m:r>
                            <a:rPr lang="en-GB" i="1" noProof="0" smtClean="0">
                              <a:solidFill>
                                <a:srgbClr val="162230"/>
                              </a:solidFill>
                              <a:latin typeface="Cambria Math" panose="02040503050406030204" pitchFamily="18" charset="0"/>
                              <a:ea typeface="Cambria" panose="02040503050406030204" pitchFamily="18" charset="0"/>
                            </a:rPr>
                            <m:t>𝑁</m:t>
                          </m:r>
                          <m:r>
                            <a:rPr lang="en-GB" i="1" noProof="0" smtClean="0">
                              <a:solidFill>
                                <a:srgbClr val="162230"/>
                              </a:solidFill>
                              <a:latin typeface="Cambria Math" panose="02040503050406030204" pitchFamily="18" charset="0"/>
                              <a:ea typeface="Cambria" panose="02040503050406030204" pitchFamily="18" charset="0"/>
                            </a:rPr>
                            <m:t>]</m:t>
                          </m:r>
                        </m:e>
                        <m:sup>
                          <m:r>
                            <a:rPr lang="en-GB" b="0" i="1" noProof="0" smtClean="0">
                              <a:solidFill>
                                <a:srgbClr val="162230"/>
                              </a:solidFill>
                              <a:latin typeface="Cambria Math" panose="02040503050406030204" pitchFamily="18" charset="0"/>
                              <a:ea typeface="Cambria" panose="02040503050406030204" pitchFamily="18" charset="0"/>
                            </a:rPr>
                            <m:t>𝑇</m:t>
                          </m:r>
                        </m:sup>
                      </m:sSup>
                    </m:oMath>
                  </m:oMathPara>
                </a14:m>
                <a:endParaRPr lang="en-GB" noProof="0" dirty="0">
                  <a:solidFill>
                    <a:srgbClr val="162230"/>
                  </a:solidFill>
                  <a:latin typeface="Cambria" panose="02040503050406030204" pitchFamily="18" charset="0"/>
                  <a:ea typeface="Cambria" panose="02040503050406030204" pitchFamily="18" charset="0"/>
                </a:endParaRPr>
              </a:p>
              <a:p>
                <a:pPr lvl="1">
                  <a:lnSpc>
                    <a:spcPct val="150000"/>
                  </a:lnSpc>
                  <a:spcBef>
                    <a:spcPct val="20000"/>
                  </a:spcBef>
                  <a:buClr>
                    <a:srgbClr val="971720"/>
                  </a:buClr>
                  <a:buSzPct val="70000"/>
                </a:pPr>
                <a:endParaRPr lang="en-GB" sz="2000" noProof="0" dirty="0">
                  <a:solidFill>
                    <a:srgbClr val="162230"/>
                  </a:solidFill>
                  <a:latin typeface="Century Gothic" pitchFamily="34" charset="0"/>
                </a:endParaRPr>
              </a:p>
            </p:txBody>
          </p:sp>
        </mc:Choice>
        <mc:Fallback>
          <p:sp>
            <p:nvSpPr>
              <p:cNvPr id="3" name="Rectangle 2">
                <a:extLst>
                  <a:ext uri="{FF2B5EF4-FFF2-40B4-BE49-F238E27FC236}">
                    <a16:creationId xmlns:a16="http://schemas.microsoft.com/office/drawing/2014/main" id="{DEB5BAFE-5084-C246-182E-19C4AC8B1C0F}"/>
                  </a:ext>
                </a:extLst>
              </p:cNvPr>
              <p:cNvSpPr>
                <a:spLocks noRot="1" noChangeAspect="1" noMove="1" noResize="1" noEditPoints="1" noAdjustHandles="1" noChangeArrowheads="1" noChangeShapeType="1" noTextEdit="1"/>
              </p:cNvSpPr>
              <p:nvPr/>
            </p:nvSpPr>
            <p:spPr>
              <a:xfrm>
                <a:off x="62951" y="122442"/>
                <a:ext cx="12080384" cy="5769913"/>
              </a:xfrm>
              <a:prstGeom prst="rect">
                <a:avLst/>
              </a:prstGeom>
              <a:blipFill>
                <a:blip r:embed="rId4"/>
                <a:stretch>
                  <a:fillRect l="-656" t="-845"/>
                </a:stretch>
              </a:blipFill>
            </p:spPr>
            <p:txBody>
              <a:bodyPr/>
              <a:lstStyle/>
              <a:p>
                <a:r>
                  <a:rPr lang="it-IT">
                    <a:noFill/>
                  </a:rPr>
                  <a:t> </a:t>
                </a:r>
              </a:p>
            </p:txBody>
          </p:sp>
        </mc:Fallback>
      </mc:AlternateContent>
      <p:pic>
        <p:nvPicPr>
          <p:cNvPr id="5" name="Immagine 4" descr="Immagine che contiene diagramma, schizzo, cerchio, design&#10;&#10;Il contenuto generato dall'IA potrebbe non essere corretto.">
            <a:extLst>
              <a:ext uri="{FF2B5EF4-FFF2-40B4-BE49-F238E27FC236}">
                <a16:creationId xmlns:a16="http://schemas.microsoft.com/office/drawing/2014/main" id="{BF85BFE6-F0E8-2EA0-0B36-D25BFCED7892}"/>
              </a:ext>
            </a:extLst>
          </p:cNvPr>
          <p:cNvPicPr>
            <a:picLocks noChangeAspect="1"/>
          </p:cNvPicPr>
          <p:nvPr/>
        </p:nvPicPr>
        <p:blipFill>
          <a:blip r:embed="rId5"/>
          <a:stretch>
            <a:fillRect/>
          </a:stretch>
        </p:blipFill>
        <p:spPr>
          <a:xfrm>
            <a:off x="6285187" y="122442"/>
            <a:ext cx="5224750" cy="4252703"/>
          </a:xfrm>
          <a:prstGeom prst="rect">
            <a:avLst/>
          </a:prstGeom>
        </p:spPr>
      </p:pic>
    </p:spTree>
    <p:extLst>
      <p:ext uri="{BB962C8B-B14F-4D97-AF65-F5344CB8AC3E}">
        <p14:creationId xmlns:p14="http://schemas.microsoft.com/office/powerpoint/2010/main" val="1103712887"/>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25331-7DAE-1A11-0BCB-829C729E6D70}"/>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139CF70F-B9C3-B996-57F1-D954E92A7092}"/>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en-GB" kern="0" noProof="0" dirty="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1702C42D-A280-F911-3FD8-BDBD0C321FB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65C034D6-B261-E97F-6012-9DEDA0BEB817}"/>
              </a:ext>
            </a:extLst>
          </p:cNvPr>
          <p:cNvSpPr/>
          <p:nvPr/>
        </p:nvSpPr>
        <p:spPr>
          <a:xfrm>
            <a:off x="14286" y="6598816"/>
            <a:ext cx="12177714" cy="307777"/>
          </a:xfrm>
          <a:prstGeom prst="rect">
            <a:avLst/>
          </a:prstGeom>
        </p:spPr>
        <p:txBody>
          <a:bodyPr wrap="square">
            <a:spAutoFit/>
          </a:bodyPr>
          <a:lstStyle/>
          <a:p>
            <a:pPr algn="ct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noProof="0" dirty="0">
                <a:solidFill>
                  <a:srgbClr val="162230"/>
                </a:solidFill>
                <a:latin typeface="Century Gothic"/>
                <a:cs typeface="Century Gothic"/>
              </a:rPr>
              <a:t>MODELLING (2)</a:t>
            </a:r>
          </a:p>
        </p:txBody>
      </p:sp>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4C3D64C3-DD75-A96A-4A22-53C1AD530A5A}"/>
                  </a:ext>
                </a:extLst>
              </p:cNvPr>
              <p:cNvSpPr/>
              <p:nvPr/>
            </p:nvSpPr>
            <p:spPr>
              <a:xfrm>
                <a:off x="55808" y="0"/>
                <a:ext cx="12080384" cy="6356677"/>
              </a:xfrm>
              <a:prstGeom prst="rect">
                <a:avLst/>
              </a:prstGeom>
              <a:solidFill>
                <a:schemeClr val="bg1"/>
              </a:solidFill>
            </p:spPr>
            <p:txBody>
              <a:bodyPr wrap="square">
                <a:spAutoFit/>
              </a:bodyPr>
              <a:lstStyle/>
              <a:p>
                <a:pPr marL="457200" indent="-457200">
                  <a:spcAft>
                    <a:spcPts val="600"/>
                  </a:spcAft>
                  <a:buClr>
                    <a:srgbClr val="971720"/>
                  </a:buClr>
                  <a:buFont typeface="Wingdings" panose="05000000000000000000" pitchFamily="2" charset="2"/>
                  <a:buChar char="v"/>
                </a:pPr>
                <a:r>
                  <a:rPr lang="en-GB" sz="2400" b="1" noProof="0" dirty="0">
                    <a:solidFill>
                      <a:srgbClr val="971720"/>
                    </a:solidFill>
                    <a:latin typeface="Cambria" panose="02040503050406030204" pitchFamily="18" charset="0"/>
                    <a:ea typeface="Cambria" panose="02040503050406030204" pitchFamily="18" charset="0"/>
                    <a:cs typeface="Century Gothic"/>
                  </a:rPr>
                  <a:t>Modelling</a:t>
                </a:r>
              </a:p>
              <a:p>
                <a:pPr marL="457200" lvl="0" indent="-457200">
                  <a:lnSpc>
                    <a:spcPct val="150000"/>
                  </a:lnSpc>
                  <a:spcBef>
                    <a:spcPct val="20000"/>
                  </a:spcBef>
                  <a:buClr>
                    <a:srgbClr val="FFC000"/>
                  </a:buClr>
                  <a:buSzPct val="70000"/>
                  <a:buFont typeface="Wingdings" panose="05000000000000000000" pitchFamily="2" charset="2"/>
                  <a:buChar char="v"/>
                </a:pPr>
                <a:r>
                  <a:rPr lang="en-GB" sz="2000" b="1" noProof="0" dirty="0">
                    <a:solidFill>
                      <a:srgbClr val="162230"/>
                    </a:solidFill>
                    <a:latin typeface="Cambria" panose="02040503050406030204" pitchFamily="18" charset="0"/>
                    <a:ea typeface="Cambria" panose="02040503050406030204" pitchFamily="18" charset="0"/>
                  </a:rPr>
                  <a:t>Kinematic Model</a:t>
                </a:r>
              </a:p>
              <a:p>
                <a:pPr marL="1257300" lvl="2" indent="-342900">
                  <a:lnSpc>
                    <a:spcPct val="150000"/>
                  </a:lnSpc>
                  <a:spcBef>
                    <a:spcPct val="20000"/>
                  </a:spcBef>
                  <a:buClr>
                    <a:srgbClr val="971720"/>
                  </a:buClr>
                  <a:buSzPct val="70000"/>
                  <a:buFont typeface="Wingdings" panose="05000000000000000000" pitchFamily="2" charset="2"/>
                  <a:buChar char="v"/>
                </a:pPr>
                <a:r>
                  <a:rPr lang="en-GB" noProof="0" dirty="0">
                    <a:solidFill>
                      <a:srgbClr val="162230"/>
                    </a:solidFill>
                    <a:latin typeface="Cambria" panose="02040503050406030204" pitchFamily="18" charset="0"/>
                    <a:ea typeface="Cambria" panose="02040503050406030204" pitchFamily="18" charset="0"/>
                  </a:rPr>
                  <a:t>Unit Quaternion </a:t>
                </a:r>
                <a14:m>
                  <m:oMath xmlns:m="http://schemas.openxmlformats.org/officeDocument/2006/math">
                    <m:r>
                      <a:rPr lang="en-GB" b="1" i="1" noProof="0" smtClean="0">
                        <a:solidFill>
                          <a:srgbClr val="162230"/>
                        </a:solidFill>
                        <a:latin typeface="Cambria Math" panose="02040503050406030204" pitchFamily="18" charset="0"/>
                        <a:ea typeface="Cambria" panose="02040503050406030204" pitchFamily="18" charset="0"/>
                      </a:rPr>
                      <m:t>𝒒</m:t>
                    </m:r>
                    <m:r>
                      <a:rPr lang="en-GB" b="0" i="1" noProof="0" smtClean="0">
                        <a:solidFill>
                          <a:srgbClr val="162230"/>
                        </a:solidFill>
                        <a:latin typeface="Cambria Math" panose="02040503050406030204" pitchFamily="18" charset="0"/>
                        <a:ea typeface="Cambria" panose="02040503050406030204" pitchFamily="18" charset="0"/>
                      </a:rPr>
                      <m:t>=</m:t>
                    </m:r>
                    <m:d>
                      <m:dPr>
                        <m:begChr m:val="["/>
                        <m:endChr m:val="]"/>
                        <m:ctrlPr>
                          <a:rPr lang="en-GB" b="0" i="1" noProof="0" smtClean="0">
                            <a:solidFill>
                              <a:srgbClr val="162230"/>
                            </a:solidFill>
                            <a:latin typeface="Cambria Math" panose="02040503050406030204" pitchFamily="18" charset="0"/>
                            <a:ea typeface="Cambria" panose="02040503050406030204" pitchFamily="18" charset="0"/>
                          </a:rPr>
                        </m:ctrlPr>
                      </m:dPr>
                      <m:e>
                        <m:sSub>
                          <m:sSubPr>
                            <m:ctrlPr>
                              <a:rPr lang="en-GB" b="0" i="1" noProof="0" smtClean="0">
                                <a:solidFill>
                                  <a:srgbClr val="162230"/>
                                </a:solidFill>
                                <a:latin typeface="Cambria Math" panose="02040503050406030204" pitchFamily="18" charset="0"/>
                                <a:ea typeface="Cambria" panose="02040503050406030204" pitchFamily="18" charset="0"/>
                              </a:rPr>
                            </m:ctrlPr>
                          </m:sSubPr>
                          <m:e>
                            <m:r>
                              <a:rPr lang="en-GB" b="0" i="1" noProof="0" smtClean="0">
                                <a:solidFill>
                                  <a:srgbClr val="162230"/>
                                </a:solidFill>
                                <a:latin typeface="Cambria Math" panose="02040503050406030204" pitchFamily="18" charset="0"/>
                                <a:ea typeface="Cambria" panose="02040503050406030204" pitchFamily="18" charset="0"/>
                              </a:rPr>
                              <m:t>𝑞</m:t>
                            </m:r>
                          </m:e>
                          <m:sub>
                            <m:r>
                              <a:rPr lang="en-GB" b="0" i="1" noProof="0" smtClean="0">
                                <a:solidFill>
                                  <a:srgbClr val="162230"/>
                                </a:solidFill>
                                <a:latin typeface="Cambria Math" panose="02040503050406030204" pitchFamily="18" charset="0"/>
                                <a:ea typeface="Cambria" panose="02040503050406030204" pitchFamily="18" charset="0"/>
                              </a:rPr>
                              <m:t>1</m:t>
                            </m:r>
                          </m:sub>
                        </m:sSub>
                        <m:sSub>
                          <m:sSubPr>
                            <m:ctrlPr>
                              <a:rPr lang="en-GB" i="1" noProof="0" smtClean="0">
                                <a:solidFill>
                                  <a:srgbClr val="162230"/>
                                </a:solidFill>
                                <a:latin typeface="Cambria Math" panose="02040503050406030204" pitchFamily="18" charset="0"/>
                                <a:ea typeface="Cambria" panose="02040503050406030204" pitchFamily="18" charset="0"/>
                              </a:rPr>
                            </m:ctrlPr>
                          </m:sSubPr>
                          <m:e>
                            <m:r>
                              <a:rPr lang="en-GB" b="0" i="1" noProof="0" smtClean="0">
                                <a:solidFill>
                                  <a:srgbClr val="162230"/>
                                </a:solidFill>
                                <a:latin typeface="Cambria Math" panose="02040503050406030204" pitchFamily="18" charset="0"/>
                                <a:ea typeface="Cambria" panose="02040503050406030204" pitchFamily="18" charset="0"/>
                              </a:rPr>
                              <m:t>  </m:t>
                            </m:r>
                            <m:r>
                              <a:rPr lang="en-GB" i="1" noProof="0" smtClean="0">
                                <a:solidFill>
                                  <a:srgbClr val="162230"/>
                                </a:solidFill>
                                <a:latin typeface="Cambria Math" panose="02040503050406030204" pitchFamily="18" charset="0"/>
                                <a:ea typeface="Cambria" panose="02040503050406030204" pitchFamily="18" charset="0"/>
                              </a:rPr>
                              <m:t>𝑞</m:t>
                            </m:r>
                          </m:e>
                          <m:sub>
                            <m:r>
                              <a:rPr lang="en-GB" b="0" i="1" noProof="0" smtClean="0">
                                <a:solidFill>
                                  <a:srgbClr val="162230"/>
                                </a:solidFill>
                                <a:latin typeface="Cambria Math" panose="02040503050406030204" pitchFamily="18" charset="0"/>
                                <a:ea typeface="Cambria" panose="02040503050406030204" pitchFamily="18" charset="0"/>
                              </a:rPr>
                              <m:t>2  </m:t>
                            </m:r>
                          </m:sub>
                        </m:sSub>
                        <m:sSub>
                          <m:sSubPr>
                            <m:ctrlPr>
                              <a:rPr lang="en-GB" i="1" noProof="0" smtClean="0">
                                <a:solidFill>
                                  <a:srgbClr val="162230"/>
                                </a:solidFill>
                                <a:latin typeface="Cambria Math" panose="02040503050406030204" pitchFamily="18" charset="0"/>
                                <a:ea typeface="Cambria" panose="02040503050406030204" pitchFamily="18" charset="0"/>
                              </a:rPr>
                            </m:ctrlPr>
                          </m:sSubPr>
                          <m:e>
                            <m:r>
                              <a:rPr lang="en-GB" i="1" noProof="0" smtClean="0">
                                <a:solidFill>
                                  <a:srgbClr val="162230"/>
                                </a:solidFill>
                                <a:latin typeface="Cambria Math" panose="02040503050406030204" pitchFamily="18" charset="0"/>
                                <a:ea typeface="Cambria" panose="02040503050406030204" pitchFamily="18" charset="0"/>
                              </a:rPr>
                              <m:t>𝑞</m:t>
                            </m:r>
                          </m:e>
                          <m:sub>
                            <m:r>
                              <a:rPr lang="en-GB" b="0" i="1" noProof="0" smtClean="0">
                                <a:solidFill>
                                  <a:srgbClr val="162230"/>
                                </a:solidFill>
                                <a:latin typeface="Cambria Math" panose="02040503050406030204" pitchFamily="18" charset="0"/>
                                <a:ea typeface="Cambria" panose="02040503050406030204" pitchFamily="18" charset="0"/>
                              </a:rPr>
                              <m:t>3</m:t>
                            </m:r>
                          </m:sub>
                        </m:sSub>
                        <m:sSub>
                          <m:sSubPr>
                            <m:ctrlPr>
                              <a:rPr lang="en-GB" i="1" noProof="0" smtClean="0">
                                <a:solidFill>
                                  <a:srgbClr val="162230"/>
                                </a:solidFill>
                                <a:latin typeface="Cambria Math" panose="02040503050406030204" pitchFamily="18" charset="0"/>
                                <a:ea typeface="Cambria" panose="02040503050406030204" pitchFamily="18" charset="0"/>
                              </a:rPr>
                            </m:ctrlPr>
                          </m:sSubPr>
                          <m:e>
                            <m:r>
                              <a:rPr lang="en-GB" b="0" i="1" noProof="0" smtClean="0">
                                <a:solidFill>
                                  <a:srgbClr val="162230"/>
                                </a:solidFill>
                                <a:latin typeface="Cambria Math" panose="02040503050406030204" pitchFamily="18" charset="0"/>
                                <a:ea typeface="Cambria" panose="02040503050406030204" pitchFamily="18" charset="0"/>
                              </a:rPr>
                              <m:t>  </m:t>
                            </m:r>
                            <m:r>
                              <a:rPr lang="en-GB" i="1" noProof="0" smtClean="0">
                                <a:solidFill>
                                  <a:srgbClr val="162230"/>
                                </a:solidFill>
                                <a:latin typeface="Cambria Math" panose="02040503050406030204" pitchFamily="18" charset="0"/>
                                <a:ea typeface="Cambria" panose="02040503050406030204" pitchFamily="18" charset="0"/>
                              </a:rPr>
                              <m:t>𝑞</m:t>
                            </m:r>
                          </m:e>
                          <m:sub>
                            <m:r>
                              <a:rPr lang="en-GB" b="0" i="1" noProof="0" smtClean="0">
                                <a:solidFill>
                                  <a:srgbClr val="162230"/>
                                </a:solidFill>
                                <a:latin typeface="Cambria Math" panose="02040503050406030204" pitchFamily="18" charset="0"/>
                                <a:ea typeface="Cambria" panose="02040503050406030204" pitchFamily="18" charset="0"/>
                              </a:rPr>
                              <m:t>4</m:t>
                            </m:r>
                          </m:sub>
                        </m:sSub>
                      </m:e>
                    </m:d>
                  </m:oMath>
                </a14:m>
                <a:r>
                  <a:rPr lang="en-GB" noProof="0" dirty="0">
                    <a:solidFill>
                      <a:srgbClr val="162230"/>
                    </a:solidFill>
                    <a:latin typeface="Cambria" panose="02040503050406030204" pitchFamily="18" charset="0"/>
                    <a:ea typeface="Cambria" panose="02040503050406030204" pitchFamily="18" charset="0"/>
                  </a:rPr>
                  <a:t> has been used in order to avoid singularities </a:t>
                </a:r>
              </a:p>
              <a:p>
                <a:pPr marL="1257300" lvl="2" indent="-342900">
                  <a:lnSpc>
                    <a:spcPct val="150000"/>
                  </a:lnSpc>
                  <a:spcBef>
                    <a:spcPct val="20000"/>
                  </a:spcBef>
                  <a:buClr>
                    <a:srgbClr val="971720"/>
                  </a:buClr>
                  <a:buSzPct val="70000"/>
                  <a:buFont typeface="Wingdings" panose="05000000000000000000" pitchFamily="2" charset="2"/>
                  <a:buChar char="v"/>
                </a:pPr>
                <a14:m>
                  <m:oMath xmlns:m="http://schemas.openxmlformats.org/officeDocument/2006/math">
                    <m:r>
                      <a:rPr lang="en-GB" i="1" noProof="0">
                        <a:solidFill>
                          <a:srgbClr val="162230"/>
                        </a:solidFill>
                        <a:latin typeface="Cambria Math" panose="02040503050406030204" pitchFamily="18" charset="0"/>
                        <a:ea typeface="Cambria Math" panose="02040503050406030204" pitchFamily="18" charset="0"/>
                      </a:rPr>
                      <m:t>𝜂</m:t>
                    </m:r>
                    <m:r>
                      <a:rPr lang="en-GB" i="1" noProof="0" smtClean="0">
                        <a:solidFill>
                          <a:srgbClr val="162230"/>
                        </a:solidFill>
                        <a:latin typeface="Cambria Math" panose="02040503050406030204" pitchFamily="18" charset="0"/>
                        <a:ea typeface="Cambria Math" panose="02040503050406030204" pitchFamily="18" charset="0"/>
                      </a:rPr>
                      <m:t>=</m:t>
                    </m:r>
                    <m:sSup>
                      <m:sSupPr>
                        <m:ctrlPr>
                          <a:rPr lang="en-GB" i="1" noProof="0" smtClean="0">
                            <a:solidFill>
                              <a:srgbClr val="162230"/>
                            </a:solidFill>
                            <a:latin typeface="Cambria Math" panose="02040503050406030204" pitchFamily="18" charset="0"/>
                            <a:ea typeface="Cambria Math" panose="02040503050406030204" pitchFamily="18" charset="0"/>
                          </a:rPr>
                        </m:ctrlPr>
                      </m:sSupPr>
                      <m:e>
                        <m:d>
                          <m:dPr>
                            <m:begChr m:val="["/>
                            <m:endChr m:val="]"/>
                            <m:ctrlPr>
                              <a:rPr lang="en-GB" i="1" noProof="0" smtClean="0">
                                <a:solidFill>
                                  <a:srgbClr val="162230"/>
                                </a:solidFill>
                                <a:latin typeface="Cambria Math" panose="02040503050406030204" pitchFamily="18" charset="0"/>
                                <a:ea typeface="Cambria Math" panose="02040503050406030204" pitchFamily="18" charset="0"/>
                              </a:rPr>
                            </m:ctrlPr>
                          </m:dPr>
                          <m:e>
                            <m:r>
                              <a:rPr lang="en-GB" i="1" noProof="0" smtClean="0">
                                <a:solidFill>
                                  <a:srgbClr val="162230"/>
                                </a:solidFill>
                                <a:latin typeface="Cambria Math" panose="02040503050406030204" pitchFamily="18" charset="0"/>
                                <a:ea typeface="Cambria Math" panose="02040503050406030204" pitchFamily="18" charset="0"/>
                              </a:rPr>
                              <m:t>𝑥</m:t>
                            </m:r>
                            <m:r>
                              <a:rPr lang="en-GB" i="1" noProof="0" smtClean="0">
                                <a:solidFill>
                                  <a:srgbClr val="162230"/>
                                </a:solidFill>
                                <a:latin typeface="Cambria Math" panose="02040503050406030204" pitchFamily="18" charset="0"/>
                                <a:ea typeface="Cambria Math" panose="02040503050406030204" pitchFamily="18" charset="0"/>
                              </a:rPr>
                              <m:t>   </m:t>
                            </m:r>
                            <m:r>
                              <a:rPr lang="en-GB" i="1" noProof="0" smtClean="0">
                                <a:solidFill>
                                  <a:srgbClr val="162230"/>
                                </a:solidFill>
                                <a:latin typeface="Cambria Math" panose="02040503050406030204" pitchFamily="18" charset="0"/>
                                <a:ea typeface="Cambria Math" panose="02040503050406030204" pitchFamily="18" charset="0"/>
                              </a:rPr>
                              <m:t>𝑦</m:t>
                            </m:r>
                            <m:r>
                              <a:rPr lang="en-GB" i="1" noProof="0" smtClean="0">
                                <a:solidFill>
                                  <a:srgbClr val="162230"/>
                                </a:solidFill>
                                <a:latin typeface="Cambria Math" panose="02040503050406030204" pitchFamily="18" charset="0"/>
                                <a:ea typeface="Cambria Math" panose="02040503050406030204" pitchFamily="18" charset="0"/>
                              </a:rPr>
                              <m:t>   </m:t>
                            </m:r>
                            <m:r>
                              <a:rPr lang="en-GB" i="1" noProof="0" smtClean="0">
                                <a:solidFill>
                                  <a:srgbClr val="162230"/>
                                </a:solidFill>
                                <a:latin typeface="Cambria Math" panose="02040503050406030204" pitchFamily="18" charset="0"/>
                                <a:ea typeface="Cambria Math" panose="02040503050406030204" pitchFamily="18" charset="0"/>
                              </a:rPr>
                              <m:t>𝑧</m:t>
                            </m:r>
                            <m:r>
                              <a:rPr lang="en-GB" i="1" noProof="0" smtClean="0">
                                <a:solidFill>
                                  <a:srgbClr val="162230"/>
                                </a:solidFill>
                                <a:latin typeface="Cambria Math" panose="02040503050406030204" pitchFamily="18" charset="0"/>
                                <a:ea typeface="Cambria Math" panose="02040503050406030204" pitchFamily="18" charset="0"/>
                              </a:rPr>
                              <m:t>   </m:t>
                            </m:r>
                            <m:r>
                              <a:rPr lang="en-GB" b="1" i="1" noProof="0" smtClean="0">
                                <a:solidFill>
                                  <a:srgbClr val="162230"/>
                                </a:solidFill>
                                <a:latin typeface="Cambria Math" panose="02040503050406030204" pitchFamily="18" charset="0"/>
                                <a:ea typeface="Cambria Math" panose="02040503050406030204" pitchFamily="18" charset="0"/>
                              </a:rPr>
                              <m:t>𝒒</m:t>
                            </m:r>
                            <m:r>
                              <a:rPr lang="en-GB" i="1" noProof="0" smtClean="0">
                                <a:solidFill>
                                  <a:srgbClr val="162230"/>
                                </a:solidFill>
                                <a:latin typeface="Cambria Math" panose="02040503050406030204" pitchFamily="18" charset="0"/>
                                <a:ea typeface="Cambria Math" panose="02040503050406030204" pitchFamily="18" charset="0"/>
                              </a:rPr>
                              <m:t>   </m:t>
                            </m:r>
                          </m:e>
                        </m:d>
                      </m:e>
                      <m:sup>
                        <m:r>
                          <a:rPr lang="en-GB" i="1" noProof="0" smtClean="0">
                            <a:solidFill>
                              <a:srgbClr val="162230"/>
                            </a:solidFill>
                            <a:latin typeface="Cambria Math" panose="02040503050406030204" pitchFamily="18" charset="0"/>
                            <a:ea typeface="Cambria Math" panose="02040503050406030204" pitchFamily="18" charset="0"/>
                          </a:rPr>
                          <m:t>𝑇</m:t>
                        </m:r>
                      </m:sup>
                    </m:sSup>
                    <m:r>
                      <a:rPr lang="en-GB" i="1" noProof="0" smtClean="0">
                        <a:solidFill>
                          <a:srgbClr val="162230"/>
                        </a:solidFill>
                        <a:latin typeface="Cambria Math" panose="02040503050406030204" pitchFamily="18" charset="0"/>
                        <a:ea typeface="Cambria Math" panose="02040503050406030204" pitchFamily="18" charset="0"/>
                      </a:rPr>
                      <m:t>∈</m:t>
                    </m:r>
                    <m:sSup>
                      <m:sSupPr>
                        <m:ctrlPr>
                          <a:rPr lang="en-GB" i="1" noProof="0" smtClean="0">
                            <a:solidFill>
                              <a:srgbClr val="162230"/>
                            </a:solidFill>
                            <a:latin typeface="Cambria Math" panose="02040503050406030204" pitchFamily="18" charset="0"/>
                            <a:ea typeface="Cambria Math" panose="02040503050406030204" pitchFamily="18" charset="0"/>
                          </a:rPr>
                        </m:ctrlPr>
                      </m:sSupPr>
                      <m:e>
                        <m:r>
                          <a:rPr lang="en-GB" i="1" noProof="0" smtClean="0">
                            <a:solidFill>
                              <a:srgbClr val="162230"/>
                            </a:solidFill>
                            <a:latin typeface="Cambria Math" panose="02040503050406030204" pitchFamily="18" charset="0"/>
                            <a:ea typeface="Cambria Math" panose="02040503050406030204" pitchFamily="18" charset="0"/>
                          </a:rPr>
                          <m:t>ℝ</m:t>
                        </m:r>
                      </m:e>
                      <m:sup>
                        <m:r>
                          <a:rPr lang="en-GB" b="0" i="1" noProof="0" smtClean="0">
                            <a:solidFill>
                              <a:srgbClr val="162230"/>
                            </a:solidFill>
                            <a:latin typeface="Cambria Math" panose="02040503050406030204" pitchFamily="18" charset="0"/>
                            <a:ea typeface="Cambria Math" panose="02040503050406030204" pitchFamily="18" charset="0"/>
                          </a:rPr>
                          <m:t>7</m:t>
                        </m:r>
                      </m:sup>
                    </m:sSup>
                    <m:r>
                      <a:rPr lang="en-GB" i="1" noProof="0" smtClean="0">
                        <a:solidFill>
                          <a:srgbClr val="162230"/>
                        </a:solidFill>
                        <a:latin typeface="Cambria Math" panose="02040503050406030204" pitchFamily="18" charset="0"/>
                        <a:ea typeface="Cambria Math" panose="02040503050406030204" pitchFamily="18" charset="0"/>
                      </a:rPr>
                      <m:t> </m:t>
                    </m:r>
                  </m:oMath>
                </a14:m>
                <a:endParaRPr lang="en-GB" i="1" noProof="0" dirty="0">
                  <a:solidFill>
                    <a:srgbClr val="162230"/>
                  </a:solidFill>
                  <a:latin typeface="Cambria Math" panose="02040503050406030204" pitchFamily="18" charset="0"/>
                  <a:ea typeface="Cambria Math" panose="02040503050406030204" pitchFamily="18" charset="0"/>
                </a:endParaRPr>
              </a:p>
              <a:p>
                <a:pPr marL="1257300" lvl="2" indent="-342900">
                  <a:lnSpc>
                    <a:spcPct val="150000"/>
                  </a:lnSpc>
                  <a:spcBef>
                    <a:spcPct val="20000"/>
                  </a:spcBef>
                  <a:buClr>
                    <a:srgbClr val="971720"/>
                  </a:buClr>
                  <a:buSzPct val="70000"/>
                  <a:buFont typeface="Wingdings" panose="05000000000000000000" pitchFamily="2" charset="2"/>
                  <a:buChar char="v"/>
                </a:pPr>
                <a14:m>
                  <m:oMath xmlns:m="http://schemas.openxmlformats.org/officeDocument/2006/math">
                    <m:acc>
                      <m:accPr>
                        <m:chr m:val="̇"/>
                        <m:ctrlPr>
                          <a:rPr lang="en-GB" b="1" i="1" noProof="0" smtClean="0">
                            <a:solidFill>
                              <a:srgbClr val="162230"/>
                            </a:solidFill>
                            <a:latin typeface="Cambria Math" panose="02040503050406030204" pitchFamily="18" charset="0"/>
                            <a:ea typeface="Cambria" panose="02040503050406030204" pitchFamily="18" charset="0"/>
                          </a:rPr>
                        </m:ctrlPr>
                      </m:accPr>
                      <m:e>
                        <m:r>
                          <a:rPr lang="en-GB" b="1" i="1" noProof="0" smtClean="0">
                            <a:solidFill>
                              <a:srgbClr val="162230"/>
                            </a:solidFill>
                            <a:latin typeface="Cambria Math" panose="02040503050406030204" pitchFamily="18" charset="0"/>
                            <a:ea typeface="Cambria Math" panose="02040503050406030204" pitchFamily="18" charset="0"/>
                          </a:rPr>
                          <m:t>𝜼</m:t>
                        </m:r>
                      </m:e>
                    </m:acc>
                    <m:r>
                      <a:rPr lang="en-GB" b="1" i="1" noProof="0" smtClean="0">
                        <a:solidFill>
                          <a:srgbClr val="162230"/>
                        </a:solidFill>
                        <a:latin typeface="Cambria Math" panose="02040503050406030204" pitchFamily="18" charset="0"/>
                        <a:ea typeface="Cambria" panose="02040503050406030204" pitchFamily="18" charset="0"/>
                      </a:rPr>
                      <m:t>=</m:t>
                    </m:r>
                    <m:r>
                      <a:rPr lang="en-GB" b="1" i="1" noProof="0" smtClean="0">
                        <a:solidFill>
                          <a:srgbClr val="162230"/>
                        </a:solidFill>
                        <a:latin typeface="Cambria Math" panose="02040503050406030204" pitchFamily="18" charset="0"/>
                        <a:ea typeface="Cambria" panose="02040503050406030204" pitchFamily="18" charset="0"/>
                      </a:rPr>
                      <m:t>𝑱</m:t>
                    </m:r>
                    <m:d>
                      <m:dPr>
                        <m:ctrlPr>
                          <a:rPr lang="en-GB" b="1" i="1" noProof="0" smtClean="0">
                            <a:solidFill>
                              <a:srgbClr val="162230"/>
                            </a:solidFill>
                            <a:latin typeface="Cambria Math" panose="02040503050406030204" pitchFamily="18" charset="0"/>
                            <a:ea typeface="Cambria" panose="02040503050406030204" pitchFamily="18" charset="0"/>
                          </a:rPr>
                        </m:ctrlPr>
                      </m:dPr>
                      <m:e>
                        <m:r>
                          <a:rPr lang="en-GB" b="1" i="1" noProof="0" smtClean="0">
                            <a:solidFill>
                              <a:srgbClr val="162230"/>
                            </a:solidFill>
                            <a:latin typeface="Cambria Math" panose="02040503050406030204" pitchFamily="18" charset="0"/>
                            <a:ea typeface="Cambria" panose="02040503050406030204" pitchFamily="18" charset="0"/>
                          </a:rPr>
                          <m:t>𝒒</m:t>
                        </m:r>
                      </m:e>
                    </m:d>
                    <m:r>
                      <a:rPr lang="en-GB" b="1" i="1" noProof="0" smtClean="0">
                        <a:solidFill>
                          <a:srgbClr val="162230"/>
                        </a:solidFill>
                        <a:latin typeface="Cambria Math" panose="02040503050406030204" pitchFamily="18" charset="0"/>
                        <a:ea typeface="Cambria Math" panose="02040503050406030204" pitchFamily="18" charset="0"/>
                      </a:rPr>
                      <m:t>𝝂</m:t>
                    </m:r>
                  </m:oMath>
                </a14:m>
                <a:r>
                  <a:rPr lang="en-GB" sz="2000" b="1" noProof="0" dirty="0">
                    <a:solidFill>
                      <a:srgbClr val="162230"/>
                    </a:solidFill>
                    <a:latin typeface="Cambria" panose="02040503050406030204" pitchFamily="18" charset="0"/>
                    <a:ea typeface="Cambria Math" panose="02040503050406030204" pitchFamily="18" charset="0"/>
                  </a:rPr>
                  <a:t>		</a:t>
                </a:r>
                <a:r>
                  <a:rPr lang="en-GB" noProof="0" dirty="0">
                    <a:solidFill>
                      <a:srgbClr val="162230"/>
                    </a:solidFill>
                    <a:latin typeface="Cambria" panose="02040503050406030204" pitchFamily="18" charset="0"/>
                    <a:ea typeface="Cambria Math" panose="02040503050406030204" pitchFamily="18" charset="0"/>
                  </a:rPr>
                  <a:t>with	 </a:t>
                </a:r>
                <a:r>
                  <a:rPr lang="en-GB" b="1" noProof="0" dirty="0">
                    <a:solidFill>
                      <a:srgbClr val="162230"/>
                    </a:solidFill>
                    <a:latin typeface="Cambria" panose="02040503050406030204" pitchFamily="18" charset="0"/>
                    <a:ea typeface="Cambria Math" panose="02040503050406030204" pitchFamily="18" charset="0"/>
                  </a:rPr>
                  <a:t>  </a:t>
                </a:r>
                <a14:m>
                  <m:oMath xmlns:m="http://schemas.openxmlformats.org/officeDocument/2006/math">
                    <m:r>
                      <a:rPr lang="en-GB" b="1" i="1" noProof="0" smtClean="0">
                        <a:solidFill>
                          <a:srgbClr val="162230"/>
                        </a:solidFill>
                        <a:latin typeface="Cambria Math" panose="02040503050406030204" pitchFamily="18" charset="0"/>
                        <a:ea typeface="Cambria" panose="02040503050406030204" pitchFamily="18" charset="0"/>
                      </a:rPr>
                      <m:t>𝑱</m:t>
                    </m:r>
                    <m:r>
                      <a:rPr lang="en-GB" b="1" i="1" noProof="0" smtClean="0">
                        <a:solidFill>
                          <a:srgbClr val="162230"/>
                        </a:solidFill>
                        <a:latin typeface="Cambria Math" panose="02040503050406030204" pitchFamily="18" charset="0"/>
                        <a:ea typeface="Cambria" panose="02040503050406030204" pitchFamily="18" charset="0"/>
                      </a:rPr>
                      <m:t>(</m:t>
                    </m:r>
                    <m:r>
                      <a:rPr lang="en-GB" b="1" i="1" noProof="0" smtClean="0">
                        <a:solidFill>
                          <a:srgbClr val="162230"/>
                        </a:solidFill>
                        <a:latin typeface="Cambria Math" panose="02040503050406030204" pitchFamily="18" charset="0"/>
                        <a:ea typeface="Cambria" panose="02040503050406030204" pitchFamily="18" charset="0"/>
                      </a:rPr>
                      <m:t>𝒒</m:t>
                    </m:r>
                    <m:r>
                      <a:rPr lang="en-GB" b="1" i="1" noProof="0" smtClean="0">
                        <a:solidFill>
                          <a:srgbClr val="162230"/>
                        </a:solidFill>
                        <a:latin typeface="Cambria Math" panose="02040503050406030204" pitchFamily="18" charset="0"/>
                        <a:ea typeface="Cambria" panose="02040503050406030204" pitchFamily="18" charset="0"/>
                      </a:rPr>
                      <m:t>)</m:t>
                    </m:r>
                    <m:r>
                      <a:rPr lang="en-GB" b="0" i="1" noProof="0" smtClean="0">
                        <a:solidFill>
                          <a:srgbClr val="162230"/>
                        </a:solidFill>
                        <a:latin typeface="Cambria Math" panose="02040503050406030204" pitchFamily="18" charset="0"/>
                        <a:ea typeface="Cambria" panose="02040503050406030204" pitchFamily="18" charset="0"/>
                      </a:rPr>
                      <m:t>∈</m:t>
                    </m:r>
                    <m:sSup>
                      <m:sSupPr>
                        <m:ctrlPr>
                          <a:rPr lang="en-GB" i="1" noProof="0" smtClean="0">
                            <a:solidFill>
                              <a:srgbClr val="162230"/>
                            </a:solidFill>
                            <a:latin typeface="Cambria Math" panose="02040503050406030204" pitchFamily="18" charset="0"/>
                            <a:ea typeface="Cambria Math" panose="02040503050406030204" pitchFamily="18" charset="0"/>
                          </a:rPr>
                        </m:ctrlPr>
                      </m:sSupPr>
                      <m:e>
                        <m:r>
                          <a:rPr lang="en-GB" b="0" i="1" noProof="0" smtClean="0">
                            <a:solidFill>
                              <a:srgbClr val="162230"/>
                            </a:solidFill>
                            <a:latin typeface="Cambria Math" panose="02040503050406030204" pitchFamily="18" charset="0"/>
                            <a:ea typeface="Cambria Math" panose="02040503050406030204" pitchFamily="18" charset="0"/>
                          </a:rPr>
                          <m:t>ℝ</m:t>
                        </m:r>
                      </m:e>
                      <m:sup>
                        <m:r>
                          <a:rPr lang="en-GB" b="0" i="1" noProof="0" smtClean="0">
                            <a:solidFill>
                              <a:srgbClr val="162230"/>
                            </a:solidFill>
                            <a:latin typeface="Cambria Math" panose="02040503050406030204" pitchFamily="18" charset="0"/>
                            <a:ea typeface="Cambria Math" panose="02040503050406030204" pitchFamily="18" charset="0"/>
                          </a:rPr>
                          <m:t>7×6</m:t>
                        </m:r>
                        <m:r>
                          <m:rPr>
                            <m:nor/>
                          </m:rPr>
                          <a:rPr lang="en-GB" noProof="0" smtClean="0"/>
                          <m:t> </m:t>
                        </m:r>
                      </m:sup>
                    </m:sSup>
                  </m:oMath>
                </a14:m>
                <a:endParaRPr lang="en-GB" sz="2000" noProof="0" dirty="0">
                  <a:solidFill>
                    <a:srgbClr val="162230"/>
                  </a:solidFill>
                  <a:latin typeface="Cambria" panose="02040503050406030204" pitchFamily="18" charset="0"/>
                  <a:ea typeface="Cambria" panose="02040503050406030204" pitchFamily="18" charset="0"/>
                </a:endParaRPr>
              </a:p>
              <a:p>
                <a:pPr marL="457200" lvl="0" indent="-457200">
                  <a:lnSpc>
                    <a:spcPct val="150000"/>
                  </a:lnSpc>
                  <a:spcBef>
                    <a:spcPct val="20000"/>
                  </a:spcBef>
                  <a:buClr>
                    <a:srgbClr val="FFC000"/>
                  </a:buClr>
                  <a:buSzPct val="70000"/>
                  <a:buFont typeface="Wingdings" panose="05000000000000000000" pitchFamily="2" charset="2"/>
                  <a:buChar char="v"/>
                </a:pPr>
                <a:r>
                  <a:rPr lang="en-GB" sz="2000" b="1" noProof="0" dirty="0">
                    <a:solidFill>
                      <a:srgbClr val="162230"/>
                    </a:solidFill>
                    <a:latin typeface="Cambria" panose="02040503050406030204" pitchFamily="18" charset="0"/>
                    <a:ea typeface="Cambria" panose="02040503050406030204" pitchFamily="18" charset="0"/>
                  </a:rPr>
                  <a:t>Dynamic Model</a:t>
                </a:r>
              </a:p>
              <a:p>
                <a:pPr marL="1257300" lvl="2" indent="-342900">
                  <a:lnSpc>
                    <a:spcPct val="150000"/>
                  </a:lnSpc>
                  <a:spcBef>
                    <a:spcPct val="20000"/>
                  </a:spcBef>
                  <a:buClr>
                    <a:srgbClr val="971720"/>
                  </a:buClr>
                  <a:buSzPct val="70000"/>
                  <a:buFont typeface="Wingdings" panose="05000000000000000000" pitchFamily="2" charset="2"/>
                  <a:buChar char="v"/>
                </a:pPr>
                <a14:m>
                  <m:oMath xmlns:m="http://schemas.openxmlformats.org/officeDocument/2006/math">
                    <m:r>
                      <a:rPr lang="en-GB" sz="2000" b="1" i="1" noProof="0" smtClean="0">
                        <a:solidFill>
                          <a:srgbClr val="162230"/>
                        </a:solidFill>
                        <a:latin typeface="Cambria Math" panose="02040503050406030204" pitchFamily="18" charset="0"/>
                        <a:ea typeface="Cambria" panose="02040503050406030204" pitchFamily="18" charset="0"/>
                      </a:rPr>
                      <m:t>𝑴</m:t>
                    </m:r>
                    <m:acc>
                      <m:accPr>
                        <m:chr m:val="̇"/>
                        <m:ctrlPr>
                          <a:rPr lang="en-GB" sz="2000" b="1" i="1" noProof="0" smtClean="0">
                            <a:solidFill>
                              <a:srgbClr val="162230"/>
                            </a:solidFill>
                            <a:latin typeface="Cambria Math" panose="02040503050406030204" pitchFamily="18" charset="0"/>
                            <a:ea typeface="Cambria" panose="02040503050406030204" pitchFamily="18" charset="0"/>
                          </a:rPr>
                        </m:ctrlPr>
                      </m:accPr>
                      <m:e>
                        <m:r>
                          <a:rPr lang="en-GB" sz="2000" b="1" i="1" noProof="0" smtClean="0">
                            <a:solidFill>
                              <a:srgbClr val="162230"/>
                            </a:solidFill>
                            <a:latin typeface="Cambria Math" panose="02040503050406030204" pitchFamily="18" charset="0"/>
                            <a:ea typeface="Cambria Math" panose="02040503050406030204" pitchFamily="18" charset="0"/>
                          </a:rPr>
                          <m:t>𝝂</m:t>
                        </m:r>
                      </m:e>
                    </m:acc>
                    <m:r>
                      <a:rPr lang="en-GB" sz="2000" b="1" i="1" noProof="0" smtClean="0">
                        <a:solidFill>
                          <a:srgbClr val="162230"/>
                        </a:solidFill>
                        <a:latin typeface="Cambria Math" panose="02040503050406030204" pitchFamily="18" charset="0"/>
                        <a:ea typeface="Cambria" panose="02040503050406030204" pitchFamily="18" charset="0"/>
                      </a:rPr>
                      <m:t>+</m:t>
                    </m:r>
                    <m:r>
                      <a:rPr lang="en-GB" sz="2000" b="1" i="1" noProof="0" smtClean="0">
                        <a:solidFill>
                          <a:srgbClr val="162230"/>
                        </a:solidFill>
                        <a:latin typeface="Cambria Math" panose="02040503050406030204" pitchFamily="18" charset="0"/>
                        <a:ea typeface="Cambria" panose="02040503050406030204" pitchFamily="18" charset="0"/>
                      </a:rPr>
                      <m:t>𝑪</m:t>
                    </m:r>
                    <m:d>
                      <m:dPr>
                        <m:ctrlPr>
                          <a:rPr lang="en-GB" sz="2000" b="1" i="1" noProof="0" smtClean="0">
                            <a:solidFill>
                              <a:srgbClr val="162230"/>
                            </a:solidFill>
                            <a:latin typeface="Cambria Math" panose="02040503050406030204" pitchFamily="18" charset="0"/>
                            <a:ea typeface="Cambria" panose="02040503050406030204" pitchFamily="18" charset="0"/>
                          </a:rPr>
                        </m:ctrlPr>
                      </m:dPr>
                      <m:e>
                        <m:r>
                          <a:rPr lang="en-GB" sz="2000" b="1" i="1" noProof="0" smtClean="0">
                            <a:solidFill>
                              <a:srgbClr val="162230"/>
                            </a:solidFill>
                            <a:latin typeface="Cambria Math" panose="02040503050406030204" pitchFamily="18" charset="0"/>
                            <a:ea typeface="Cambria Math" panose="02040503050406030204" pitchFamily="18" charset="0"/>
                          </a:rPr>
                          <m:t>𝝂</m:t>
                        </m:r>
                      </m:e>
                    </m:d>
                    <m:r>
                      <a:rPr lang="en-GB" sz="2000" b="1" i="1" noProof="0" smtClean="0">
                        <a:solidFill>
                          <a:srgbClr val="162230"/>
                        </a:solidFill>
                        <a:latin typeface="Cambria Math" panose="02040503050406030204" pitchFamily="18" charset="0"/>
                        <a:ea typeface="Cambria Math" panose="02040503050406030204" pitchFamily="18" charset="0"/>
                      </a:rPr>
                      <m:t>𝝂</m:t>
                    </m:r>
                    <m:r>
                      <a:rPr lang="en-GB" sz="2000" b="1" i="1" noProof="0" smtClean="0">
                        <a:solidFill>
                          <a:srgbClr val="162230"/>
                        </a:solidFill>
                        <a:latin typeface="Cambria Math" panose="02040503050406030204" pitchFamily="18" charset="0"/>
                        <a:ea typeface="Cambria Math" panose="02040503050406030204" pitchFamily="18" charset="0"/>
                      </a:rPr>
                      <m:t>+</m:t>
                    </m:r>
                    <m:r>
                      <a:rPr lang="en-GB" sz="2000" b="1" i="1" noProof="0" smtClean="0">
                        <a:solidFill>
                          <a:srgbClr val="162230"/>
                        </a:solidFill>
                        <a:latin typeface="Cambria Math" panose="02040503050406030204" pitchFamily="18" charset="0"/>
                        <a:ea typeface="Cambria Math" panose="02040503050406030204" pitchFamily="18" charset="0"/>
                      </a:rPr>
                      <m:t>𝑫</m:t>
                    </m:r>
                    <m:d>
                      <m:dPr>
                        <m:ctrlPr>
                          <a:rPr lang="en-GB" sz="2000" b="1" i="1" noProof="0" smtClean="0">
                            <a:solidFill>
                              <a:srgbClr val="162230"/>
                            </a:solidFill>
                            <a:latin typeface="Cambria Math" panose="02040503050406030204" pitchFamily="18" charset="0"/>
                            <a:ea typeface="Cambria Math" panose="02040503050406030204" pitchFamily="18" charset="0"/>
                          </a:rPr>
                        </m:ctrlPr>
                      </m:dPr>
                      <m:e>
                        <m:r>
                          <a:rPr lang="en-GB" sz="2000" b="1" i="1" noProof="0" smtClean="0">
                            <a:solidFill>
                              <a:srgbClr val="162230"/>
                            </a:solidFill>
                            <a:latin typeface="Cambria Math" panose="02040503050406030204" pitchFamily="18" charset="0"/>
                            <a:ea typeface="Cambria Math" panose="02040503050406030204" pitchFamily="18" charset="0"/>
                          </a:rPr>
                          <m:t>𝝂</m:t>
                        </m:r>
                      </m:e>
                    </m:d>
                    <m:r>
                      <a:rPr lang="en-GB" sz="2000" b="1" i="1" noProof="0" smtClean="0">
                        <a:solidFill>
                          <a:srgbClr val="162230"/>
                        </a:solidFill>
                        <a:latin typeface="Cambria Math" panose="02040503050406030204" pitchFamily="18" charset="0"/>
                        <a:ea typeface="Cambria Math" panose="02040503050406030204" pitchFamily="18" charset="0"/>
                      </a:rPr>
                      <m:t>𝝂</m:t>
                    </m:r>
                    <m:r>
                      <a:rPr lang="en-GB" sz="2000" b="1" i="1" noProof="0" smtClean="0">
                        <a:solidFill>
                          <a:srgbClr val="162230"/>
                        </a:solidFill>
                        <a:latin typeface="Cambria Math" panose="02040503050406030204" pitchFamily="18" charset="0"/>
                        <a:ea typeface="Cambria Math" panose="02040503050406030204" pitchFamily="18" charset="0"/>
                      </a:rPr>
                      <m:t>+</m:t>
                    </m:r>
                    <m:r>
                      <a:rPr lang="en-GB" sz="2000" b="1" i="1" noProof="0" smtClean="0">
                        <a:solidFill>
                          <a:srgbClr val="162230"/>
                        </a:solidFill>
                        <a:latin typeface="Cambria Math" panose="02040503050406030204" pitchFamily="18" charset="0"/>
                        <a:ea typeface="Cambria Math" panose="02040503050406030204" pitchFamily="18" charset="0"/>
                      </a:rPr>
                      <m:t>𝒈</m:t>
                    </m:r>
                    <m:d>
                      <m:dPr>
                        <m:ctrlPr>
                          <a:rPr lang="en-GB" sz="2000" b="1" i="1" noProof="0" smtClean="0">
                            <a:solidFill>
                              <a:srgbClr val="162230"/>
                            </a:solidFill>
                            <a:latin typeface="Cambria Math" panose="02040503050406030204" pitchFamily="18" charset="0"/>
                            <a:ea typeface="Cambria Math" panose="02040503050406030204" pitchFamily="18" charset="0"/>
                          </a:rPr>
                        </m:ctrlPr>
                      </m:dPr>
                      <m:e>
                        <m:r>
                          <a:rPr lang="en-GB" sz="2000" b="1" i="1" noProof="0" smtClean="0">
                            <a:solidFill>
                              <a:srgbClr val="162230"/>
                            </a:solidFill>
                            <a:latin typeface="Cambria Math" panose="02040503050406030204" pitchFamily="18" charset="0"/>
                            <a:ea typeface="Cambria Math" panose="02040503050406030204" pitchFamily="18" charset="0"/>
                          </a:rPr>
                          <m:t>𝒒</m:t>
                        </m:r>
                      </m:e>
                    </m:d>
                    <m:r>
                      <a:rPr lang="en-GB" sz="2000" b="1" i="1" noProof="0" smtClean="0">
                        <a:solidFill>
                          <a:srgbClr val="162230"/>
                        </a:solidFill>
                        <a:latin typeface="Cambria Math" panose="02040503050406030204" pitchFamily="18" charset="0"/>
                        <a:ea typeface="Cambria Math" panose="02040503050406030204" pitchFamily="18" charset="0"/>
                      </a:rPr>
                      <m:t>=</m:t>
                    </m:r>
                    <m:r>
                      <a:rPr lang="en-GB" sz="2000" b="1" i="1" noProof="0" smtClean="0">
                        <a:solidFill>
                          <a:srgbClr val="162230"/>
                        </a:solidFill>
                        <a:latin typeface="Cambria Math" panose="02040503050406030204" pitchFamily="18" charset="0"/>
                        <a:ea typeface="Cambria Math" panose="02040503050406030204" pitchFamily="18" charset="0"/>
                      </a:rPr>
                      <m:t>𝑩</m:t>
                    </m:r>
                    <m:r>
                      <a:rPr lang="en-GB" sz="2000" b="1" i="1" noProof="0" smtClean="0">
                        <a:solidFill>
                          <a:srgbClr val="162230"/>
                        </a:solidFill>
                        <a:latin typeface="Cambria Math" panose="02040503050406030204" pitchFamily="18" charset="0"/>
                        <a:ea typeface="Cambria Math" panose="02040503050406030204" pitchFamily="18" charset="0"/>
                      </a:rPr>
                      <m:t>𝝉</m:t>
                    </m:r>
                  </m:oMath>
                </a14:m>
                <a:endParaRPr lang="en-GB" sz="2400" b="1" noProof="0" dirty="0">
                  <a:solidFill>
                    <a:srgbClr val="162230"/>
                  </a:solidFill>
                  <a:latin typeface="Cambria" panose="02040503050406030204" pitchFamily="18" charset="0"/>
                  <a:ea typeface="Cambria" panose="02040503050406030204" pitchFamily="18" charset="0"/>
                </a:endParaRPr>
              </a:p>
              <a:p>
                <a:pPr marL="1257300" lvl="2" indent="-342900">
                  <a:lnSpc>
                    <a:spcPct val="150000"/>
                  </a:lnSpc>
                  <a:spcBef>
                    <a:spcPct val="20000"/>
                  </a:spcBef>
                  <a:buClr>
                    <a:srgbClr val="971720"/>
                  </a:buClr>
                  <a:buSzPct val="70000"/>
                  <a:buFont typeface="Wingdings" panose="05000000000000000000" pitchFamily="2" charset="2"/>
                  <a:buChar char="v"/>
                </a:pPr>
                <a:r>
                  <a:rPr lang="en-GB" noProof="0" dirty="0">
                    <a:solidFill>
                      <a:srgbClr val="162230"/>
                    </a:solidFill>
                    <a:latin typeface="Cambria" panose="02040503050406030204" pitchFamily="18" charset="0"/>
                    <a:ea typeface="Cambria" panose="02040503050406030204" pitchFamily="18" charset="0"/>
                  </a:rPr>
                  <a:t>Hydrostatics and hydrodynamic (added mass) terms appears in the model</a:t>
                </a:r>
                <a:endParaRPr lang="en-GB" sz="1600" noProof="0" dirty="0">
                  <a:solidFill>
                    <a:srgbClr val="162230"/>
                  </a:solidFill>
                  <a:latin typeface="Cambria" panose="02040503050406030204" pitchFamily="18" charset="0"/>
                  <a:ea typeface="Cambria" panose="02040503050406030204" pitchFamily="18" charset="0"/>
                </a:endParaRPr>
              </a:p>
              <a:p>
                <a:pPr marL="1257300" lvl="2" indent="-342900">
                  <a:lnSpc>
                    <a:spcPct val="150000"/>
                  </a:lnSpc>
                  <a:spcBef>
                    <a:spcPct val="20000"/>
                  </a:spcBef>
                  <a:buClr>
                    <a:srgbClr val="971720"/>
                  </a:buClr>
                  <a:buSzPct val="70000"/>
                  <a:buFont typeface="Wingdings" panose="05000000000000000000" pitchFamily="2" charset="2"/>
                  <a:buChar char="v"/>
                </a:pPr>
                <a14:m>
                  <m:oMath xmlns:m="http://schemas.openxmlformats.org/officeDocument/2006/math">
                    <m:r>
                      <a:rPr lang="en-GB" b="0" i="1" noProof="0" smtClean="0">
                        <a:solidFill>
                          <a:srgbClr val="162230"/>
                        </a:solidFill>
                        <a:latin typeface="Cambria Math" panose="02040503050406030204" pitchFamily="18" charset="0"/>
                        <a:ea typeface="Cambria" panose="02040503050406030204" pitchFamily="18" charset="0"/>
                      </a:rPr>
                      <m:t>𝑀</m:t>
                    </m:r>
                    <m:r>
                      <a:rPr lang="en-GB" b="0" i="1" noProof="0" smtClean="0">
                        <a:solidFill>
                          <a:srgbClr val="162230"/>
                        </a:solidFill>
                        <a:latin typeface="Cambria Math" panose="02040503050406030204" pitchFamily="18" charset="0"/>
                        <a:ea typeface="Cambria" panose="02040503050406030204" pitchFamily="18" charset="0"/>
                      </a:rPr>
                      <m:t>=</m:t>
                    </m:r>
                    <m:sSub>
                      <m:sSubPr>
                        <m:ctrlPr>
                          <a:rPr lang="en-GB" i="1" noProof="0" smtClean="0">
                            <a:solidFill>
                              <a:srgbClr val="162230"/>
                            </a:solidFill>
                            <a:latin typeface="Cambria Math" panose="02040503050406030204" pitchFamily="18" charset="0"/>
                            <a:ea typeface="Cambria" panose="02040503050406030204" pitchFamily="18" charset="0"/>
                          </a:rPr>
                        </m:ctrlPr>
                      </m:sSubPr>
                      <m:e>
                        <m:r>
                          <a:rPr lang="en-GB" b="0" i="1" noProof="0" smtClean="0">
                            <a:solidFill>
                              <a:srgbClr val="162230"/>
                            </a:solidFill>
                            <a:latin typeface="Cambria Math" panose="02040503050406030204" pitchFamily="18" charset="0"/>
                            <a:ea typeface="Cambria" panose="02040503050406030204" pitchFamily="18" charset="0"/>
                          </a:rPr>
                          <m:t>𝑀</m:t>
                        </m:r>
                      </m:e>
                      <m:sub>
                        <m:r>
                          <a:rPr lang="en-GB" b="0" i="1" noProof="0" smtClean="0">
                            <a:solidFill>
                              <a:srgbClr val="162230"/>
                            </a:solidFill>
                            <a:latin typeface="Cambria Math" panose="02040503050406030204" pitchFamily="18" charset="0"/>
                            <a:ea typeface="Cambria" panose="02040503050406030204" pitchFamily="18" charset="0"/>
                          </a:rPr>
                          <m:t>𝐴</m:t>
                        </m:r>
                      </m:sub>
                    </m:sSub>
                    <m:r>
                      <a:rPr lang="en-GB" b="0" i="1" noProof="0" smtClean="0">
                        <a:solidFill>
                          <a:srgbClr val="162230"/>
                        </a:solidFill>
                        <a:latin typeface="Cambria Math" panose="02040503050406030204" pitchFamily="18" charset="0"/>
                        <a:ea typeface="Cambria" panose="02040503050406030204" pitchFamily="18" charset="0"/>
                      </a:rPr>
                      <m:t>+</m:t>
                    </m:r>
                    <m:sSub>
                      <m:sSubPr>
                        <m:ctrlPr>
                          <a:rPr lang="en-GB" i="1" noProof="0" smtClean="0">
                            <a:solidFill>
                              <a:srgbClr val="162230"/>
                            </a:solidFill>
                            <a:latin typeface="Cambria Math" panose="02040503050406030204" pitchFamily="18" charset="0"/>
                            <a:ea typeface="Cambria" panose="02040503050406030204" pitchFamily="18" charset="0"/>
                          </a:rPr>
                        </m:ctrlPr>
                      </m:sSubPr>
                      <m:e>
                        <m:r>
                          <a:rPr lang="en-GB" b="0" i="1" noProof="0" smtClean="0">
                            <a:solidFill>
                              <a:srgbClr val="162230"/>
                            </a:solidFill>
                            <a:latin typeface="Cambria Math" panose="02040503050406030204" pitchFamily="18" charset="0"/>
                            <a:ea typeface="Cambria" panose="02040503050406030204" pitchFamily="18" charset="0"/>
                          </a:rPr>
                          <m:t>𝑀</m:t>
                        </m:r>
                      </m:e>
                      <m:sub>
                        <m:r>
                          <a:rPr lang="en-GB" b="0" i="1" noProof="0" smtClean="0">
                            <a:solidFill>
                              <a:srgbClr val="162230"/>
                            </a:solidFill>
                            <a:latin typeface="Cambria Math" panose="02040503050406030204" pitchFamily="18" charset="0"/>
                            <a:ea typeface="Cambria" panose="02040503050406030204" pitchFamily="18" charset="0"/>
                          </a:rPr>
                          <m:t>𝑅𝐵</m:t>
                        </m:r>
                      </m:sub>
                    </m:sSub>
                    <m:r>
                      <a:rPr lang="en-GB" b="0" i="1" noProof="0" smtClean="0">
                        <a:solidFill>
                          <a:srgbClr val="162230"/>
                        </a:solidFill>
                        <a:latin typeface="Cambria Math" panose="02040503050406030204" pitchFamily="18" charset="0"/>
                        <a:ea typeface="Cambria" panose="02040503050406030204" pitchFamily="18" charset="0"/>
                      </a:rPr>
                      <m:t>&gt;0</m:t>
                    </m:r>
                  </m:oMath>
                </a14:m>
                <a:endParaRPr lang="en-GB" noProof="0" dirty="0">
                  <a:solidFill>
                    <a:srgbClr val="162230"/>
                  </a:solidFill>
                  <a:latin typeface="Cambria" panose="02040503050406030204" pitchFamily="18" charset="0"/>
                  <a:ea typeface="Cambria" panose="02040503050406030204" pitchFamily="18" charset="0"/>
                </a:endParaRPr>
              </a:p>
              <a:p>
                <a:pPr marL="1257300" lvl="2" indent="-342900">
                  <a:lnSpc>
                    <a:spcPct val="150000"/>
                  </a:lnSpc>
                  <a:spcBef>
                    <a:spcPct val="20000"/>
                  </a:spcBef>
                  <a:buClr>
                    <a:srgbClr val="971720"/>
                  </a:buClr>
                  <a:buSzPct val="70000"/>
                  <a:buFont typeface="Wingdings" panose="05000000000000000000" pitchFamily="2" charset="2"/>
                  <a:buChar char="v"/>
                </a:pPr>
                <a14:m>
                  <m:oMath xmlns:m="http://schemas.openxmlformats.org/officeDocument/2006/math">
                    <m:r>
                      <a:rPr lang="en-GB" b="0" i="1" noProof="0" smtClean="0">
                        <a:solidFill>
                          <a:srgbClr val="162230"/>
                        </a:solidFill>
                        <a:latin typeface="Cambria Math" panose="02040503050406030204" pitchFamily="18" charset="0"/>
                        <a:ea typeface="Cambria" panose="02040503050406030204" pitchFamily="18" charset="0"/>
                      </a:rPr>
                      <m:t>𝐶</m:t>
                    </m:r>
                    <m:r>
                      <a:rPr lang="en-GB" b="0" i="1" noProof="0" smtClean="0">
                        <a:solidFill>
                          <a:srgbClr val="162230"/>
                        </a:solidFill>
                        <a:latin typeface="Cambria Math" panose="02040503050406030204" pitchFamily="18" charset="0"/>
                        <a:ea typeface="Cambria" panose="02040503050406030204" pitchFamily="18" charset="0"/>
                      </a:rPr>
                      <m:t>=</m:t>
                    </m:r>
                    <m:sSub>
                      <m:sSubPr>
                        <m:ctrlPr>
                          <a:rPr lang="en-GB" i="1" noProof="0" smtClean="0">
                            <a:solidFill>
                              <a:srgbClr val="162230"/>
                            </a:solidFill>
                            <a:latin typeface="Cambria Math" panose="02040503050406030204" pitchFamily="18" charset="0"/>
                            <a:ea typeface="Cambria" panose="02040503050406030204" pitchFamily="18" charset="0"/>
                          </a:rPr>
                        </m:ctrlPr>
                      </m:sSubPr>
                      <m:e>
                        <m:r>
                          <a:rPr lang="en-GB" b="0" i="1" noProof="0" smtClean="0">
                            <a:solidFill>
                              <a:srgbClr val="162230"/>
                            </a:solidFill>
                            <a:latin typeface="Cambria Math" panose="02040503050406030204" pitchFamily="18" charset="0"/>
                            <a:ea typeface="Cambria" panose="02040503050406030204" pitchFamily="18" charset="0"/>
                          </a:rPr>
                          <m:t>𝐶</m:t>
                        </m:r>
                      </m:e>
                      <m:sub>
                        <m:r>
                          <a:rPr lang="en-GB" b="0" i="1" noProof="0" smtClean="0">
                            <a:solidFill>
                              <a:srgbClr val="162230"/>
                            </a:solidFill>
                            <a:latin typeface="Cambria Math" panose="02040503050406030204" pitchFamily="18" charset="0"/>
                            <a:ea typeface="Cambria" panose="02040503050406030204" pitchFamily="18" charset="0"/>
                          </a:rPr>
                          <m:t>𝑅𝐵</m:t>
                        </m:r>
                      </m:sub>
                    </m:sSub>
                    <m:r>
                      <a:rPr lang="en-GB" b="0" i="1" noProof="0" smtClean="0">
                        <a:solidFill>
                          <a:srgbClr val="162230"/>
                        </a:solidFill>
                        <a:latin typeface="Cambria Math" panose="02040503050406030204" pitchFamily="18" charset="0"/>
                        <a:ea typeface="Cambria" panose="02040503050406030204" pitchFamily="18" charset="0"/>
                      </a:rPr>
                      <m:t>+</m:t>
                    </m:r>
                    <m:sSub>
                      <m:sSubPr>
                        <m:ctrlPr>
                          <a:rPr lang="en-GB" i="1" noProof="0" smtClean="0">
                            <a:solidFill>
                              <a:srgbClr val="162230"/>
                            </a:solidFill>
                            <a:latin typeface="Cambria Math" panose="02040503050406030204" pitchFamily="18" charset="0"/>
                            <a:ea typeface="Cambria" panose="02040503050406030204" pitchFamily="18" charset="0"/>
                          </a:rPr>
                        </m:ctrlPr>
                      </m:sSubPr>
                      <m:e>
                        <m:r>
                          <a:rPr lang="en-GB" b="0" i="1" noProof="0" smtClean="0">
                            <a:solidFill>
                              <a:srgbClr val="162230"/>
                            </a:solidFill>
                            <a:latin typeface="Cambria Math" panose="02040503050406030204" pitchFamily="18" charset="0"/>
                            <a:ea typeface="Cambria" panose="02040503050406030204" pitchFamily="18" charset="0"/>
                          </a:rPr>
                          <m:t>𝐶</m:t>
                        </m:r>
                      </m:e>
                      <m:sub>
                        <m:r>
                          <a:rPr lang="en-GB" b="0" i="1" noProof="0" smtClean="0">
                            <a:solidFill>
                              <a:srgbClr val="162230"/>
                            </a:solidFill>
                            <a:latin typeface="Cambria Math" panose="02040503050406030204" pitchFamily="18" charset="0"/>
                            <a:ea typeface="Cambria" panose="02040503050406030204" pitchFamily="18" charset="0"/>
                          </a:rPr>
                          <m:t>𝐴</m:t>
                        </m:r>
                      </m:sub>
                    </m:sSub>
                  </m:oMath>
                </a14:m>
                <a:endParaRPr lang="en-GB" noProof="0" dirty="0">
                  <a:solidFill>
                    <a:srgbClr val="162230"/>
                  </a:solidFill>
                  <a:latin typeface="Cambria" panose="02040503050406030204" pitchFamily="18" charset="0"/>
                  <a:ea typeface="Cambria" panose="02040503050406030204" pitchFamily="18" charset="0"/>
                </a:endParaRPr>
              </a:p>
              <a:p>
                <a:pPr marL="1257300" lvl="2" indent="-342900">
                  <a:lnSpc>
                    <a:spcPct val="150000"/>
                  </a:lnSpc>
                  <a:spcBef>
                    <a:spcPct val="20000"/>
                  </a:spcBef>
                  <a:buClr>
                    <a:srgbClr val="971720"/>
                  </a:buClr>
                  <a:buSzPct val="70000"/>
                  <a:buFont typeface="Wingdings" panose="05000000000000000000" pitchFamily="2" charset="2"/>
                  <a:buChar char="v"/>
                </a:pPr>
                <a14:m>
                  <m:oMath xmlns:m="http://schemas.openxmlformats.org/officeDocument/2006/math">
                    <m:r>
                      <a:rPr lang="en-GB" b="0" i="1" noProof="0" smtClean="0">
                        <a:solidFill>
                          <a:srgbClr val="162230"/>
                        </a:solidFill>
                        <a:latin typeface="Cambria Math" panose="02040503050406030204" pitchFamily="18" charset="0"/>
                        <a:ea typeface="Cambria" panose="02040503050406030204" pitchFamily="18" charset="0"/>
                      </a:rPr>
                      <m:t>𝐷</m:t>
                    </m:r>
                    <m:r>
                      <a:rPr lang="en-GB" b="0" i="1" noProof="0" smtClean="0">
                        <a:solidFill>
                          <a:srgbClr val="162230"/>
                        </a:solidFill>
                        <a:latin typeface="Cambria Math" panose="02040503050406030204" pitchFamily="18" charset="0"/>
                        <a:ea typeface="Cambria" panose="02040503050406030204" pitchFamily="18" charset="0"/>
                      </a:rPr>
                      <m:t>=</m:t>
                    </m:r>
                    <m:sSub>
                      <m:sSubPr>
                        <m:ctrlPr>
                          <a:rPr lang="en-GB" i="1" noProof="0" smtClean="0">
                            <a:solidFill>
                              <a:srgbClr val="162230"/>
                            </a:solidFill>
                            <a:latin typeface="Cambria Math" panose="02040503050406030204" pitchFamily="18" charset="0"/>
                            <a:ea typeface="Cambria" panose="02040503050406030204" pitchFamily="18" charset="0"/>
                          </a:rPr>
                        </m:ctrlPr>
                      </m:sSubPr>
                      <m:e>
                        <m:r>
                          <a:rPr lang="en-GB" b="0" i="1" noProof="0" smtClean="0">
                            <a:solidFill>
                              <a:srgbClr val="162230"/>
                            </a:solidFill>
                            <a:latin typeface="Cambria Math" panose="02040503050406030204" pitchFamily="18" charset="0"/>
                            <a:ea typeface="Cambria" panose="02040503050406030204" pitchFamily="18" charset="0"/>
                          </a:rPr>
                          <m:t>𝐷</m:t>
                        </m:r>
                      </m:e>
                      <m:sub>
                        <m:r>
                          <a:rPr lang="en-GB" b="0" i="1" noProof="0" smtClean="0">
                            <a:solidFill>
                              <a:srgbClr val="162230"/>
                            </a:solidFill>
                            <a:latin typeface="Cambria Math" panose="02040503050406030204" pitchFamily="18" charset="0"/>
                            <a:ea typeface="Cambria" panose="02040503050406030204" pitchFamily="18" charset="0"/>
                          </a:rPr>
                          <m:t>𝑁𝐿</m:t>
                        </m:r>
                      </m:sub>
                    </m:sSub>
                    <m:r>
                      <a:rPr lang="en-GB" b="0" i="1" noProof="0" smtClean="0">
                        <a:solidFill>
                          <a:srgbClr val="162230"/>
                        </a:solidFill>
                        <a:latin typeface="Cambria Math" panose="02040503050406030204" pitchFamily="18" charset="0"/>
                        <a:ea typeface="Cambria" panose="02040503050406030204" pitchFamily="18" charset="0"/>
                      </a:rPr>
                      <m:t>+</m:t>
                    </m:r>
                    <m:sSub>
                      <m:sSubPr>
                        <m:ctrlPr>
                          <a:rPr lang="en-GB" i="1" noProof="0" smtClean="0">
                            <a:solidFill>
                              <a:srgbClr val="162230"/>
                            </a:solidFill>
                            <a:latin typeface="Cambria Math" panose="02040503050406030204" pitchFamily="18" charset="0"/>
                            <a:ea typeface="Cambria" panose="02040503050406030204" pitchFamily="18" charset="0"/>
                          </a:rPr>
                        </m:ctrlPr>
                      </m:sSubPr>
                      <m:e>
                        <m:r>
                          <a:rPr lang="en-GB" b="0" i="1" noProof="0" smtClean="0">
                            <a:solidFill>
                              <a:srgbClr val="162230"/>
                            </a:solidFill>
                            <a:latin typeface="Cambria Math" panose="02040503050406030204" pitchFamily="18" charset="0"/>
                            <a:ea typeface="Cambria" panose="02040503050406030204" pitchFamily="18" charset="0"/>
                          </a:rPr>
                          <m:t>𝐷</m:t>
                        </m:r>
                      </m:e>
                      <m:sub>
                        <m:r>
                          <a:rPr lang="en-GB" b="0" i="1" noProof="0" smtClean="0">
                            <a:solidFill>
                              <a:srgbClr val="162230"/>
                            </a:solidFill>
                            <a:latin typeface="Cambria Math" panose="02040503050406030204" pitchFamily="18" charset="0"/>
                            <a:ea typeface="Cambria" panose="02040503050406030204" pitchFamily="18" charset="0"/>
                          </a:rPr>
                          <m:t>𝐿</m:t>
                        </m:r>
                      </m:sub>
                    </m:sSub>
                  </m:oMath>
                </a14:m>
                <a:endParaRPr lang="en-GB" sz="2000" noProof="0" dirty="0">
                  <a:solidFill>
                    <a:srgbClr val="162230"/>
                  </a:solidFill>
                  <a:latin typeface="Century Gothic" pitchFamily="34" charset="0"/>
                  <a:ea typeface="Cambria" panose="02040503050406030204" pitchFamily="18" charset="0"/>
                </a:endParaRPr>
              </a:p>
              <a:p>
                <a:pPr marL="1257300" lvl="2" indent="-342900">
                  <a:lnSpc>
                    <a:spcPct val="150000"/>
                  </a:lnSpc>
                  <a:spcBef>
                    <a:spcPct val="20000"/>
                  </a:spcBef>
                  <a:buClr>
                    <a:srgbClr val="971720"/>
                  </a:buClr>
                  <a:buSzPct val="70000"/>
                  <a:buFont typeface="Wingdings" panose="05000000000000000000" pitchFamily="2" charset="2"/>
                  <a:buChar char="v"/>
                </a:pPr>
                <a14:m>
                  <m:oMath xmlns:m="http://schemas.openxmlformats.org/officeDocument/2006/math">
                    <m:r>
                      <a:rPr lang="en-GB" b="0" i="1" noProof="0" smtClean="0">
                        <a:solidFill>
                          <a:srgbClr val="162230"/>
                        </a:solidFill>
                        <a:latin typeface="Cambria Math" panose="02040503050406030204" pitchFamily="18" charset="0"/>
                        <a:ea typeface="Cambria" panose="02040503050406030204" pitchFamily="18" charset="0"/>
                      </a:rPr>
                      <m:t>𝑔</m:t>
                    </m:r>
                    <m:d>
                      <m:dPr>
                        <m:ctrlPr>
                          <a:rPr lang="en-GB" b="0" i="1" noProof="0" smtClean="0">
                            <a:solidFill>
                              <a:srgbClr val="162230"/>
                            </a:solidFill>
                            <a:latin typeface="Cambria Math" panose="02040503050406030204" pitchFamily="18" charset="0"/>
                            <a:ea typeface="Cambria" panose="02040503050406030204" pitchFamily="18" charset="0"/>
                          </a:rPr>
                        </m:ctrlPr>
                      </m:dPr>
                      <m:e>
                        <m:r>
                          <a:rPr lang="en-GB" b="0" i="1" noProof="0" smtClean="0">
                            <a:solidFill>
                              <a:srgbClr val="162230"/>
                            </a:solidFill>
                            <a:latin typeface="Cambria Math" panose="02040503050406030204" pitchFamily="18" charset="0"/>
                            <a:ea typeface="Cambria" panose="02040503050406030204" pitchFamily="18" charset="0"/>
                          </a:rPr>
                          <m:t>𝑞</m:t>
                        </m:r>
                      </m:e>
                    </m:d>
                  </m:oMath>
                </a14:m>
                <a:r>
                  <a:rPr lang="en-GB" noProof="0" dirty="0">
                    <a:solidFill>
                      <a:srgbClr val="162230"/>
                    </a:solidFill>
                    <a:latin typeface="Century Gothic" pitchFamily="34" charset="0"/>
                    <a:ea typeface="Cambria" panose="02040503050406030204" pitchFamily="18" charset="0"/>
                  </a:rPr>
                  <a:t> </a:t>
                </a:r>
                <a:r>
                  <a:rPr lang="en-GB" noProof="0" dirty="0">
                    <a:solidFill>
                      <a:srgbClr val="162230"/>
                    </a:solidFill>
                    <a:latin typeface="Cambria" panose="02040503050406030204" pitchFamily="18" charset="0"/>
                    <a:ea typeface="Cambria" panose="02040503050406030204" pitchFamily="18" charset="0"/>
                  </a:rPr>
                  <a:t>vector of forces and moments due to gravity and buoyancy</a:t>
                </a:r>
              </a:p>
              <a:p>
                <a:pPr marL="1257300" lvl="2" indent="-342900">
                  <a:lnSpc>
                    <a:spcPct val="150000"/>
                  </a:lnSpc>
                  <a:spcBef>
                    <a:spcPct val="20000"/>
                  </a:spcBef>
                  <a:buClr>
                    <a:srgbClr val="971720"/>
                  </a:buClr>
                  <a:buSzPct val="70000"/>
                  <a:buFont typeface="Wingdings" panose="05000000000000000000" pitchFamily="2" charset="2"/>
                  <a:buChar char="v"/>
                </a:pPr>
                <a:r>
                  <a:rPr lang="en-GB" i="1" noProof="0" dirty="0">
                    <a:solidFill>
                      <a:srgbClr val="162230"/>
                    </a:solidFill>
                    <a:latin typeface="Cambria" panose="02040503050406030204" pitchFamily="18" charset="0"/>
                    <a:ea typeface="Cambria" panose="02040503050406030204" pitchFamily="18" charset="0"/>
                  </a:rPr>
                  <a:t>B </a:t>
                </a:r>
                <a:r>
                  <a:rPr lang="en-GB" noProof="0" dirty="0">
                    <a:solidFill>
                      <a:srgbClr val="162230"/>
                    </a:solidFill>
                    <a:latin typeface="Cambria" panose="02040503050406030204" pitchFamily="18" charset="0"/>
                    <a:ea typeface="Cambria" panose="02040503050406030204" pitchFamily="18" charset="0"/>
                  </a:rPr>
                  <a:t>is the allocation matrix that maps the thrusts (</a:t>
                </a:r>
                <a14:m>
                  <m:oMath xmlns:m="http://schemas.openxmlformats.org/officeDocument/2006/math">
                    <m:r>
                      <a:rPr lang="en-GB" b="1" i="1">
                        <a:solidFill>
                          <a:srgbClr val="162230"/>
                        </a:solidFill>
                        <a:latin typeface="Cambria Math" panose="02040503050406030204" pitchFamily="18" charset="0"/>
                        <a:ea typeface="Cambria Math" panose="02040503050406030204" pitchFamily="18" charset="0"/>
                      </a:rPr>
                      <m:t>𝝉</m:t>
                    </m:r>
                  </m:oMath>
                </a14:m>
                <a:r>
                  <a:rPr lang="en-GB" noProof="0" dirty="0">
                    <a:solidFill>
                      <a:srgbClr val="162230"/>
                    </a:solidFill>
                    <a:latin typeface="Cambria" panose="02040503050406030204" pitchFamily="18" charset="0"/>
                    <a:ea typeface="Cambria" panose="02040503050406030204" pitchFamily="18" charset="0"/>
                  </a:rPr>
                  <a:t>) into the generalized forces and moments (</a:t>
                </a:r>
                <a14:m>
                  <m:oMath xmlns:m="http://schemas.openxmlformats.org/officeDocument/2006/math">
                    <m:r>
                      <a:rPr lang="it-IT" b="1" i="1">
                        <a:solidFill>
                          <a:srgbClr val="162230"/>
                        </a:solidFill>
                        <a:latin typeface="Cambria Math" panose="02040503050406030204" pitchFamily="18" charset="0"/>
                        <a:ea typeface="Cambria" panose="02040503050406030204" pitchFamily="18" charset="0"/>
                      </a:rPr>
                      <m:t>𝒖</m:t>
                    </m:r>
                  </m:oMath>
                </a14:m>
                <a:r>
                  <a:rPr lang="en-GB" noProof="0" dirty="0">
                    <a:solidFill>
                      <a:srgbClr val="162230"/>
                    </a:solidFill>
                    <a:latin typeface="Cambria" panose="02040503050406030204" pitchFamily="18" charset="0"/>
                    <a:ea typeface="Cambria" panose="02040503050406030204" pitchFamily="18" charset="0"/>
                  </a:rPr>
                  <a:t>) </a:t>
                </a:r>
              </a:p>
            </p:txBody>
          </p:sp>
        </mc:Choice>
        <mc:Fallback>
          <p:sp>
            <p:nvSpPr>
              <p:cNvPr id="3" name="Rectangle 2">
                <a:extLst>
                  <a:ext uri="{FF2B5EF4-FFF2-40B4-BE49-F238E27FC236}">
                    <a16:creationId xmlns:a16="http://schemas.microsoft.com/office/drawing/2014/main" id="{4C3D64C3-DD75-A96A-4A22-53C1AD530A5A}"/>
                  </a:ext>
                </a:extLst>
              </p:cNvPr>
              <p:cNvSpPr>
                <a:spLocks noRot="1" noChangeAspect="1" noMove="1" noResize="1" noEditPoints="1" noAdjustHandles="1" noChangeArrowheads="1" noChangeShapeType="1" noTextEdit="1"/>
              </p:cNvSpPr>
              <p:nvPr/>
            </p:nvSpPr>
            <p:spPr>
              <a:xfrm>
                <a:off x="55808" y="0"/>
                <a:ext cx="12080384" cy="6356677"/>
              </a:xfrm>
              <a:prstGeom prst="rect">
                <a:avLst/>
              </a:prstGeom>
              <a:blipFill>
                <a:blip r:embed="rId4"/>
                <a:stretch>
                  <a:fillRect l="-656" t="-767" b="-384"/>
                </a:stretch>
              </a:blipFill>
            </p:spPr>
            <p:txBody>
              <a:bodyPr/>
              <a:lstStyle/>
              <a:p>
                <a:r>
                  <a:rPr lang="it-IT">
                    <a:noFill/>
                  </a:rPr>
                  <a:t> </a:t>
                </a:r>
              </a:p>
            </p:txBody>
          </p:sp>
        </mc:Fallback>
      </mc:AlternateContent>
    </p:spTree>
    <p:extLst>
      <p:ext uri="{BB962C8B-B14F-4D97-AF65-F5344CB8AC3E}">
        <p14:creationId xmlns:p14="http://schemas.microsoft.com/office/powerpoint/2010/main" val="4192732104"/>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633C1-91ED-1255-8984-88239C983423}"/>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B5F80DF4-4E6A-4EB9-2889-A3C818F0BB36}"/>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en-GB" kern="0" noProof="0" dirty="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8387BFD4-EC7E-0DE8-0B3C-8C2933CD6A5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B593FFAF-786D-E8C9-CAD2-4C50220B589B}"/>
              </a:ext>
            </a:extLst>
          </p:cNvPr>
          <p:cNvSpPr/>
          <p:nvPr/>
        </p:nvSpPr>
        <p:spPr>
          <a:xfrm>
            <a:off x="14286" y="6598816"/>
            <a:ext cx="12177714" cy="307777"/>
          </a:xfrm>
          <a:prstGeom prst="rect">
            <a:avLst/>
          </a:prstGeom>
        </p:spPr>
        <p:txBody>
          <a:bodyPr wrap="square">
            <a:spAutoFit/>
          </a:bodyPr>
          <a:lstStyle/>
          <a:p>
            <a:pPr algn="ct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noProof="0" dirty="0">
                <a:solidFill>
                  <a:srgbClr val="162230"/>
                </a:solidFill>
                <a:latin typeface="Century Gothic"/>
                <a:cs typeface="Century Gothic"/>
              </a:rPr>
              <a:t>BLUEROV2</a:t>
            </a:r>
          </a:p>
        </p:txBody>
      </p:sp>
      <p:sp>
        <p:nvSpPr>
          <p:cNvPr id="3" name="Rectangle 2">
            <a:extLst>
              <a:ext uri="{FF2B5EF4-FFF2-40B4-BE49-F238E27FC236}">
                <a16:creationId xmlns:a16="http://schemas.microsoft.com/office/drawing/2014/main" id="{0DFF442D-143B-9EFF-C4C7-FFCD80775EA9}"/>
              </a:ext>
            </a:extLst>
          </p:cNvPr>
          <p:cNvSpPr/>
          <p:nvPr/>
        </p:nvSpPr>
        <p:spPr>
          <a:xfrm>
            <a:off x="111616" y="122442"/>
            <a:ext cx="12080384" cy="2948436"/>
          </a:xfrm>
          <a:prstGeom prst="rect">
            <a:avLst/>
          </a:prstGeom>
          <a:solidFill>
            <a:schemeClr val="bg1"/>
          </a:solidFill>
        </p:spPr>
        <p:txBody>
          <a:bodyPr wrap="square">
            <a:spAutoFit/>
          </a:bodyPr>
          <a:lstStyle/>
          <a:p>
            <a:pPr marL="457200" indent="-457200">
              <a:spcAft>
                <a:spcPts val="600"/>
              </a:spcAft>
              <a:buClr>
                <a:srgbClr val="971720"/>
              </a:buClr>
              <a:buFont typeface="Wingdings" panose="05000000000000000000" pitchFamily="2" charset="2"/>
              <a:buChar char="v"/>
            </a:pPr>
            <a:r>
              <a:rPr lang="en-GB" sz="2400" b="1" noProof="0" dirty="0">
                <a:solidFill>
                  <a:srgbClr val="971720"/>
                </a:solidFill>
                <a:latin typeface="Cambria" panose="02040503050406030204" pitchFamily="18" charset="0"/>
                <a:ea typeface="Cambria" panose="02040503050406030204" pitchFamily="18" charset="0"/>
                <a:cs typeface="Century Gothic"/>
              </a:rPr>
              <a:t>BlueROV2</a:t>
            </a:r>
          </a:p>
          <a:p>
            <a:pPr marL="457200" lvl="0" indent="-457200">
              <a:lnSpc>
                <a:spcPct val="150000"/>
              </a:lnSpc>
              <a:spcBef>
                <a:spcPct val="20000"/>
              </a:spcBef>
              <a:buClr>
                <a:srgbClr val="FFC000"/>
              </a:buClr>
              <a:buSzPct val="70000"/>
              <a:buFont typeface="Wingdings" panose="05000000000000000000" pitchFamily="2" charset="2"/>
              <a:buChar char="v"/>
            </a:pPr>
            <a:r>
              <a:rPr lang="en-GB" noProof="0" dirty="0">
                <a:solidFill>
                  <a:srgbClr val="162230"/>
                </a:solidFill>
                <a:latin typeface="Cambria" panose="02040503050406030204" pitchFamily="18" charset="0"/>
                <a:ea typeface="Cambria" panose="02040503050406030204" pitchFamily="18" charset="0"/>
              </a:rPr>
              <a:t>The physical system used for this project is the </a:t>
            </a:r>
            <a:r>
              <a:rPr lang="en-GB" b="1" noProof="0" dirty="0">
                <a:solidFill>
                  <a:srgbClr val="162230"/>
                </a:solidFill>
                <a:latin typeface="Cambria" panose="02040503050406030204" pitchFamily="18" charset="0"/>
                <a:ea typeface="Cambria" panose="02040503050406030204" pitchFamily="18" charset="0"/>
              </a:rPr>
              <a:t>BlueROV2Heavy</a:t>
            </a:r>
            <a:r>
              <a:rPr lang="en-GB" noProof="0" dirty="0">
                <a:solidFill>
                  <a:srgbClr val="162230"/>
                </a:solidFill>
                <a:latin typeface="Cambria" panose="02040503050406030204" pitchFamily="18" charset="0"/>
                <a:ea typeface="Cambria" panose="02040503050406030204" pitchFamily="18" charset="0"/>
              </a:rPr>
              <a:t> (BlueRobotics 2018a)</a:t>
            </a:r>
          </a:p>
          <a:p>
            <a:pPr marL="457200" lvl="0" indent="-457200">
              <a:lnSpc>
                <a:spcPct val="150000"/>
              </a:lnSpc>
              <a:spcBef>
                <a:spcPct val="20000"/>
              </a:spcBef>
              <a:buClr>
                <a:srgbClr val="FFC000"/>
              </a:buClr>
              <a:buSzPct val="70000"/>
              <a:buFont typeface="Wingdings" panose="05000000000000000000" pitchFamily="2" charset="2"/>
              <a:buChar char="v"/>
            </a:pPr>
            <a:r>
              <a:rPr lang="en-GB" b="1" noProof="0" dirty="0">
                <a:solidFill>
                  <a:srgbClr val="162230"/>
                </a:solidFill>
                <a:latin typeface="Cambria" panose="02040503050406030204" pitchFamily="18" charset="0"/>
                <a:ea typeface="Cambria" panose="02040503050406030204" pitchFamily="18" charset="0"/>
              </a:rPr>
              <a:t>Eight</a:t>
            </a:r>
            <a:r>
              <a:rPr lang="en-GB" noProof="0" dirty="0">
                <a:solidFill>
                  <a:srgbClr val="162230"/>
                </a:solidFill>
                <a:latin typeface="Cambria" panose="02040503050406030204" pitchFamily="18" charset="0"/>
                <a:ea typeface="Cambria" panose="02040503050406030204" pitchFamily="18" charset="0"/>
              </a:rPr>
              <a:t> thrusters instead of six</a:t>
            </a:r>
          </a:p>
          <a:p>
            <a:pPr marL="457200" lvl="0" indent="-457200">
              <a:lnSpc>
                <a:spcPct val="150000"/>
              </a:lnSpc>
              <a:spcBef>
                <a:spcPct val="20000"/>
              </a:spcBef>
              <a:buClr>
                <a:srgbClr val="FFC000"/>
              </a:buClr>
              <a:buSzPct val="70000"/>
              <a:buFont typeface="Wingdings" panose="05000000000000000000" pitchFamily="2" charset="2"/>
              <a:buChar char="v"/>
            </a:pPr>
            <a:r>
              <a:rPr lang="en-GB" b="1" noProof="0" dirty="0">
                <a:solidFill>
                  <a:srgbClr val="162230"/>
                </a:solidFill>
                <a:latin typeface="Cambria" panose="02040503050406030204" pitchFamily="18" charset="0"/>
                <a:ea typeface="Cambria" panose="02040503050406030204" pitchFamily="18" charset="0"/>
              </a:rPr>
              <a:t>Fully actuated</a:t>
            </a:r>
          </a:p>
          <a:p>
            <a:pPr marL="457200" lvl="0" indent="-457200">
              <a:lnSpc>
                <a:spcPct val="150000"/>
              </a:lnSpc>
              <a:spcBef>
                <a:spcPct val="20000"/>
              </a:spcBef>
              <a:buClr>
                <a:srgbClr val="FFC000"/>
              </a:buClr>
              <a:buSzPct val="70000"/>
              <a:buFont typeface="Wingdings" panose="05000000000000000000" pitchFamily="2" charset="2"/>
              <a:buChar char="v"/>
            </a:pPr>
            <a:endParaRPr lang="en-GB" noProof="0" dirty="0">
              <a:solidFill>
                <a:srgbClr val="162230"/>
              </a:solidFill>
              <a:latin typeface="Cambria" panose="02040503050406030204" pitchFamily="18" charset="0"/>
              <a:ea typeface="Cambria" panose="02040503050406030204" pitchFamily="18" charset="0"/>
            </a:endParaRPr>
          </a:p>
          <a:p>
            <a:pPr lvl="1">
              <a:lnSpc>
                <a:spcPct val="150000"/>
              </a:lnSpc>
              <a:spcBef>
                <a:spcPct val="20000"/>
              </a:spcBef>
              <a:buClr>
                <a:srgbClr val="971720"/>
              </a:buClr>
              <a:buSzPct val="70000"/>
            </a:pPr>
            <a:endParaRPr lang="en-GB" sz="2000" noProof="0" dirty="0">
              <a:solidFill>
                <a:srgbClr val="162230"/>
              </a:solidFill>
              <a:latin typeface="Century Gothic" pitchFamily="34" charset="0"/>
            </a:endParaRPr>
          </a:p>
        </p:txBody>
      </p:sp>
      <p:pic>
        <p:nvPicPr>
          <p:cNvPr id="5" name="Immagine 4" descr="Immagine che contiene diagramma, disegno, Disegno tecnico, Piano&#10;&#10;Il contenuto generato dall'IA potrebbe non essere corretto.">
            <a:extLst>
              <a:ext uri="{FF2B5EF4-FFF2-40B4-BE49-F238E27FC236}">
                <a16:creationId xmlns:a16="http://schemas.microsoft.com/office/drawing/2014/main" id="{DC5E0602-0244-510C-62B0-68598C62D0D8}"/>
              </a:ext>
            </a:extLst>
          </p:cNvPr>
          <p:cNvPicPr>
            <a:picLocks noChangeAspect="1"/>
          </p:cNvPicPr>
          <p:nvPr/>
        </p:nvPicPr>
        <p:blipFill>
          <a:blip r:embed="rId4"/>
          <a:stretch>
            <a:fillRect/>
          </a:stretch>
        </p:blipFill>
        <p:spPr>
          <a:xfrm>
            <a:off x="6096000" y="1475444"/>
            <a:ext cx="3971803" cy="4623357"/>
          </a:xfrm>
          <a:prstGeom prst="rect">
            <a:avLst/>
          </a:prstGeom>
        </p:spPr>
      </p:pic>
      <p:pic>
        <p:nvPicPr>
          <p:cNvPr id="7" name="Immagine 6" descr="Immagine che contiene Ricambio auto, moto, automobile&#10;&#10;Il contenuto generato dall'IA potrebbe non essere corretto.">
            <a:extLst>
              <a:ext uri="{FF2B5EF4-FFF2-40B4-BE49-F238E27FC236}">
                <a16:creationId xmlns:a16="http://schemas.microsoft.com/office/drawing/2014/main" id="{069C58BA-27D9-CE8C-FDC6-F005E1583C6C}"/>
              </a:ext>
            </a:extLst>
          </p:cNvPr>
          <p:cNvPicPr>
            <a:picLocks noChangeAspect="1"/>
          </p:cNvPicPr>
          <p:nvPr/>
        </p:nvPicPr>
        <p:blipFill>
          <a:blip r:embed="rId5"/>
          <a:stretch>
            <a:fillRect/>
          </a:stretch>
        </p:blipFill>
        <p:spPr>
          <a:xfrm>
            <a:off x="701566" y="2320985"/>
            <a:ext cx="4227786" cy="4227786"/>
          </a:xfrm>
          <a:prstGeom prst="rect">
            <a:avLst/>
          </a:prstGeom>
        </p:spPr>
      </p:pic>
    </p:spTree>
    <p:extLst>
      <p:ext uri="{BB962C8B-B14F-4D97-AF65-F5344CB8AC3E}">
        <p14:creationId xmlns:p14="http://schemas.microsoft.com/office/powerpoint/2010/main" val="155388319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ADF30-8BC7-1937-F973-01F345895CE5}"/>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0286B250-8C5C-A95F-1408-C56FB41AF124}"/>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en-GB" kern="0" noProof="0" dirty="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18DF10CE-354A-25A6-6511-06038496AFA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29E63D80-2B56-F70F-16B1-0C522996DB2F}"/>
              </a:ext>
            </a:extLst>
          </p:cNvPr>
          <p:cNvSpPr/>
          <p:nvPr/>
        </p:nvSpPr>
        <p:spPr>
          <a:xfrm>
            <a:off x="14286" y="6598816"/>
            <a:ext cx="12177714" cy="307777"/>
          </a:xfrm>
          <a:prstGeom prst="rect">
            <a:avLst/>
          </a:prstGeom>
        </p:spPr>
        <p:txBody>
          <a:bodyPr wrap="square">
            <a:spAutoFit/>
          </a:bodyPr>
          <a:lstStyle/>
          <a:p>
            <a:pPr algn="ct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noProof="0" dirty="0">
                <a:solidFill>
                  <a:srgbClr val="162230"/>
                </a:solidFill>
                <a:latin typeface="Century Gothic"/>
                <a:cs typeface="Century Gothic"/>
              </a:rPr>
              <a:t>CONTROLLERS(1)</a:t>
            </a:r>
          </a:p>
        </p:txBody>
      </p:sp>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05A456D0-8DD4-69AA-464B-D1C969FDE2D5}"/>
                  </a:ext>
                </a:extLst>
              </p:cNvPr>
              <p:cNvSpPr/>
              <p:nvPr/>
            </p:nvSpPr>
            <p:spPr>
              <a:xfrm>
                <a:off x="111616" y="122442"/>
                <a:ext cx="12080384" cy="4270977"/>
              </a:xfrm>
              <a:prstGeom prst="rect">
                <a:avLst/>
              </a:prstGeom>
              <a:solidFill>
                <a:schemeClr val="bg1"/>
              </a:solidFill>
            </p:spPr>
            <p:txBody>
              <a:bodyPr wrap="square">
                <a:spAutoFit/>
              </a:bodyPr>
              <a:lstStyle/>
              <a:p>
                <a:pPr marL="457200" indent="-457200">
                  <a:spcAft>
                    <a:spcPts val="600"/>
                  </a:spcAft>
                  <a:buClr>
                    <a:srgbClr val="971720"/>
                  </a:buClr>
                  <a:buFont typeface="Wingdings" panose="05000000000000000000" pitchFamily="2" charset="2"/>
                  <a:buChar char="v"/>
                </a:pPr>
                <a:r>
                  <a:rPr lang="en-GB" sz="2400" b="1" noProof="0" dirty="0">
                    <a:solidFill>
                      <a:srgbClr val="971720"/>
                    </a:solidFill>
                    <a:latin typeface="Cambria" panose="02040503050406030204" pitchFamily="18" charset="0"/>
                    <a:ea typeface="Cambria" panose="02040503050406030204" pitchFamily="18" charset="0"/>
                    <a:cs typeface="Century Gothic"/>
                  </a:rPr>
                  <a:t>Controllers</a:t>
                </a:r>
              </a:p>
              <a:p>
                <a:pPr marL="457200" lvl="0" indent="-457200">
                  <a:lnSpc>
                    <a:spcPct val="150000"/>
                  </a:lnSpc>
                  <a:spcBef>
                    <a:spcPct val="20000"/>
                  </a:spcBef>
                  <a:buClr>
                    <a:srgbClr val="FFC000"/>
                  </a:buClr>
                  <a:buSzPct val="70000"/>
                  <a:buFont typeface="Wingdings" panose="05000000000000000000" pitchFamily="2" charset="2"/>
                  <a:buChar char="v"/>
                </a:pPr>
                <a:r>
                  <a:rPr lang="en-GB" sz="2000" b="1" noProof="0" dirty="0">
                    <a:solidFill>
                      <a:srgbClr val="162230"/>
                    </a:solidFill>
                    <a:latin typeface="Cambria" panose="02040503050406030204" pitchFamily="18" charset="0"/>
                    <a:ea typeface="Cambria" panose="02040503050406030204" pitchFamily="18" charset="0"/>
                  </a:rPr>
                  <a:t>Sliding Mode Controller</a:t>
                </a:r>
              </a:p>
              <a:p>
                <a:pPr marL="1257300" lvl="2" indent="-342900">
                  <a:lnSpc>
                    <a:spcPct val="150000"/>
                  </a:lnSpc>
                  <a:spcBef>
                    <a:spcPct val="20000"/>
                  </a:spcBef>
                  <a:buClr>
                    <a:srgbClr val="971720"/>
                  </a:buClr>
                  <a:buSzPct val="70000"/>
                  <a:buFont typeface="Wingdings" panose="05000000000000000000" pitchFamily="2" charset="2"/>
                  <a:buChar char="v"/>
                </a:pPr>
                <a:r>
                  <a:rPr lang="en-GB" sz="2000" noProof="0" dirty="0">
                    <a:solidFill>
                      <a:srgbClr val="162230"/>
                    </a:solidFill>
                    <a:latin typeface="Cambria" panose="02040503050406030204" pitchFamily="18" charset="0"/>
                    <a:ea typeface="Cambria" panose="02040503050406030204" pitchFamily="18" charset="0"/>
                  </a:rPr>
                  <a:t>The sliding surface is defined as </a:t>
                </a:r>
                <a14:m>
                  <m:oMath xmlns:m="http://schemas.openxmlformats.org/officeDocument/2006/math">
                    <m:r>
                      <a:rPr lang="en-GB" sz="2000" b="1" i="1" noProof="0" smtClean="0">
                        <a:solidFill>
                          <a:srgbClr val="162230"/>
                        </a:solidFill>
                        <a:latin typeface="Cambria Math" panose="02040503050406030204" pitchFamily="18" charset="0"/>
                        <a:ea typeface="Cambria" panose="02040503050406030204" pitchFamily="18" charset="0"/>
                      </a:rPr>
                      <m:t>𝒔</m:t>
                    </m:r>
                    <m:r>
                      <a:rPr lang="en-GB" sz="2000" b="1" i="1" noProof="0" smtClean="0">
                        <a:solidFill>
                          <a:srgbClr val="162230"/>
                        </a:solidFill>
                        <a:latin typeface="Cambria Math" panose="02040503050406030204" pitchFamily="18" charset="0"/>
                        <a:ea typeface="Cambria" panose="02040503050406030204" pitchFamily="18" charset="0"/>
                      </a:rPr>
                      <m:t>=</m:t>
                    </m:r>
                    <m:acc>
                      <m:accPr>
                        <m:chr m:val="̇"/>
                        <m:ctrlPr>
                          <a:rPr lang="en-GB" sz="2000" b="1" i="1" noProof="0" smtClean="0">
                            <a:solidFill>
                              <a:srgbClr val="162230"/>
                            </a:solidFill>
                            <a:latin typeface="Cambria Math" panose="02040503050406030204" pitchFamily="18" charset="0"/>
                            <a:ea typeface="Cambria" panose="02040503050406030204" pitchFamily="18" charset="0"/>
                          </a:rPr>
                        </m:ctrlPr>
                      </m:accPr>
                      <m:e>
                        <m:acc>
                          <m:accPr>
                            <m:chr m:val="̃"/>
                            <m:ctrlPr>
                              <a:rPr lang="en-GB" sz="2000" b="1" i="1" noProof="0" smtClean="0">
                                <a:solidFill>
                                  <a:srgbClr val="162230"/>
                                </a:solidFill>
                                <a:latin typeface="Cambria Math" panose="02040503050406030204" pitchFamily="18" charset="0"/>
                                <a:ea typeface="Cambria" panose="02040503050406030204" pitchFamily="18" charset="0"/>
                              </a:rPr>
                            </m:ctrlPr>
                          </m:accPr>
                          <m:e>
                            <m:r>
                              <a:rPr lang="en-GB" sz="2000" b="1" i="1" noProof="0" smtClean="0">
                                <a:solidFill>
                                  <a:srgbClr val="162230"/>
                                </a:solidFill>
                                <a:latin typeface="Cambria Math" panose="02040503050406030204" pitchFamily="18" charset="0"/>
                                <a:ea typeface="Cambria" panose="02040503050406030204" pitchFamily="18" charset="0"/>
                              </a:rPr>
                              <m:t>𝒙</m:t>
                            </m:r>
                          </m:e>
                        </m:acc>
                      </m:e>
                    </m:acc>
                    <m:r>
                      <a:rPr lang="en-GB" sz="2000" b="1" i="1" noProof="0" smtClean="0">
                        <a:solidFill>
                          <a:srgbClr val="162230"/>
                        </a:solidFill>
                        <a:latin typeface="Cambria Math" panose="02040503050406030204" pitchFamily="18" charset="0"/>
                        <a:ea typeface="Cambria" panose="02040503050406030204" pitchFamily="18" charset="0"/>
                      </a:rPr>
                      <m:t>−</m:t>
                    </m:r>
                    <m:r>
                      <a:rPr lang="en-GB" sz="2000" b="1" i="1" noProof="0" smtClean="0">
                        <a:solidFill>
                          <a:srgbClr val="162230"/>
                        </a:solidFill>
                        <a:latin typeface="Cambria Math" panose="02040503050406030204" pitchFamily="18" charset="0"/>
                        <a:ea typeface="Cambria Math" panose="02040503050406030204" pitchFamily="18" charset="0"/>
                      </a:rPr>
                      <m:t>𝜦</m:t>
                    </m:r>
                    <m:acc>
                      <m:accPr>
                        <m:chr m:val="̃"/>
                        <m:ctrlPr>
                          <a:rPr lang="en-GB" sz="2000" b="1" i="1" noProof="0" smtClean="0">
                            <a:solidFill>
                              <a:srgbClr val="162230"/>
                            </a:solidFill>
                            <a:latin typeface="Cambria Math" panose="02040503050406030204" pitchFamily="18" charset="0"/>
                            <a:ea typeface="Cambria" panose="02040503050406030204" pitchFamily="18" charset="0"/>
                          </a:rPr>
                        </m:ctrlPr>
                      </m:accPr>
                      <m:e>
                        <m:r>
                          <a:rPr lang="en-GB" sz="2000" b="1" i="1" noProof="0" smtClean="0">
                            <a:solidFill>
                              <a:srgbClr val="162230"/>
                            </a:solidFill>
                            <a:latin typeface="Cambria Math" panose="02040503050406030204" pitchFamily="18" charset="0"/>
                            <a:ea typeface="Cambria" panose="02040503050406030204" pitchFamily="18" charset="0"/>
                          </a:rPr>
                          <m:t>𝒙</m:t>
                        </m:r>
                      </m:e>
                    </m:acc>
                    <m:r>
                      <a:rPr lang="it-IT" sz="2000" b="0" i="0" noProof="0" smtClean="0">
                        <a:solidFill>
                          <a:srgbClr val="162230"/>
                        </a:solidFill>
                        <a:latin typeface="Cambria Math" panose="02040503050406030204" pitchFamily="18" charset="0"/>
                        <a:ea typeface="Cambria" panose="02040503050406030204" pitchFamily="18" charset="0"/>
                      </a:rPr>
                      <m:t>=0</m:t>
                    </m:r>
                    <m:r>
                      <a:rPr lang="en-GB" sz="2000" b="0" i="0" noProof="0" smtClean="0">
                        <a:solidFill>
                          <a:srgbClr val="162230"/>
                        </a:solidFill>
                        <a:latin typeface="Cambria Math" panose="02040503050406030204" pitchFamily="18" charset="0"/>
                        <a:ea typeface="Cambria" panose="02040503050406030204" pitchFamily="18" charset="0"/>
                      </a:rPr>
                      <m:t> </m:t>
                    </m:r>
                    <m:r>
                      <a:rPr lang="en-GB" sz="2000" b="1" i="0" noProof="0" smtClean="0">
                        <a:solidFill>
                          <a:srgbClr val="162230"/>
                        </a:solidFill>
                        <a:latin typeface="Cambria Math" panose="02040503050406030204" pitchFamily="18" charset="0"/>
                        <a:ea typeface="Cambria" panose="02040503050406030204" pitchFamily="18" charset="0"/>
                      </a:rPr>
                      <m:t> </m:t>
                    </m:r>
                  </m:oMath>
                </a14:m>
                <a:r>
                  <a:rPr lang="en-GB" sz="2000" noProof="0" dirty="0">
                    <a:solidFill>
                      <a:srgbClr val="162230"/>
                    </a:solidFill>
                    <a:latin typeface="Cambria" panose="02040503050406030204" pitchFamily="18" charset="0"/>
                    <a:ea typeface="Cambria" panose="02040503050406030204" pitchFamily="18" charset="0"/>
                  </a:rPr>
                  <a:t>with </a:t>
                </a:r>
                <a14:m>
                  <m:oMath xmlns:m="http://schemas.openxmlformats.org/officeDocument/2006/math">
                    <m:acc>
                      <m:accPr>
                        <m:chr m:val="̃"/>
                        <m:ctrlPr>
                          <a:rPr lang="en-GB" sz="2000" i="1" noProof="0" smtClean="0">
                            <a:solidFill>
                              <a:srgbClr val="162230"/>
                            </a:solidFill>
                            <a:latin typeface="Cambria Math" panose="02040503050406030204" pitchFamily="18" charset="0"/>
                            <a:ea typeface="Cambria" panose="02040503050406030204" pitchFamily="18" charset="0"/>
                          </a:rPr>
                        </m:ctrlPr>
                      </m:accPr>
                      <m:e>
                        <m:r>
                          <a:rPr lang="en-GB" sz="2000" b="0" i="1" noProof="0" smtClean="0">
                            <a:solidFill>
                              <a:srgbClr val="162230"/>
                            </a:solidFill>
                            <a:latin typeface="Cambria Math" panose="02040503050406030204" pitchFamily="18" charset="0"/>
                            <a:ea typeface="Cambria" panose="02040503050406030204" pitchFamily="18" charset="0"/>
                          </a:rPr>
                          <m:t>𝑥</m:t>
                        </m:r>
                        <m:r>
                          <a:rPr lang="en-GB" sz="2000" b="0" i="1" noProof="0" smtClean="0">
                            <a:solidFill>
                              <a:srgbClr val="162230"/>
                            </a:solidFill>
                            <a:latin typeface="Cambria Math" panose="02040503050406030204" pitchFamily="18" charset="0"/>
                            <a:ea typeface="Cambria" panose="02040503050406030204" pitchFamily="18" charset="0"/>
                          </a:rPr>
                          <m:t> </m:t>
                        </m:r>
                      </m:e>
                    </m:acc>
                  </m:oMath>
                </a14:m>
                <a:r>
                  <a:rPr lang="en-GB" sz="2000" noProof="0" dirty="0">
                    <a:solidFill>
                      <a:srgbClr val="162230"/>
                    </a:solidFill>
                    <a:latin typeface="Cambria" panose="02040503050406030204" pitchFamily="18" charset="0"/>
                    <a:ea typeface="Cambria" panose="02040503050406030204" pitchFamily="18" charset="0"/>
                  </a:rPr>
                  <a:t>being the state error</a:t>
                </a:r>
              </a:p>
              <a:p>
                <a:pPr marL="1257300" lvl="2" indent="-342900">
                  <a:lnSpc>
                    <a:spcPct val="150000"/>
                  </a:lnSpc>
                  <a:spcBef>
                    <a:spcPct val="20000"/>
                  </a:spcBef>
                  <a:buClr>
                    <a:srgbClr val="971720"/>
                  </a:buClr>
                  <a:buSzPct val="70000"/>
                  <a:buFont typeface="Wingdings" panose="05000000000000000000" pitchFamily="2" charset="2"/>
                  <a:buChar char="v"/>
                </a:pPr>
                <a:r>
                  <a:rPr lang="en-GB" sz="2000" noProof="0" dirty="0">
                    <a:solidFill>
                      <a:srgbClr val="162230"/>
                    </a:solidFill>
                    <a:latin typeface="Cambria" panose="02040503050406030204" pitchFamily="18" charset="0"/>
                    <a:ea typeface="Cambria" panose="02040503050406030204" pitchFamily="18" charset="0"/>
                  </a:rPr>
                  <a:t>The controller make the state stay on the sliding surface	</a:t>
                </a:r>
              </a:p>
              <a:p>
                <a:pPr lvl="3">
                  <a:lnSpc>
                    <a:spcPct val="150000"/>
                  </a:lnSpc>
                  <a:spcBef>
                    <a:spcPct val="20000"/>
                  </a:spcBef>
                  <a:buClr>
                    <a:srgbClr val="971720"/>
                  </a:buClr>
                  <a:buSzPct val="70000"/>
                </a:pPr>
                <a14:m>
                  <m:oMath xmlns:m="http://schemas.openxmlformats.org/officeDocument/2006/math">
                    <m:r>
                      <a:rPr lang="en-GB" sz="2000" i="1" noProof="0" smtClean="0">
                        <a:solidFill>
                          <a:srgbClr val="162230"/>
                        </a:solidFill>
                        <a:latin typeface="Cambria Math" panose="02040503050406030204" pitchFamily="18" charset="0"/>
                        <a:ea typeface="Cambria Math" panose="02040503050406030204" pitchFamily="18" charset="0"/>
                      </a:rPr>
                      <m:t>𝜏</m:t>
                    </m:r>
                    <m:r>
                      <a:rPr lang="en-GB" sz="2000" i="1" noProof="0" smtClean="0">
                        <a:solidFill>
                          <a:srgbClr val="162230"/>
                        </a:solidFill>
                        <a:latin typeface="Cambria Math" panose="02040503050406030204" pitchFamily="18" charset="0"/>
                        <a:ea typeface="Cambria" panose="02040503050406030204" pitchFamily="18" charset="0"/>
                      </a:rPr>
                      <m:t>=</m:t>
                    </m:r>
                    <m:sSup>
                      <m:sSupPr>
                        <m:ctrlPr>
                          <a:rPr lang="en-GB" sz="2000" i="1" noProof="0" smtClean="0">
                            <a:solidFill>
                              <a:srgbClr val="162230"/>
                            </a:solidFill>
                            <a:latin typeface="Cambria Math" panose="02040503050406030204" pitchFamily="18" charset="0"/>
                            <a:ea typeface="Cambria" panose="02040503050406030204" pitchFamily="18" charset="0"/>
                          </a:rPr>
                        </m:ctrlPr>
                      </m:sSupPr>
                      <m:e>
                        <m:r>
                          <a:rPr lang="en-GB" sz="2000" i="1" noProof="0" smtClean="0">
                            <a:solidFill>
                              <a:srgbClr val="162230"/>
                            </a:solidFill>
                            <a:latin typeface="Cambria Math" panose="02040503050406030204" pitchFamily="18" charset="0"/>
                            <a:ea typeface="Cambria" panose="02040503050406030204" pitchFamily="18" charset="0"/>
                          </a:rPr>
                          <m:t>𝐵</m:t>
                        </m:r>
                      </m:e>
                      <m:sup>
                        <m:r>
                          <m:rPr>
                            <m:nor/>
                          </m:rPr>
                          <a:rPr lang="en-GB" sz="2000" noProof="0" smtClean="0"/>
                          <m:t>†</m:t>
                        </m:r>
                      </m:sup>
                    </m:sSup>
                    <m:r>
                      <a:rPr lang="en-GB" sz="2000" i="1" noProof="0" smtClean="0">
                        <a:solidFill>
                          <a:srgbClr val="162230"/>
                        </a:solidFill>
                        <a:latin typeface="Cambria Math" panose="02040503050406030204" pitchFamily="18" charset="0"/>
                        <a:ea typeface="Cambria" panose="02040503050406030204" pitchFamily="18" charset="0"/>
                      </a:rPr>
                      <m:t>[</m:t>
                    </m:r>
                    <m:sSub>
                      <m:sSubPr>
                        <m:ctrlPr>
                          <a:rPr lang="en-GB" sz="2000" i="1" noProof="0" smtClean="0">
                            <a:solidFill>
                              <a:srgbClr val="162230"/>
                            </a:solidFill>
                            <a:latin typeface="Cambria Math" panose="02040503050406030204" pitchFamily="18" charset="0"/>
                            <a:ea typeface="Cambria" panose="02040503050406030204" pitchFamily="18" charset="0"/>
                          </a:rPr>
                        </m:ctrlPr>
                      </m:sSubPr>
                      <m:e>
                        <m:r>
                          <a:rPr lang="en-GB" sz="2000" i="1" noProof="0" smtClean="0">
                            <a:solidFill>
                              <a:srgbClr val="162230"/>
                            </a:solidFill>
                            <a:latin typeface="Cambria Math" panose="02040503050406030204" pitchFamily="18" charset="0"/>
                            <a:ea typeface="Cambria" panose="02040503050406030204" pitchFamily="18" charset="0"/>
                          </a:rPr>
                          <m:t>𝐾</m:t>
                        </m:r>
                      </m:e>
                      <m:sub>
                        <m:r>
                          <a:rPr lang="en-GB" sz="2000" i="1" noProof="0" smtClean="0">
                            <a:solidFill>
                              <a:srgbClr val="162230"/>
                            </a:solidFill>
                            <a:latin typeface="Cambria Math" panose="02040503050406030204" pitchFamily="18" charset="0"/>
                            <a:ea typeface="Cambria" panose="02040503050406030204" pitchFamily="18" charset="0"/>
                          </a:rPr>
                          <m:t>𝐷</m:t>
                        </m:r>
                      </m:sub>
                    </m:sSub>
                    <m:r>
                      <a:rPr lang="en-GB" sz="2000" i="1" noProof="0" smtClean="0">
                        <a:solidFill>
                          <a:srgbClr val="162230"/>
                        </a:solidFill>
                        <a:latin typeface="Cambria Math" panose="02040503050406030204" pitchFamily="18" charset="0"/>
                        <a:ea typeface="Cambria" panose="02040503050406030204" pitchFamily="18" charset="0"/>
                      </a:rPr>
                      <m:t>𝑠</m:t>
                    </m:r>
                    <m:r>
                      <a:rPr lang="en-GB" sz="2000" i="1" noProof="0" smtClean="0">
                        <a:solidFill>
                          <a:srgbClr val="162230"/>
                        </a:solidFill>
                        <a:latin typeface="Cambria Math" panose="02040503050406030204" pitchFamily="18" charset="0"/>
                        <a:ea typeface="Cambria" panose="02040503050406030204" pitchFamily="18" charset="0"/>
                      </a:rPr>
                      <m:t>+</m:t>
                    </m:r>
                    <m:r>
                      <a:rPr lang="en-GB" sz="2000" i="1" noProof="0" smtClean="0">
                        <a:solidFill>
                          <a:srgbClr val="162230"/>
                        </a:solidFill>
                        <a:latin typeface="Cambria Math" panose="02040503050406030204" pitchFamily="18" charset="0"/>
                        <a:ea typeface="Cambria" panose="02040503050406030204" pitchFamily="18" charset="0"/>
                      </a:rPr>
                      <m:t>𝑔</m:t>
                    </m:r>
                    <m:d>
                      <m:dPr>
                        <m:ctrlPr>
                          <a:rPr lang="en-GB" sz="2000" i="1" noProof="0" smtClean="0">
                            <a:solidFill>
                              <a:srgbClr val="162230"/>
                            </a:solidFill>
                            <a:latin typeface="Cambria Math" panose="02040503050406030204" pitchFamily="18" charset="0"/>
                            <a:ea typeface="Cambria" panose="02040503050406030204" pitchFamily="18" charset="0"/>
                          </a:rPr>
                        </m:ctrlPr>
                      </m:dPr>
                      <m:e>
                        <m:r>
                          <a:rPr lang="en-GB" sz="2000" i="1" noProof="0" smtClean="0">
                            <a:solidFill>
                              <a:srgbClr val="162230"/>
                            </a:solidFill>
                            <a:latin typeface="Cambria Math" panose="02040503050406030204" pitchFamily="18" charset="0"/>
                            <a:ea typeface="Cambria" panose="02040503050406030204" pitchFamily="18" charset="0"/>
                          </a:rPr>
                          <m:t>𝑞</m:t>
                        </m:r>
                      </m:e>
                    </m:d>
                    <m:r>
                      <a:rPr lang="en-GB" sz="2000" i="1" noProof="0" smtClean="0">
                        <a:solidFill>
                          <a:srgbClr val="162230"/>
                        </a:solidFill>
                        <a:latin typeface="Cambria Math" panose="02040503050406030204" pitchFamily="18" charset="0"/>
                        <a:ea typeface="Cambria" panose="02040503050406030204" pitchFamily="18" charset="0"/>
                      </a:rPr>
                      <m:t>+</m:t>
                    </m:r>
                    <m:sSub>
                      <m:sSubPr>
                        <m:ctrlPr>
                          <a:rPr lang="en-GB" sz="2000" i="1" noProof="0" smtClean="0">
                            <a:solidFill>
                              <a:srgbClr val="162230"/>
                            </a:solidFill>
                            <a:latin typeface="Cambria Math" panose="02040503050406030204" pitchFamily="18" charset="0"/>
                            <a:ea typeface="Cambria" panose="02040503050406030204" pitchFamily="18" charset="0"/>
                          </a:rPr>
                        </m:ctrlPr>
                      </m:sSubPr>
                      <m:e>
                        <m:r>
                          <a:rPr lang="en-GB" sz="2000" i="1" noProof="0" smtClean="0">
                            <a:solidFill>
                              <a:srgbClr val="162230"/>
                            </a:solidFill>
                            <a:latin typeface="Cambria Math" panose="02040503050406030204" pitchFamily="18" charset="0"/>
                            <a:ea typeface="Cambria" panose="02040503050406030204" pitchFamily="18" charset="0"/>
                          </a:rPr>
                          <m:t>𝐾</m:t>
                        </m:r>
                      </m:e>
                      <m:sub>
                        <m:r>
                          <a:rPr lang="en-GB" sz="2000" i="1" noProof="0" smtClean="0">
                            <a:solidFill>
                              <a:srgbClr val="162230"/>
                            </a:solidFill>
                            <a:latin typeface="Cambria Math" panose="02040503050406030204" pitchFamily="18" charset="0"/>
                            <a:ea typeface="Cambria" panose="02040503050406030204" pitchFamily="18" charset="0"/>
                          </a:rPr>
                          <m:t>𝑆</m:t>
                        </m:r>
                      </m:sub>
                    </m:sSub>
                    <m:sSup>
                      <m:sSupPr>
                        <m:ctrlPr>
                          <a:rPr lang="en-GB" sz="2000" i="1" noProof="0" smtClean="0">
                            <a:solidFill>
                              <a:srgbClr val="162230"/>
                            </a:solidFill>
                            <a:latin typeface="Cambria Math" panose="02040503050406030204" pitchFamily="18" charset="0"/>
                            <a:ea typeface="Cambria" panose="02040503050406030204" pitchFamily="18" charset="0"/>
                          </a:rPr>
                        </m:ctrlPr>
                      </m:sSupPr>
                      <m:e>
                        <m:r>
                          <a:rPr lang="en-GB" sz="2000" i="1" noProof="0" smtClean="0">
                            <a:solidFill>
                              <a:srgbClr val="162230"/>
                            </a:solidFill>
                            <a:latin typeface="Cambria Math" panose="02040503050406030204" pitchFamily="18" charset="0"/>
                            <a:ea typeface="Cambria" panose="02040503050406030204" pitchFamily="18" charset="0"/>
                          </a:rPr>
                          <m:t> </m:t>
                        </m:r>
                        <m:r>
                          <a:rPr lang="en-GB" sz="2000" i="1" noProof="0" smtClean="0">
                            <a:solidFill>
                              <a:srgbClr val="162230"/>
                            </a:solidFill>
                            <a:latin typeface="Cambria Math" panose="02040503050406030204" pitchFamily="18" charset="0"/>
                            <a:ea typeface="Cambria" panose="02040503050406030204" pitchFamily="18" charset="0"/>
                          </a:rPr>
                          <m:t>𝑠𝑔𝑛</m:t>
                        </m:r>
                      </m:e>
                      <m:sup>
                        <m:r>
                          <a:rPr lang="en-GB" sz="2000" i="1" noProof="0" smtClean="0">
                            <a:solidFill>
                              <a:srgbClr val="162230"/>
                            </a:solidFill>
                            <a:latin typeface="Cambria Math" panose="02040503050406030204" pitchFamily="18" charset="0"/>
                            <a:ea typeface="Cambria" panose="02040503050406030204" pitchFamily="18" charset="0"/>
                          </a:rPr>
                          <m:t>∗</m:t>
                        </m:r>
                      </m:sup>
                    </m:sSup>
                    <m:r>
                      <a:rPr lang="en-GB" sz="2000" i="1" noProof="0" smtClean="0">
                        <a:solidFill>
                          <a:srgbClr val="162230"/>
                        </a:solidFill>
                        <a:latin typeface="Cambria Math" panose="02040503050406030204" pitchFamily="18" charset="0"/>
                        <a:ea typeface="Cambria" panose="02040503050406030204" pitchFamily="18" charset="0"/>
                      </a:rPr>
                      <m:t>(</m:t>
                    </m:r>
                    <m:r>
                      <a:rPr lang="en-GB" sz="2000" i="1" noProof="0" smtClean="0">
                        <a:solidFill>
                          <a:srgbClr val="162230"/>
                        </a:solidFill>
                        <a:latin typeface="Cambria Math" panose="02040503050406030204" pitchFamily="18" charset="0"/>
                        <a:ea typeface="Cambria" panose="02040503050406030204" pitchFamily="18" charset="0"/>
                      </a:rPr>
                      <m:t>𝑠</m:t>
                    </m:r>
                    <m:r>
                      <a:rPr lang="en-GB" sz="2000" i="1" noProof="0" smtClean="0">
                        <a:solidFill>
                          <a:srgbClr val="162230"/>
                        </a:solidFill>
                        <a:latin typeface="Cambria Math" panose="02040503050406030204" pitchFamily="18" charset="0"/>
                        <a:ea typeface="Cambria" panose="02040503050406030204" pitchFamily="18" charset="0"/>
                      </a:rPr>
                      <m:t>)</m:t>
                    </m:r>
                  </m:oMath>
                </a14:m>
                <a:r>
                  <a:rPr lang="en-GB" sz="2000" noProof="0" dirty="0">
                    <a:solidFill>
                      <a:srgbClr val="162230"/>
                    </a:solidFill>
                    <a:latin typeface="Cambria" panose="02040503050406030204" pitchFamily="18" charset="0"/>
                    <a:ea typeface="Cambria" panose="02040503050406030204" pitchFamily="18" charset="0"/>
                  </a:rPr>
                  <a:t>]</a:t>
                </a:r>
              </a:p>
              <a:p>
                <a:pPr marL="1257300" lvl="2" indent="-342900">
                  <a:lnSpc>
                    <a:spcPct val="150000"/>
                  </a:lnSpc>
                  <a:spcBef>
                    <a:spcPct val="20000"/>
                  </a:spcBef>
                  <a:buClr>
                    <a:srgbClr val="971720"/>
                  </a:buClr>
                  <a:buSzPct val="70000"/>
                  <a:buFont typeface="Wingdings" panose="05000000000000000000" pitchFamily="2" charset="2"/>
                  <a:buChar char="v"/>
                </a:pPr>
                <a14:m>
                  <m:oMath xmlns:m="http://schemas.openxmlformats.org/officeDocument/2006/math">
                    <m:r>
                      <a:rPr lang="en-GB" sz="2000" b="0" i="1" noProof="0" smtClean="0">
                        <a:solidFill>
                          <a:srgbClr val="162230"/>
                        </a:solidFill>
                        <a:latin typeface="Cambria Math" panose="02040503050406030204" pitchFamily="18" charset="0"/>
                        <a:ea typeface="Cambria" panose="02040503050406030204" pitchFamily="18" charset="0"/>
                      </a:rPr>
                      <m:t>𝑠𝑛</m:t>
                    </m:r>
                    <m:sSup>
                      <m:sSupPr>
                        <m:ctrlPr>
                          <a:rPr lang="en-GB" sz="2000" b="0" i="1" noProof="0" smtClean="0">
                            <a:solidFill>
                              <a:srgbClr val="162230"/>
                            </a:solidFill>
                            <a:latin typeface="Cambria Math" panose="02040503050406030204" pitchFamily="18" charset="0"/>
                            <a:ea typeface="Cambria" panose="02040503050406030204" pitchFamily="18" charset="0"/>
                          </a:rPr>
                        </m:ctrlPr>
                      </m:sSupPr>
                      <m:e>
                        <m:r>
                          <a:rPr lang="en-GB" sz="2000" b="0" i="1" noProof="0" smtClean="0">
                            <a:solidFill>
                              <a:srgbClr val="162230"/>
                            </a:solidFill>
                            <a:latin typeface="Cambria Math" panose="02040503050406030204" pitchFamily="18" charset="0"/>
                            <a:ea typeface="Cambria" panose="02040503050406030204" pitchFamily="18" charset="0"/>
                          </a:rPr>
                          <m:t>𝑔</m:t>
                        </m:r>
                      </m:e>
                      <m:sup>
                        <m:r>
                          <a:rPr lang="en-GB" sz="2000" b="0" i="1" noProof="0" smtClean="0">
                            <a:solidFill>
                              <a:srgbClr val="162230"/>
                            </a:solidFill>
                            <a:latin typeface="Cambria Math" panose="02040503050406030204" pitchFamily="18" charset="0"/>
                            <a:ea typeface="Cambria" panose="02040503050406030204" pitchFamily="18" charset="0"/>
                          </a:rPr>
                          <m:t>∗</m:t>
                        </m:r>
                      </m:sup>
                    </m:sSup>
                  </m:oMath>
                </a14:m>
                <a:r>
                  <a:rPr lang="en-GB" sz="2000" noProof="0" dirty="0">
                    <a:solidFill>
                      <a:srgbClr val="162230"/>
                    </a:solidFill>
                    <a:latin typeface="Cambria" panose="02040503050406030204" pitchFamily="18" charset="0"/>
                    <a:ea typeface="Cambria" panose="02040503050406030204" pitchFamily="18" charset="0"/>
                  </a:rPr>
                  <a:t> is a modified definition of the signum function so to avoid </a:t>
                </a:r>
                <a:r>
                  <a:rPr lang="en-GB" sz="2000" b="1" i="1" noProof="0" dirty="0">
                    <a:solidFill>
                      <a:srgbClr val="162230"/>
                    </a:solidFill>
                    <a:latin typeface="Cambria" panose="02040503050406030204" pitchFamily="18" charset="0"/>
                    <a:ea typeface="Cambria" panose="02040503050406030204" pitchFamily="18" charset="0"/>
                  </a:rPr>
                  <a:t>chattering (</a:t>
                </a:r>
                <a:r>
                  <a:rPr lang="en-GB" sz="2000" b="1" noProof="0" dirty="0">
                    <a:solidFill>
                      <a:srgbClr val="162230"/>
                    </a:solidFill>
                    <a:latin typeface="Cambria" panose="02040503050406030204" pitchFamily="18" charset="0"/>
                    <a:ea typeface="Cambria" panose="02040503050406030204" pitchFamily="18" charset="0"/>
                  </a:rPr>
                  <a:t>boundary layers</a:t>
                </a:r>
                <a:r>
                  <a:rPr lang="en-GB" sz="2000" b="1" i="1" noProof="0" dirty="0">
                    <a:solidFill>
                      <a:srgbClr val="162230"/>
                    </a:solidFill>
                    <a:latin typeface="Cambria" panose="02040503050406030204" pitchFamily="18" charset="0"/>
                    <a:ea typeface="Cambria" panose="02040503050406030204" pitchFamily="18" charset="0"/>
                  </a:rPr>
                  <a:t>)</a:t>
                </a:r>
              </a:p>
              <a:p>
                <a:pPr lvl="2">
                  <a:lnSpc>
                    <a:spcPct val="150000"/>
                  </a:lnSpc>
                  <a:spcBef>
                    <a:spcPct val="20000"/>
                  </a:spcBef>
                  <a:buClr>
                    <a:srgbClr val="971720"/>
                  </a:buClr>
                  <a:buSzPct val="70000"/>
                </a:pPr>
                <a:r>
                  <a:rPr lang="en-GB" sz="2000" noProof="0" dirty="0">
                    <a:solidFill>
                      <a:srgbClr val="162230"/>
                    </a:solidFill>
                    <a:latin typeface="Cambria" panose="02040503050406030204" pitchFamily="18" charset="0"/>
                    <a:ea typeface="Cambria" panose="02040503050406030204" pitchFamily="18" charset="0"/>
                  </a:rPr>
                  <a:t>	</a:t>
                </a:r>
              </a:p>
              <a:p>
                <a:pPr lvl="1">
                  <a:lnSpc>
                    <a:spcPct val="150000"/>
                  </a:lnSpc>
                  <a:spcBef>
                    <a:spcPct val="20000"/>
                  </a:spcBef>
                  <a:buClr>
                    <a:srgbClr val="971720"/>
                  </a:buClr>
                  <a:buSzPct val="70000"/>
                </a:pPr>
                <a:endParaRPr lang="en-GB" sz="2000" noProof="0" dirty="0">
                  <a:solidFill>
                    <a:srgbClr val="162230"/>
                  </a:solidFill>
                  <a:latin typeface="Century Gothic" pitchFamily="34" charset="0"/>
                </a:endParaRPr>
              </a:p>
            </p:txBody>
          </p:sp>
        </mc:Choice>
        <mc:Fallback>
          <p:sp>
            <p:nvSpPr>
              <p:cNvPr id="3" name="Rectangle 2">
                <a:extLst>
                  <a:ext uri="{FF2B5EF4-FFF2-40B4-BE49-F238E27FC236}">
                    <a16:creationId xmlns:a16="http://schemas.microsoft.com/office/drawing/2014/main" id="{05A456D0-8DD4-69AA-464B-D1C969FDE2D5}"/>
                  </a:ext>
                </a:extLst>
              </p:cNvPr>
              <p:cNvSpPr>
                <a:spLocks noRot="1" noChangeAspect="1" noMove="1" noResize="1" noEditPoints="1" noAdjustHandles="1" noChangeArrowheads="1" noChangeShapeType="1" noTextEdit="1"/>
              </p:cNvSpPr>
              <p:nvPr/>
            </p:nvSpPr>
            <p:spPr>
              <a:xfrm>
                <a:off x="111616" y="122442"/>
                <a:ext cx="12080384" cy="4270977"/>
              </a:xfrm>
              <a:prstGeom prst="rect">
                <a:avLst/>
              </a:prstGeom>
              <a:blipFill>
                <a:blip r:embed="rId4"/>
                <a:stretch>
                  <a:fillRect l="-656" t="-1141"/>
                </a:stretch>
              </a:blipFill>
            </p:spPr>
            <p:txBody>
              <a:bodyPr/>
              <a:lstStyle/>
              <a:p>
                <a:r>
                  <a:rPr lang="it-IT">
                    <a:noFill/>
                  </a:rPr>
                  <a:t> </a:t>
                </a:r>
              </a:p>
            </p:txBody>
          </p:sp>
        </mc:Fallback>
      </mc:AlternateContent>
      <p:pic>
        <p:nvPicPr>
          <p:cNvPr id="5" name="Immagine 4" descr="Immagine che contiene testo, Carattere, bianco, calligrafia&#10;&#10;Il contenuto generato dall'IA potrebbe non essere corretto.">
            <a:extLst>
              <a:ext uri="{FF2B5EF4-FFF2-40B4-BE49-F238E27FC236}">
                <a16:creationId xmlns:a16="http://schemas.microsoft.com/office/drawing/2014/main" id="{DF0CF59F-D116-F42B-14D2-BED8AF443271}"/>
              </a:ext>
            </a:extLst>
          </p:cNvPr>
          <p:cNvPicPr>
            <a:picLocks noChangeAspect="1"/>
          </p:cNvPicPr>
          <p:nvPr/>
        </p:nvPicPr>
        <p:blipFill>
          <a:blip r:embed="rId5"/>
          <a:stretch>
            <a:fillRect/>
          </a:stretch>
        </p:blipFill>
        <p:spPr>
          <a:xfrm>
            <a:off x="3430242" y="3593207"/>
            <a:ext cx="4210638" cy="1600423"/>
          </a:xfrm>
          <a:prstGeom prst="rect">
            <a:avLst/>
          </a:prstGeom>
        </p:spPr>
      </p:pic>
    </p:spTree>
    <p:extLst>
      <p:ext uri="{BB962C8B-B14F-4D97-AF65-F5344CB8AC3E}">
        <p14:creationId xmlns:p14="http://schemas.microsoft.com/office/powerpoint/2010/main" val="2341051538"/>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29C06-4781-D0E4-95B9-A8E62F829E3C}"/>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AAF86C97-7A27-3BAE-AA61-937F89A72447}"/>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en-GB" kern="0" noProof="0" dirty="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FE48E6C2-0A36-82E6-E9B6-79B4EEBA48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75A5463A-F860-CE91-68A1-DB28D197BB10}"/>
              </a:ext>
            </a:extLst>
          </p:cNvPr>
          <p:cNvSpPr/>
          <p:nvPr/>
        </p:nvSpPr>
        <p:spPr>
          <a:xfrm>
            <a:off x="14286" y="6598816"/>
            <a:ext cx="12177714" cy="307777"/>
          </a:xfrm>
          <a:prstGeom prst="rect">
            <a:avLst/>
          </a:prstGeom>
        </p:spPr>
        <p:txBody>
          <a:bodyPr wrap="square">
            <a:spAutoFit/>
          </a:bodyPr>
          <a:lstStyle/>
          <a:p>
            <a:pPr algn="ct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noProof="0" dirty="0">
                <a:solidFill>
                  <a:srgbClr val="162230"/>
                </a:solidFill>
                <a:latin typeface="Century Gothic"/>
                <a:cs typeface="Century Gothic"/>
              </a:rPr>
              <a:t>CONTROLLERS(2)</a:t>
            </a:r>
          </a:p>
        </p:txBody>
      </p:sp>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7B5D0AD3-3CA2-8AE3-A837-E113D09DE40A}"/>
                  </a:ext>
                </a:extLst>
              </p:cNvPr>
              <p:cNvSpPr/>
              <p:nvPr/>
            </p:nvSpPr>
            <p:spPr>
              <a:xfrm>
                <a:off x="111616" y="122442"/>
                <a:ext cx="12080384" cy="5250283"/>
              </a:xfrm>
              <a:prstGeom prst="rect">
                <a:avLst/>
              </a:prstGeom>
              <a:solidFill>
                <a:schemeClr val="bg1"/>
              </a:solidFill>
            </p:spPr>
            <p:txBody>
              <a:bodyPr wrap="square">
                <a:spAutoFit/>
              </a:bodyPr>
              <a:lstStyle/>
              <a:p>
                <a:pPr marL="457200" indent="-457200">
                  <a:spcAft>
                    <a:spcPts val="600"/>
                  </a:spcAft>
                  <a:buClr>
                    <a:srgbClr val="971720"/>
                  </a:buClr>
                  <a:buFont typeface="Wingdings" panose="05000000000000000000" pitchFamily="2" charset="2"/>
                  <a:buChar char="v"/>
                </a:pPr>
                <a:r>
                  <a:rPr lang="en-GB" sz="2400" b="1" noProof="0" dirty="0">
                    <a:solidFill>
                      <a:srgbClr val="971720"/>
                    </a:solidFill>
                    <a:latin typeface="Cambria" panose="02040503050406030204" pitchFamily="18" charset="0"/>
                    <a:ea typeface="Cambria" panose="02040503050406030204" pitchFamily="18" charset="0"/>
                    <a:cs typeface="Century Gothic"/>
                  </a:rPr>
                  <a:t>Controllers</a:t>
                </a:r>
              </a:p>
              <a:p>
                <a:pPr marL="342900" lvl="0" indent="-342900">
                  <a:lnSpc>
                    <a:spcPct val="150000"/>
                  </a:lnSpc>
                  <a:spcBef>
                    <a:spcPct val="20000"/>
                  </a:spcBef>
                  <a:buClr>
                    <a:srgbClr val="FFC000"/>
                  </a:buClr>
                  <a:buSzPct val="70000"/>
                  <a:buFont typeface="Wingdings" panose="05000000000000000000" pitchFamily="2" charset="2"/>
                  <a:buChar char="v"/>
                </a:pPr>
                <a:r>
                  <a:rPr lang="en-GB" sz="2200" b="1" noProof="0" dirty="0">
                    <a:solidFill>
                      <a:srgbClr val="162230"/>
                    </a:solidFill>
                    <a:latin typeface="Cambria" panose="02040503050406030204" pitchFamily="18" charset="0"/>
                    <a:ea typeface="Cambria" panose="02040503050406030204" pitchFamily="18" charset="0"/>
                  </a:rPr>
                  <a:t>	Feedback Linearizing Controller</a:t>
                </a:r>
              </a:p>
              <a:p>
                <a:pPr marL="1257300" lvl="2" indent="-342900">
                  <a:lnSpc>
                    <a:spcPct val="150000"/>
                  </a:lnSpc>
                  <a:spcBef>
                    <a:spcPct val="20000"/>
                  </a:spcBef>
                  <a:buClr>
                    <a:srgbClr val="971720"/>
                  </a:buClr>
                  <a:buSzPct val="70000"/>
                  <a:buFont typeface="Wingdings" panose="05000000000000000000" pitchFamily="2" charset="2"/>
                  <a:buChar char="v"/>
                </a:pPr>
                <a:r>
                  <a:rPr lang="en-GB" sz="2200" noProof="0" dirty="0">
                    <a:solidFill>
                      <a:srgbClr val="162230"/>
                    </a:solidFill>
                    <a:latin typeface="Cambria" panose="02040503050406030204" pitchFamily="18" charset="0"/>
                    <a:ea typeface="Cambria" panose="02040503050406030204" pitchFamily="18" charset="0"/>
                  </a:rPr>
                  <a:t>Transform the non-linear dynamics into a set of independent chain of integrator</a:t>
                </a:r>
              </a:p>
              <a:p>
                <a:pPr marL="1714500" lvl="3" indent="-342900">
                  <a:lnSpc>
                    <a:spcPct val="150000"/>
                  </a:lnSpc>
                  <a:spcBef>
                    <a:spcPct val="20000"/>
                  </a:spcBef>
                  <a:buClr>
                    <a:srgbClr val="971720"/>
                  </a:buClr>
                  <a:buSzPct val="70000"/>
                  <a:buFont typeface="Wingdings" panose="05000000000000000000" pitchFamily="2" charset="2"/>
                  <a:buChar char="v"/>
                </a:pPr>
                <a14:m>
                  <m:oMath xmlns:m="http://schemas.openxmlformats.org/officeDocument/2006/math">
                    <m:acc>
                      <m:accPr>
                        <m:chr m:val="̈"/>
                        <m:ctrlPr>
                          <a:rPr lang="en-GB" b="1" i="1" noProof="0" smtClean="0">
                            <a:solidFill>
                              <a:srgbClr val="162230"/>
                            </a:solidFill>
                            <a:latin typeface="Cambria Math" panose="02040503050406030204" pitchFamily="18" charset="0"/>
                            <a:ea typeface="Cambria" panose="02040503050406030204" pitchFamily="18" charset="0"/>
                          </a:rPr>
                        </m:ctrlPr>
                      </m:accPr>
                      <m:e>
                        <m:r>
                          <a:rPr lang="en-GB" b="1" i="1" noProof="0" smtClean="0">
                            <a:solidFill>
                              <a:srgbClr val="162230"/>
                            </a:solidFill>
                            <a:latin typeface="Cambria Math" panose="02040503050406030204" pitchFamily="18" charset="0"/>
                            <a:ea typeface="Cambria Math" panose="02040503050406030204" pitchFamily="18" charset="0"/>
                          </a:rPr>
                          <m:t>𝜼</m:t>
                        </m:r>
                      </m:e>
                    </m:acc>
                    <m:r>
                      <a:rPr lang="en-GB" b="1" i="1" noProof="0" smtClean="0">
                        <a:solidFill>
                          <a:srgbClr val="162230"/>
                        </a:solidFill>
                        <a:latin typeface="Cambria Math" panose="02040503050406030204" pitchFamily="18" charset="0"/>
                        <a:ea typeface="Cambria" panose="02040503050406030204" pitchFamily="18" charset="0"/>
                      </a:rPr>
                      <m:t>=</m:t>
                    </m:r>
                    <m:sSup>
                      <m:sSupPr>
                        <m:ctrlPr>
                          <a:rPr lang="en-GB" b="1" i="1" noProof="0" smtClean="0">
                            <a:solidFill>
                              <a:srgbClr val="162230"/>
                            </a:solidFill>
                            <a:latin typeface="Cambria Math" panose="02040503050406030204" pitchFamily="18" charset="0"/>
                            <a:ea typeface="Cambria" panose="02040503050406030204" pitchFamily="18" charset="0"/>
                          </a:rPr>
                        </m:ctrlPr>
                      </m:sSupPr>
                      <m:e>
                        <m:r>
                          <a:rPr lang="en-GB" b="1" i="1" noProof="0" smtClean="0">
                            <a:solidFill>
                              <a:srgbClr val="162230"/>
                            </a:solidFill>
                            <a:latin typeface="Cambria Math" panose="02040503050406030204" pitchFamily="18" charset="0"/>
                            <a:ea typeface="Cambria Math" panose="02040503050406030204" pitchFamily="18" charset="0"/>
                          </a:rPr>
                          <m:t>𝝀</m:t>
                        </m:r>
                      </m:e>
                      <m:sup>
                        <m:r>
                          <a:rPr lang="en-GB" b="1" i="1" noProof="0" smtClean="0">
                            <a:solidFill>
                              <a:srgbClr val="162230"/>
                            </a:solidFill>
                            <a:latin typeface="Cambria Math" panose="02040503050406030204" pitchFamily="18" charset="0"/>
                            <a:ea typeface="Cambria" panose="02040503050406030204" pitchFamily="18" charset="0"/>
                          </a:rPr>
                          <m:t>𝒏</m:t>
                        </m:r>
                      </m:sup>
                    </m:sSup>
                    <m:r>
                      <a:rPr lang="en-GB" b="1" i="1" noProof="0" smtClean="0">
                        <a:solidFill>
                          <a:srgbClr val="162230"/>
                        </a:solidFill>
                        <a:latin typeface="Cambria Math" panose="02040503050406030204" pitchFamily="18" charset="0"/>
                        <a:ea typeface="Cambria" panose="02040503050406030204" pitchFamily="18" charset="0"/>
                      </a:rPr>
                      <m:t> </m:t>
                    </m:r>
                  </m:oMath>
                </a14:m>
                <a:r>
                  <a:rPr lang="en-GB" b="0" noProof="0" dirty="0">
                    <a:solidFill>
                      <a:srgbClr val="162230"/>
                    </a:solidFill>
                    <a:latin typeface="Cambria" panose="02040503050406030204" pitchFamily="18" charset="0"/>
                    <a:ea typeface="Cambria" panose="02040503050406030204" pitchFamily="18" charset="0"/>
                  </a:rPr>
                  <a:t> where </a:t>
                </a:r>
                <a14:m>
                  <m:oMath xmlns:m="http://schemas.openxmlformats.org/officeDocument/2006/math">
                    <m:sSup>
                      <m:sSupPr>
                        <m:ctrlPr>
                          <a:rPr lang="en-GB" i="1" noProof="0" smtClean="0">
                            <a:solidFill>
                              <a:srgbClr val="162230"/>
                            </a:solidFill>
                            <a:latin typeface="Cambria Math" panose="02040503050406030204" pitchFamily="18" charset="0"/>
                            <a:ea typeface="Cambria" panose="02040503050406030204" pitchFamily="18" charset="0"/>
                          </a:rPr>
                        </m:ctrlPr>
                      </m:sSupPr>
                      <m:e>
                        <m:r>
                          <a:rPr lang="en-GB" i="1" noProof="0" smtClean="0">
                            <a:solidFill>
                              <a:srgbClr val="162230"/>
                            </a:solidFill>
                            <a:latin typeface="Cambria Math" panose="02040503050406030204" pitchFamily="18" charset="0"/>
                            <a:ea typeface="Cambria Math" panose="02040503050406030204" pitchFamily="18" charset="0"/>
                          </a:rPr>
                          <m:t>𝜆</m:t>
                        </m:r>
                      </m:e>
                      <m:sup>
                        <m:r>
                          <a:rPr lang="en-GB" i="1" noProof="0" smtClean="0">
                            <a:solidFill>
                              <a:srgbClr val="162230"/>
                            </a:solidFill>
                            <a:latin typeface="Cambria Math" panose="02040503050406030204" pitchFamily="18" charset="0"/>
                            <a:ea typeface="Cambria" panose="02040503050406030204" pitchFamily="18" charset="0"/>
                          </a:rPr>
                          <m:t>𝑛</m:t>
                        </m:r>
                      </m:sup>
                    </m:sSup>
                  </m:oMath>
                </a14:m>
                <a:r>
                  <a:rPr lang="en-GB" b="0" noProof="0" dirty="0">
                    <a:solidFill>
                      <a:srgbClr val="162230"/>
                    </a:solidFill>
                    <a:latin typeface="Cambria" panose="02040503050406030204" pitchFamily="18" charset="0"/>
                    <a:ea typeface="Cambria" panose="02040503050406030204" pitchFamily="18" charset="0"/>
                  </a:rPr>
                  <a:t> is the desired acceleration in the NED Frame </a:t>
                </a:r>
              </a:p>
              <a:p>
                <a:pPr marL="1714500" lvl="3" indent="-342900">
                  <a:lnSpc>
                    <a:spcPct val="150000"/>
                  </a:lnSpc>
                  <a:spcBef>
                    <a:spcPct val="20000"/>
                  </a:spcBef>
                  <a:buClr>
                    <a:srgbClr val="971720"/>
                  </a:buClr>
                  <a:buSzPct val="70000"/>
                  <a:buFont typeface="Wingdings" panose="05000000000000000000" pitchFamily="2" charset="2"/>
                  <a:buChar char="v"/>
                </a:pPr>
                <a14:m>
                  <m:oMath xmlns:m="http://schemas.openxmlformats.org/officeDocument/2006/math">
                    <m:acc>
                      <m:accPr>
                        <m:chr m:val="̇"/>
                        <m:ctrlPr>
                          <a:rPr lang="en-GB" b="1" i="1" noProof="0" smtClean="0">
                            <a:solidFill>
                              <a:srgbClr val="162230"/>
                            </a:solidFill>
                            <a:latin typeface="Cambria Math" panose="02040503050406030204" pitchFamily="18" charset="0"/>
                            <a:ea typeface="Cambria" panose="02040503050406030204" pitchFamily="18" charset="0"/>
                          </a:rPr>
                        </m:ctrlPr>
                      </m:accPr>
                      <m:e>
                        <m:r>
                          <a:rPr lang="en-GB" b="1" i="1" noProof="0" smtClean="0">
                            <a:solidFill>
                              <a:srgbClr val="162230"/>
                            </a:solidFill>
                            <a:latin typeface="Cambria Math" panose="02040503050406030204" pitchFamily="18" charset="0"/>
                            <a:ea typeface="Cambria Math" panose="02040503050406030204" pitchFamily="18" charset="0"/>
                          </a:rPr>
                          <m:t>𝝂</m:t>
                        </m:r>
                      </m:e>
                    </m:acc>
                    <m:r>
                      <a:rPr lang="en-GB" b="1" i="1" noProof="0" smtClean="0">
                        <a:solidFill>
                          <a:srgbClr val="162230"/>
                        </a:solidFill>
                        <a:latin typeface="Cambria Math" panose="02040503050406030204" pitchFamily="18" charset="0"/>
                        <a:ea typeface="Cambria" panose="02040503050406030204" pitchFamily="18" charset="0"/>
                      </a:rPr>
                      <m:t>=</m:t>
                    </m:r>
                    <m:sSup>
                      <m:sSupPr>
                        <m:ctrlPr>
                          <a:rPr lang="en-GB" b="1" i="1" noProof="0" smtClean="0">
                            <a:solidFill>
                              <a:srgbClr val="162230"/>
                            </a:solidFill>
                            <a:latin typeface="Cambria Math" panose="02040503050406030204" pitchFamily="18" charset="0"/>
                            <a:ea typeface="Cambria" panose="02040503050406030204" pitchFamily="18" charset="0"/>
                          </a:rPr>
                        </m:ctrlPr>
                      </m:sSupPr>
                      <m:e>
                        <m:r>
                          <a:rPr lang="en-GB" b="1" i="1" noProof="0" smtClean="0">
                            <a:solidFill>
                              <a:srgbClr val="162230"/>
                            </a:solidFill>
                            <a:latin typeface="Cambria Math" panose="02040503050406030204" pitchFamily="18" charset="0"/>
                            <a:ea typeface="Cambria Math" panose="02040503050406030204" pitchFamily="18" charset="0"/>
                          </a:rPr>
                          <m:t>𝝀</m:t>
                        </m:r>
                      </m:e>
                      <m:sup>
                        <m:r>
                          <a:rPr lang="en-GB" b="1" i="1" noProof="0" smtClean="0">
                            <a:solidFill>
                              <a:srgbClr val="162230"/>
                            </a:solidFill>
                            <a:latin typeface="Cambria Math" panose="02040503050406030204" pitchFamily="18" charset="0"/>
                            <a:ea typeface="Cambria" panose="02040503050406030204" pitchFamily="18" charset="0"/>
                          </a:rPr>
                          <m:t>𝒃</m:t>
                        </m:r>
                      </m:sup>
                    </m:sSup>
                  </m:oMath>
                </a14:m>
                <a:r>
                  <a:rPr lang="en-GB" noProof="0" dirty="0">
                    <a:solidFill>
                      <a:srgbClr val="162230"/>
                    </a:solidFill>
                    <a:latin typeface="Cambria" panose="02040503050406030204" pitchFamily="18" charset="0"/>
                    <a:ea typeface="Cambria" panose="02040503050406030204" pitchFamily="18" charset="0"/>
                  </a:rPr>
                  <a:t>  where </a:t>
                </a:r>
                <a14:m>
                  <m:oMath xmlns:m="http://schemas.openxmlformats.org/officeDocument/2006/math">
                    <m:sSup>
                      <m:sSupPr>
                        <m:ctrlPr>
                          <a:rPr lang="en-GB" i="1" noProof="0" smtClean="0">
                            <a:solidFill>
                              <a:srgbClr val="162230"/>
                            </a:solidFill>
                            <a:latin typeface="Cambria Math" panose="02040503050406030204" pitchFamily="18" charset="0"/>
                            <a:ea typeface="Cambria" panose="02040503050406030204" pitchFamily="18" charset="0"/>
                          </a:rPr>
                        </m:ctrlPr>
                      </m:sSupPr>
                      <m:e>
                        <m:r>
                          <a:rPr lang="en-GB" i="1" noProof="0" smtClean="0">
                            <a:solidFill>
                              <a:srgbClr val="162230"/>
                            </a:solidFill>
                            <a:latin typeface="Cambria Math" panose="02040503050406030204" pitchFamily="18" charset="0"/>
                            <a:ea typeface="Cambria Math" panose="02040503050406030204" pitchFamily="18" charset="0"/>
                          </a:rPr>
                          <m:t>𝜆</m:t>
                        </m:r>
                      </m:e>
                      <m:sup>
                        <m:r>
                          <a:rPr lang="en-GB" i="1" noProof="0" smtClean="0">
                            <a:solidFill>
                              <a:srgbClr val="162230"/>
                            </a:solidFill>
                            <a:latin typeface="Cambria Math" panose="02040503050406030204" pitchFamily="18" charset="0"/>
                            <a:ea typeface="Cambria" panose="02040503050406030204" pitchFamily="18" charset="0"/>
                          </a:rPr>
                          <m:t>𝑏</m:t>
                        </m:r>
                      </m:sup>
                    </m:sSup>
                  </m:oMath>
                </a14:m>
                <a:r>
                  <a:rPr lang="en-GB" noProof="0" dirty="0">
                    <a:solidFill>
                      <a:srgbClr val="162230"/>
                    </a:solidFill>
                    <a:latin typeface="Cambria" panose="02040503050406030204" pitchFamily="18" charset="0"/>
                    <a:ea typeface="Cambria" panose="02040503050406030204" pitchFamily="18" charset="0"/>
                  </a:rPr>
                  <a:t> is the body fixed commanded acceleration</a:t>
                </a:r>
              </a:p>
              <a:p>
                <a:pPr marL="1257300" lvl="2" indent="-342900">
                  <a:lnSpc>
                    <a:spcPct val="150000"/>
                  </a:lnSpc>
                  <a:spcBef>
                    <a:spcPct val="20000"/>
                  </a:spcBef>
                  <a:buClr>
                    <a:srgbClr val="971720"/>
                  </a:buClr>
                  <a:buSzPct val="70000"/>
                  <a:buFont typeface="Wingdings" panose="05000000000000000000" pitchFamily="2" charset="2"/>
                  <a:buChar char="v"/>
                </a:pPr>
                <a:r>
                  <a:rPr lang="en-GB" sz="2000" noProof="0" dirty="0">
                    <a:solidFill>
                      <a:srgbClr val="162230"/>
                    </a:solidFill>
                    <a:latin typeface="Cambria" panose="02040503050406030204" pitchFamily="18" charset="0"/>
                    <a:ea typeface="Cambria" panose="02040503050406030204" pitchFamily="18" charset="0"/>
                  </a:rPr>
                  <a:t>The commanded force and moments are chosen as </a:t>
                </a:r>
                <a:endParaRPr lang="en-GB" sz="2000" i="1" noProof="0" dirty="0">
                  <a:solidFill>
                    <a:srgbClr val="162230"/>
                  </a:solidFill>
                  <a:latin typeface="Cambria Math" panose="02040503050406030204" pitchFamily="18" charset="0"/>
                  <a:ea typeface="Cambria Math" panose="02040503050406030204" pitchFamily="18" charset="0"/>
                </a:endParaRPr>
              </a:p>
              <a:p>
                <a:pPr marL="1257300" lvl="2" indent="-342900">
                  <a:lnSpc>
                    <a:spcPct val="150000"/>
                  </a:lnSpc>
                  <a:spcBef>
                    <a:spcPct val="20000"/>
                  </a:spcBef>
                  <a:buClr>
                    <a:srgbClr val="971720"/>
                  </a:buClr>
                  <a:buSzPct val="70000"/>
                  <a:buFont typeface="Wingdings" panose="05000000000000000000" pitchFamily="2" charset="2"/>
                  <a:buChar char="v"/>
                </a:pPr>
                <a14:m>
                  <m:oMath xmlns:m="http://schemas.openxmlformats.org/officeDocument/2006/math">
                    <m:r>
                      <a:rPr lang="it-IT" sz="2000" b="0" i="1" noProof="0" smtClean="0">
                        <a:solidFill>
                          <a:srgbClr val="162230"/>
                        </a:solidFill>
                        <a:latin typeface="Cambria Math" panose="02040503050406030204" pitchFamily="18" charset="0"/>
                        <a:ea typeface="Cambria Math" panose="02040503050406030204" pitchFamily="18" charset="0"/>
                      </a:rPr>
                      <m:t>𝑢</m:t>
                    </m:r>
                    <m:r>
                      <a:rPr lang="en-GB" sz="2000" b="0" i="1" noProof="0" smtClean="0">
                        <a:solidFill>
                          <a:srgbClr val="162230"/>
                        </a:solidFill>
                        <a:latin typeface="Cambria Math" panose="02040503050406030204" pitchFamily="18" charset="0"/>
                        <a:ea typeface="Cambria Math" panose="02040503050406030204" pitchFamily="18" charset="0"/>
                      </a:rPr>
                      <m:t>=</m:t>
                    </m:r>
                    <m:r>
                      <a:rPr lang="en-GB" sz="2000" b="1" i="1" noProof="0" smtClean="0">
                        <a:solidFill>
                          <a:srgbClr val="162230"/>
                        </a:solidFill>
                        <a:latin typeface="Cambria Math" panose="02040503050406030204" pitchFamily="18" charset="0"/>
                        <a:ea typeface="Cambria" panose="02040503050406030204" pitchFamily="18" charset="0"/>
                      </a:rPr>
                      <m:t>𝑪</m:t>
                    </m:r>
                    <m:d>
                      <m:dPr>
                        <m:ctrlPr>
                          <a:rPr lang="en-GB" sz="2000" b="1" i="1" noProof="0" smtClean="0">
                            <a:solidFill>
                              <a:srgbClr val="162230"/>
                            </a:solidFill>
                            <a:latin typeface="Cambria Math" panose="02040503050406030204" pitchFamily="18" charset="0"/>
                            <a:ea typeface="Cambria" panose="02040503050406030204" pitchFamily="18" charset="0"/>
                          </a:rPr>
                        </m:ctrlPr>
                      </m:dPr>
                      <m:e>
                        <m:r>
                          <a:rPr lang="en-GB" sz="2000" b="1" i="1" noProof="0" smtClean="0">
                            <a:solidFill>
                              <a:srgbClr val="162230"/>
                            </a:solidFill>
                            <a:latin typeface="Cambria Math" panose="02040503050406030204" pitchFamily="18" charset="0"/>
                            <a:ea typeface="Cambria Math" panose="02040503050406030204" pitchFamily="18" charset="0"/>
                          </a:rPr>
                          <m:t>𝝂</m:t>
                        </m:r>
                      </m:e>
                    </m:d>
                    <m:r>
                      <a:rPr lang="en-GB" sz="2000" b="1" i="1" noProof="0" smtClean="0">
                        <a:solidFill>
                          <a:srgbClr val="162230"/>
                        </a:solidFill>
                        <a:latin typeface="Cambria Math" panose="02040503050406030204" pitchFamily="18" charset="0"/>
                        <a:ea typeface="Cambria Math" panose="02040503050406030204" pitchFamily="18" charset="0"/>
                      </a:rPr>
                      <m:t>𝝂</m:t>
                    </m:r>
                    <m:r>
                      <a:rPr lang="en-GB" sz="2000" b="1" i="1" noProof="0" smtClean="0">
                        <a:solidFill>
                          <a:srgbClr val="162230"/>
                        </a:solidFill>
                        <a:latin typeface="Cambria Math" panose="02040503050406030204" pitchFamily="18" charset="0"/>
                        <a:ea typeface="Cambria Math" panose="02040503050406030204" pitchFamily="18" charset="0"/>
                      </a:rPr>
                      <m:t>+</m:t>
                    </m:r>
                    <m:r>
                      <a:rPr lang="en-GB" sz="2000" b="1" i="1" noProof="0" smtClean="0">
                        <a:solidFill>
                          <a:srgbClr val="162230"/>
                        </a:solidFill>
                        <a:latin typeface="Cambria Math" panose="02040503050406030204" pitchFamily="18" charset="0"/>
                        <a:ea typeface="Cambria Math" panose="02040503050406030204" pitchFamily="18" charset="0"/>
                      </a:rPr>
                      <m:t>𝑫</m:t>
                    </m:r>
                    <m:d>
                      <m:dPr>
                        <m:ctrlPr>
                          <a:rPr lang="en-GB" sz="2000" b="1" i="1" noProof="0" smtClean="0">
                            <a:solidFill>
                              <a:srgbClr val="162230"/>
                            </a:solidFill>
                            <a:latin typeface="Cambria Math" panose="02040503050406030204" pitchFamily="18" charset="0"/>
                            <a:ea typeface="Cambria Math" panose="02040503050406030204" pitchFamily="18" charset="0"/>
                          </a:rPr>
                        </m:ctrlPr>
                      </m:dPr>
                      <m:e>
                        <m:r>
                          <a:rPr lang="en-GB" sz="2000" b="1" i="1" noProof="0" smtClean="0">
                            <a:solidFill>
                              <a:srgbClr val="162230"/>
                            </a:solidFill>
                            <a:latin typeface="Cambria Math" panose="02040503050406030204" pitchFamily="18" charset="0"/>
                            <a:ea typeface="Cambria Math" panose="02040503050406030204" pitchFamily="18" charset="0"/>
                          </a:rPr>
                          <m:t>𝝂</m:t>
                        </m:r>
                      </m:e>
                    </m:d>
                    <m:r>
                      <a:rPr lang="en-GB" sz="2000" b="1" i="1" noProof="0" smtClean="0">
                        <a:solidFill>
                          <a:srgbClr val="162230"/>
                        </a:solidFill>
                        <a:latin typeface="Cambria Math" panose="02040503050406030204" pitchFamily="18" charset="0"/>
                        <a:ea typeface="Cambria Math" panose="02040503050406030204" pitchFamily="18" charset="0"/>
                      </a:rPr>
                      <m:t>𝝂</m:t>
                    </m:r>
                    <m:r>
                      <a:rPr lang="en-GB" sz="2000" b="1" i="1" noProof="0" smtClean="0">
                        <a:solidFill>
                          <a:srgbClr val="162230"/>
                        </a:solidFill>
                        <a:latin typeface="Cambria Math" panose="02040503050406030204" pitchFamily="18" charset="0"/>
                        <a:ea typeface="Cambria Math" panose="02040503050406030204" pitchFamily="18" charset="0"/>
                      </a:rPr>
                      <m:t>+</m:t>
                    </m:r>
                    <m:r>
                      <a:rPr lang="en-GB" sz="2000" b="1" i="1" noProof="0" smtClean="0">
                        <a:solidFill>
                          <a:srgbClr val="162230"/>
                        </a:solidFill>
                        <a:latin typeface="Cambria Math" panose="02040503050406030204" pitchFamily="18" charset="0"/>
                        <a:ea typeface="Cambria Math" panose="02040503050406030204" pitchFamily="18" charset="0"/>
                      </a:rPr>
                      <m:t>𝒈</m:t>
                    </m:r>
                    <m:d>
                      <m:dPr>
                        <m:ctrlPr>
                          <a:rPr lang="en-GB" sz="2000" b="1" i="1" noProof="0" smtClean="0">
                            <a:solidFill>
                              <a:srgbClr val="162230"/>
                            </a:solidFill>
                            <a:latin typeface="Cambria Math" panose="02040503050406030204" pitchFamily="18" charset="0"/>
                            <a:ea typeface="Cambria Math" panose="02040503050406030204" pitchFamily="18" charset="0"/>
                          </a:rPr>
                        </m:ctrlPr>
                      </m:dPr>
                      <m:e>
                        <m:r>
                          <a:rPr lang="en-GB" sz="2000" b="1" i="1" noProof="0" smtClean="0">
                            <a:solidFill>
                              <a:srgbClr val="162230"/>
                            </a:solidFill>
                            <a:latin typeface="Cambria Math" panose="02040503050406030204" pitchFamily="18" charset="0"/>
                            <a:ea typeface="Cambria Math" panose="02040503050406030204" pitchFamily="18" charset="0"/>
                          </a:rPr>
                          <m:t>𝒒</m:t>
                        </m:r>
                      </m:e>
                    </m:d>
                    <m:r>
                      <a:rPr lang="en-GB" sz="2000" b="1" i="1" noProof="0" smtClean="0">
                        <a:solidFill>
                          <a:srgbClr val="162230"/>
                        </a:solidFill>
                        <a:latin typeface="Cambria Math" panose="02040503050406030204" pitchFamily="18" charset="0"/>
                        <a:ea typeface="Cambria Math" panose="02040503050406030204" pitchFamily="18" charset="0"/>
                      </a:rPr>
                      <m:t>+</m:t>
                    </m:r>
                    <m:r>
                      <a:rPr lang="en-GB" sz="2000" i="1" noProof="0" smtClean="0">
                        <a:solidFill>
                          <a:srgbClr val="162230"/>
                        </a:solidFill>
                        <a:latin typeface="Cambria Math" panose="02040503050406030204" pitchFamily="18" charset="0"/>
                        <a:ea typeface="Cambria Math" panose="02040503050406030204" pitchFamily="18" charset="0"/>
                      </a:rPr>
                      <m:t>𝑀</m:t>
                    </m:r>
                    <m:sSup>
                      <m:sSupPr>
                        <m:ctrlPr>
                          <a:rPr lang="en-GB" sz="2000" i="1" noProof="0" smtClean="0">
                            <a:solidFill>
                              <a:srgbClr val="162230"/>
                            </a:solidFill>
                            <a:latin typeface="Cambria Math" panose="02040503050406030204" pitchFamily="18" charset="0"/>
                            <a:ea typeface="Cambria Math" panose="02040503050406030204" pitchFamily="18" charset="0"/>
                          </a:rPr>
                        </m:ctrlPr>
                      </m:sSupPr>
                      <m:e>
                        <m:r>
                          <a:rPr lang="en-GB" sz="2000" i="1" noProof="0" smtClean="0">
                            <a:solidFill>
                              <a:srgbClr val="162230"/>
                            </a:solidFill>
                            <a:latin typeface="Cambria Math" panose="02040503050406030204" pitchFamily="18" charset="0"/>
                            <a:ea typeface="Cambria Math" panose="02040503050406030204" pitchFamily="18" charset="0"/>
                          </a:rPr>
                          <m:t>𝜆</m:t>
                        </m:r>
                      </m:e>
                      <m:sup>
                        <m:r>
                          <a:rPr lang="en-GB" sz="2000" i="1" noProof="0" smtClean="0">
                            <a:solidFill>
                              <a:srgbClr val="162230"/>
                            </a:solidFill>
                            <a:latin typeface="Cambria Math" panose="02040503050406030204" pitchFamily="18" charset="0"/>
                            <a:ea typeface="Cambria Math" panose="02040503050406030204" pitchFamily="18" charset="0"/>
                          </a:rPr>
                          <m:t>𝑏</m:t>
                        </m:r>
                      </m:sup>
                    </m:sSup>
                    <m:r>
                      <a:rPr lang="en-GB" sz="2000" b="0" i="1" noProof="0" smtClean="0">
                        <a:solidFill>
                          <a:srgbClr val="162230"/>
                        </a:solidFill>
                        <a:latin typeface="Cambria Math" panose="02040503050406030204" pitchFamily="18" charset="0"/>
                        <a:ea typeface="Cambria Math" panose="02040503050406030204" pitchFamily="18" charset="0"/>
                      </a:rPr>
                      <m:t>=</m:t>
                    </m:r>
                    <m:r>
                      <a:rPr lang="en-GB" sz="2000" b="1" i="1" noProof="0" smtClean="0">
                        <a:solidFill>
                          <a:srgbClr val="162230"/>
                        </a:solidFill>
                        <a:latin typeface="Cambria Math" panose="02040503050406030204" pitchFamily="18" charset="0"/>
                        <a:ea typeface="Cambria Math" panose="02040503050406030204" pitchFamily="18" charset="0"/>
                      </a:rPr>
                      <m:t>𝒏</m:t>
                    </m:r>
                    <m:d>
                      <m:dPr>
                        <m:ctrlPr>
                          <a:rPr lang="en-GB" sz="2000" b="1" i="1" noProof="0" smtClean="0">
                            <a:solidFill>
                              <a:srgbClr val="162230"/>
                            </a:solidFill>
                            <a:latin typeface="Cambria Math" panose="02040503050406030204" pitchFamily="18" charset="0"/>
                            <a:ea typeface="Cambria Math" panose="02040503050406030204" pitchFamily="18" charset="0"/>
                          </a:rPr>
                        </m:ctrlPr>
                      </m:dPr>
                      <m:e>
                        <m:r>
                          <a:rPr lang="en-GB" sz="2000" b="1" i="1" noProof="0" smtClean="0">
                            <a:solidFill>
                              <a:srgbClr val="162230"/>
                            </a:solidFill>
                            <a:latin typeface="Cambria Math" panose="02040503050406030204" pitchFamily="18" charset="0"/>
                            <a:ea typeface="Cambria Math" panose="02040503050406030204" pitchFamily="18" charset="0"/>
                          </a:rPr>
                          <m:t>𝜼</m:t>
                        </m:r>
                        <m:r>
                          <a:rPr lang="en-GB" sz="2000" b="1" i="1" noProof="0" smtClean="0">
                            <a:solidFill>
                              <a:srgbClr val="162230"/>
                            </a:solidFill>
                            <a:latin typeface="Cambria Math" panose="02040503050406030204" pitchFamily="18" charset="0"/>
                            <a:ea typeface="Cambria Math" panose="02040503050406030204" pitchFamily="18" charset="0"/>
                          </a:rPr>
                          <m:t>,</m:t>
                        </m:r>
                        <m:r>
                          <a:rPr lang="en-GB" sz="2000" b="1" i="1" noProof="0" smtClean="0">
                            <a:solidFill>
                              <a:srgbClr val="162230"/>
                            </a:solidFill>
                            <a:latin typeface="Cambria Math" panose="02040503050406030204" pitchFamily="18" charset="0"/>
                            <a:ea typeface="Cambria Math" panose="02040503050406030204" pitchFamily="18" charset="0"/>
                          </a:rPr>
                          <m:t>𝝂</m:t>
                        </m:r>
                      </m:e>
                    </m:d>
                    <m:r>
                      <a:rPr lang="en-GB" sz="2000" b="0" i="1" noProof="0" smtClean="0">
                        <a:solidFill>
                          <a:srgbClr val="162230"/>
                        </a:solidFill>
                        <a:latin typeface="Cambria Math" panose="02040503050406030204" pitchFamily="18" charset="0"/>
                        <a:ea typeface="Cambria Math" panose="02040503050406030204" pitchFamily="18" charset="0"/>
                      </a:rPr>
                      <m:t>+</m:t>
                    </m:r>
                    <m:r>
                      <a:rPr lang="en-GB" sz="2000" b="0" i="1" noProof="0" smtClean="0">
                        <a:solidFill>
                          <a:srgbClr val="162230"/>
                        </a:solidFill>
                        <a:latin typeface="Cambria Math" panose="02040503050406030204" pitchFamily="18" charset="0"/>
                        <a:ea typeface="Cambria Math" panose="02040503050406030204" pitchFamily="18" charset="0"/>
                      </a:rPr>
                      <m:t>𝑀</m:t>
                    </m:r>
                    <m:sSup>
                      <m:sSupPr>
                        <m:ctrlPr>
                          <a:rPr lang="en-GB" sz="2000" b="0" i="1" noProof="0" smtClean="0">
                            <a:solidFill>
                              <a:srgbClr val="162230"/>
                            </a:solidFill>
                            <a:latin typeface="Cambria Math" panose="02040503050406030204" pitchFamily="18" charset="0"/>
                            <a:ea typeface="Cambria Math" panose="02040503050406030204" pitchFamily="18" charset="0"/>
                          </a:rPr>
                        </m:ctrlPr>
                      </m:sSupPr>
                      <m:e>
                        <m:r>
                          <a:rPr lang="en-GB" sz="2000" b="0" i="1" noProof="0" smtClean="0">
                            <a:solidFill>
                              <a:srgbClr val="162230"/>
                            </a:solidFill>
                            <a:latin typeface="Cambria Math" panose="02040503050406030204" pitchFamily="18" charset="0"/>
                            <a:ea typeface="Cambria Math" panose="02040503050406030204" pitchFamily="18" charset="0"/>
                          </a:rPr>
                          <m:t>𝜆</m:t>
                        </m:r>
                      </m:e>
                      <m:sup>
                        <m:r>
                          <a:rPr lang="en-GB" sz="2000" b="0" i="1" noProof="0" smtClean="0">
                            <a:solidFill>
                              <a:srgbClr val="162230"/>
                            </a:solidFill>
                            <a:latin typeface="Cambria Math" panose="02040503050406030204" pitchFamily="18" charset="0"/>
                            <a:ea typeface="Cambria Math" panose="02040503050406030204" pitchFamily="18" charset="0"/>
                          </a:rPr>
                          <m:t>𝑏</m:t>
                        </m:r>
                      </m:sup>
                    </m:sSup>
                  </m:oMath>
                </a14:m>
                <a:endParaRPr lang="en-GB" sz="2000" noProof="0" dirty="0">
                  <a:solidFill>
                    <a:srgbClr val="162230"/>
                  </a:solidFill>
                  <a:latin typeface="Cambria" panose="02040503050406030204" pitchFamily="18" charset="0"/>
                  <a:ea typeface="Cambria" panose="02040503050406030204" pitchFamily="18" charset="0"/>
                </a:endParaRPr>
              </a:p>
              <a:p>
                <a:pPr marL="1257300" lvl="2" indent="-342900">
                  <a:lnSpc>
                    <a:spcPct val="150000"/>
                  </a:lnSpc>
                  <a:spcBef>
                    <a:spcPct val="20000"/>
                  </a:spcBef>
                  <a:buClr>
                    <a:srgbClr val="971720"/>
                  </a:buClr>
                  <a:buSzPct val="70000"/>
                  <a:buFont typeface="Wingdings" panose="05000000000000000000" pitchFamily="2" charset="2"/>
                  <a:buChar char="v"/>
                </a:pPr>
                <a14:m>
                  <m:oMath xmlns:m="http://schemas.openxmlformats.org/officeDocument/2006/math">
                    <m:sSup>
                      <m:sSupPr>
                        <m:ctrlPr>
                          <a:rPr lang="en-GB" sz="2000" i="1" noProof="0" smtClean="0">
                            <a:solidFill>
                              <a:srgbClr val="162230"/>
                            </a:solidFill>
                            <a:latin typeface="Cambria Math" panose="02040503050406030204" pitchFamily="18" charset="0"/>
                            <a:ea typeface="Cambria" panose="02040503050406030204" pitchFamily="18" charset="0"/>
                          </a:rPr>
                        </m:ctrlPr>
                      </m:sSupPr>
                      <m:e>
                        <m:r>
                          <a:rPr lang="en-GB" sz="2000" i="1" noProof="0" smtClean="0">
                            <a:solidFill>
                              <a:srgbClr val="162230"/>
                            </a:solidFill>
                            <a:latin typeface="Cambria Math" panose="02040503050406030204" pitchFamily="18" charset="0"/>
                            <a:ea typeface="Cambria Math" panose="02040503050406030204" pitchFamily="18" charset="0"/>
                          </a:rPr>
                          <m:t>𝜆</m:t>
                        </m:r>
                      </m:e>
                      <m:sup>
                        <m:r>
                          <a:rPr lang="en-GB" sz="2000" b="0" i="1" noProof="0" smtClean="0">
                            <a:solidFill>
                              <a:srgbClr val="162230"/>
                            </a:solidFill>
                            <a:latin typeface="Cambria Math" panose="02040503050406030204" pitchFamily="18" charset="0"/>
                            <a:ea typeface="Cambria" panose="02040503050406030204" pitchFamily="18" charset="0"/>
                          </a:rPr>
                          <m:t>𝑏</m:t>
                        </m:r>
                      </m:sup>
                    </m:sSup>
                    <m:r>
                      <a:rPr lang="en-GB" sz="2000" b="0" i="1" noProof="0" smtClean="0">
                        <a:solidFill>
                          <a:srgbClr val="162230"/>
                        </a:solidFill>
                        <a:latin typeface="Cambria Math" panose="02040503050406030204" pitchFamily="18" charset="0"/>
                        <a:ea typeface="Cambria" panose="02040503050406030204" pitchFamily="18" charset="0"/>
                      </a:rPr>
                      <m:t>=</m:t>
                    </m:r>
                    <m:sSup>
                      <m:sSupPr>
                        <m:ctrlPr>
                          <a:rPr lang="en-GB" sz="2000" b="0" i="1" noProof="0" smtClean="0">
                            <a:solidFill>
                              <a:srgbClr val="162230"/>
                            </a:solidFill>
                            <a:latin typeface="Cambria Math" panose="02040503050406030204" pitchFamily="18" charset="0"/>
                            <a:ea typeface="Cambria" panose="02040503050406030204" pitchFamily="18" charset="0"/>
                          </a:rPr>
                        </m:ctrlPr>
                      </m:sSupPr>
                      <m:e>
                        <m:r>
                          <a:rPr lang="en-GB" sz="2000" b="0" i="1" noProof="0" smtClean="0">
                            <a:solidFill>
                              <a:srgbClr val="162230"/>
                            </a:solidFill>
                            <a:latin typeface="Cambria Math" panose="02040503050406030204" pitchFamily="18" charset="0"/>
                            <a:ea typeface="Cambria" panose="02040503050406030204" pitchFamily="18" charset="0"/>
                          </a:rPr>
                          <m:t>𝐽</m:t>
                        </m:r>
                        <m:r>
                          <a:rPr lang="en-GB" sz="2000" b="0" i="1" noProof="0" smtClean="0">
                            <a:solidFill>
                              <a:srgbClr val="162230"/>
                            </a:solidFill>
                            <a:latin typeface="Cambria Math" panose="02040503050406030204" pitchFamily="18" charset="0"/>
                            <a:ea typeface="Cambria" panose="02040503050406030204" pitchFamily="18" charset="0"/>
                          </a:rPr>
                          <m:t>(</m:t>
                        </m:r>
                        <m:r>
                          <a:rPr lang="en-GB" sz="2000" b="0" i="1" noProof="0" smtClean="0">
                            <a:solidFill>
                              <a:srgbClr val="162230"/>
                            </a:solidFill>
                            <a:latin typeface="Cambria Math" panose="02040503050406030204" pitchFamily="18" charset="0"/>
                            <a:ea typeface="Cambria" panose="02040503050406030204" pitchFamily="18" charset="0"/>
                          </a:rPr>
                          <m:t>𝑞</m:t>
                        </m:r>
                        <m:r>
                          <a:rPr lang="en-GB" sz="2000" b="0" i="1" noProof="0" smtClean="0">
                            <a:solidFill>
                              <a:srgbClr val="162230"/>
                            </a:solidFill>
                            <a:latin typeface="Cambria Math" panose="02040503050406030204" pitchFamily="18" charset="0"/>
                            <a:ea typeface="Cambria" panose="02040503050406030204" pitchFamily="18" charset="0"/>
                          </a:rPr>
                          <m:t>)</m:t>
                        </m:r>
                      </m:e>
                      <m:sup>
                        <m:r>
                          <a:rPr lang="en-GB" sz="2000" i="1" noProof="0" smtClean="0">
                            <a:solidFill>
                              <a:srgbClr val="162230"/>
                            </a:solidFill>
                            <a:latin typeface="Cambria Math" panose="02040503050406030204" pitchFamily="18" charset="0"/>
                            <a:ea typeface="Cambria Math" panose="02040503050406030204" pitchFamily="18" charset="0"/>
                          </a:rPr>
                          <m:t>†</m:t>
                        </m:r>
                        <m:r>
                          <m:rPr>
                            <m:nor/>
                          </m:rPr>
                          <a:rPr lang="en-GB" sz="2000" noProof="0">
                            <a:solidFill>
                              <a:srgbClr val="162230"/>
                            </a:solidFill>
                            <a:latin typeface="Cambria" panose="02040503050406030204" pitchFamily="18" charset="0"/>
                            <a:ea typeface="Cambria" panose="02040503050406030204" pitchFamily="18" charset="0"/>
                          </a:rPr>
                          <m:t> </m:t>
                        </m:r>
                      </m:sup>
                    </m:sSup>
                    <m:r>
                      <a:rPr lang="en-GB" sz="2000" b="0" i="1" noProof="0" smtClean="0">
                        <a:solidFill>
                          <a:srgbClr val="162230"/>
                        </a:solidFill>
                        <a:latin typeface="Cambria Math" panose="02040503050406030204" pitchFamily="18" charset="0"/>
                        <a:ea typeface="Cambria" panose="02040503050406030204" pitchFamily="18" charset="0"/>
                      </a:rPr>
                      <m:t>[</m:t>
                    </m:r>
                    <m:sSup>
                      <m:sSupPr>
                        <m:ctrlPr>
                          <a:rPr lang="en-GB" sz="2000" b="0" i="1" noProof="0" smtClean="0">
                            <a:solidFill>
                              <a:srgbClr val="162230"/>
                            </a:solidFill>
                            <a:latin typeface="Cambria Math" panose="02040503050406030204" pitchFamily="18" charset="0"/>
                            <a:ea typeface="Cambria" panose="02040503050406030204" pitchFamily="18" charset="0"/>
                          </a:rPr>
                        </m:ctrlPr>
                      </m:sSupPr>
                      <m:e>
                        <m:r>
                          <a:rPr lang="en-GB" sz="2000" b="0" i="1" noProof="0" smtClean="0">
                            <a:solidFill>
                              <a:srgbClr val="162230"/>
                            </a:solidFill>
                            <a:latin typeface="Cambria Math" panose="02040503050406030204" pitchFamily="18" charset="0"/>
                            <a:ea typeface="Cambria Math" panose="02040503050406030204" pitchFamily="18" charset="0"/>
                          </a:rPr>
                          <m:t>𝜆</m:t>
                        </m:r>
                      </m:e>
                      <m:sup>
                        <m:r>
                          <a:rPr lang="en-GB" sz="2000" b="0" i="1" noProof="0" smtClean="0">
                            <a:solidFill>
                              <a:srgbClr val="162230"/>
                            </a:solidFill>
                            <a:latin typeface="Cambria Math" panose="02040503050406030204" pitchFamily="18" charset="0"/>
                            <a:ea typeface="Cambria" panose="02040503050406030204" pitchFamily="18" charset="0"/>
                          </a:rPr>
                          <m:t>𝑛</m:t>
                        </m:r>
                      </m:sup>
                    </m:sSup>
                    <m:r>
                      <a:rPr lang="en-GB" sz="2000" b="0" i="1" noProof="0" smtClean="0">
                        <a:solidFill>
                          <a:srgbClr val="162230"/>
                        </a:solidFill>
                        <a:latin typeface="Cambria Math" panose="02040503050406030204" pitchFamily="18" charset="0"/>
                        <a:ea typeface="Cambria" panose="02040503050406030204" pitchFamily="18" charset="0"/>
                      </a:rPr>
                      <m:t>−</m:t>
                    </m:r>
                    <m:acc>
                      <m:accPr>
                        <m:chr m:val="̇"/>
                        <m:ctrlPr>
                          <a:rPr lang="en-GB" sz="2000" b="0" i="1" noProof="0" smtClean="0">
                            <a:solidFill>
                              <a:srgbClr val="162230"/>
                            </a:solidFill>
                            <a:latin typeface="Cambria Math" panose="02040503050406030204" pitchFamily="18" charset="0"/>
                            <a:ea typeface="Cambria" panose="02040503050406030204" pitchFamily="18" charset="0"/>
                          </a:rPr>
                        </m:ctrlPr>
                      </m:accPr>
                      <m:e>
                        <m:r>
                          <a:rPr lang="en-GB" sz="2000" b="0" i="1" noProof="0" smtClean="0">
                            <a:solidFill>
                              <a:srgbClr val="162230"/>
                            </a:solidFill>
                            <a:latin typeface="Cambria Math" panose="02040503050406030204" pitchFamily="18" charset="0"/>
                            <a:ea typeface="Cambria" panose="02040503050406030204" pitchFamily="18" charset="0"/>
                          </a:rPr>
                          <m:t>𝐽</m:t>
                        </m:r>
                      </m:e>
                    </m:acc>
                    <m:r>
                      <a:rPr lang="en-GB" sz="2000" b="0" i="1" noProof="0" smtClean="0">
                        <a:solidFill>
                          <a:srgbClr val="162230"/>
                        </a:solidFill>
                        <a:latin typeface="Cambria Math" panose="02040503050406030204" pitchFamily="18" charset="0"/>
                        <a:ea typeface="Cambria" panose="02040503050406030204" pitchFamily="18" charset="0"/>
                      </a:rPr>
                      <m:t>(</m:t>
                    </m:r>
                    <m:r>
                      <a:rPr lang="en-GB" sz="2000" b="0" i="1" noProof="0" smtClean="0">
                        <a:solidFill>
                          <a:srgbClr val="162230"/>
                        </a:solidFill>
                        <a:latin typeface="Cambria Math" panose="02040503050406030204" pitchFamily="18" charset="0"/>
                        <a:ea typeface="Cambria" panose="02040503050406030204" pitchFamily="18" charset="0"/>
                      </a:rPr>
                      <m:t>𝑞</m:t>
                    </m:r>
                    <m:r>
                      <a:rPr lang="en-GB" sz="2000" b="0" i="1" noProof="0" smtClean="0">
                        <a:solidFill>
                          <a:srgbClr val="162230"/>
                        </a:solidFill>
                        <a:latin typeface="Cambria Math" panose="02040503050406030204" pitchFamily="18" charset="0"/>
                        <a:ea typeface="Cambria" panose="02040503050406030204" pitchFamily="18" charset="0"/>
                      </a:rPr>
                      <m:t>)</m:t>
                    </m:r>
                    <m:r>
                      <a:rPr lang="en-GB" sz="2000" i="1" noProof="0" smtClean="0">
                        <a:solidFill>
                          <a:srgbClr val="162230"/>
                        </a:solidFill>
                        <a:latin typeface="Cambria Math" panose="02040503050406030204" pitchFamily="18" charset="0"/>
                        <a:ea typeface="Cambria Math" panose="02040503050406030204" pitchFamily="18" charset="0"/>
                      </a:rPr>
                      <m:t>𝜈</m:t>
                    </m:r>
                    <m:r>
                      <a:rPr lang="en-GB" sz="2000" b="0" i="1" noProof="0" smtClean="0">
                        <a:solidFill>
                          <a:srgbClr val="162230"/>
                        </a:solidFill>
                        <a:latin typeface="Cambria Math" panose="02040503050406030204" pitchFamily="18" charset="0"/>
                        <a:ea typeface="Cambria Math" panose="02040503050406030204" pitchFamily="18" charset="0"/>
                      </a:rPr>
                      <m:t>]</m:t>
                    </m:r>
                  </m:oMath>
                </a14:m>
                <a:endParaRPr lang="en-GB" sz="2000" noProof="0" dirty="0">
                  <a:solidFill>
                    <a:srgbClr val="162230"/>
                  </a:solidFill>
                  <a:latin typeface="Cambria" panose="02040503050406030204" pitchFamily="18" charset="0"/>
                  <a:ea typeface="Cambria" panose="02040503050406030204" pitchFamily="18" charset="0"/>
                </a:endParaRPr>
              </a:p>
              <a:p>
                <a:pPr marL="1257300" lvl="2" indent="-342900">
                  <a:lnSpc>
                    <a:spcPct val="150000"/>
                  </a:lnSpc>
                  <a:spcBef>
                    <a:spcPct val="20000"/>
                  </a:spcBef>
                  <a:buClr>
                    <a:srgbClr val="971720"/>
                  </a:buClr>
                  <a:buSzPct val="70000"/>
                  <a:buFont typeface="Wingdings" panose="05000000000000000000" pitchFamily="2" charset="2"/>
                  <a:buChar char="v"/>
                </a:pPr>
                <a14:m>
                  <m:oMath xmlns:m="http://schemas.openxmlformats.org/officeDocument/2006/math">
                    <m:sSup>
                      <m:sSupPr>
                        <m:ctrlPr>
                          <a:rPr lang="en-GB" sz="2000" i="1" noProof="0" smtClean="0">
                            <a:solidFill>
                              <a:srgbClr val="162230"/>
                            </a:solidFill>
                            <a:latin typeface="Cambria Math" panose="02040503050406030204" pitchFamily="18" charset="0"/>
                            <a:ea typeface="Cambria" panose="02040503050406030204" pitchFamily="18" charset="0"/>
                          </a:rPr>
                        </m:ctrlPr>
                      </m:sSupPr>
                      <m:e>
                        <m:r>
                          <a:rPr lang="en-GB" sz="2000" i="1" noProof="0" smtClean="0">
                            <a:solidFill>
                              <a:srgbClr val="162230"/>
                            </a:solidFill>
                            <a:latin typeface="Cambria Math" panose="02040503050406030204" pitchFamily="18" charset="0"/>
                            <a:ea typeface="Cambria Math" panose="02040503050406030204" pitchFamily="18" charset="0"/>
                          </a:rPr>
                          <m:t>𝜆</m:t>
                        </m:r>
                      </m:e>
                      <m:sup>
                        <m:r>
                          <a:rPr lang="en-GB" sz="2000" b="0" i="1" noProof="0" smtClean="0">
                            <a:solidFill>
                              <a:srgbClr val="162230"/>
                            </a:solidFill>
                            <a:latin typeface="Cambria Math" panose="02040503050406030204" pitchFamily="18" charset="0"/>
                            <a:ea typeface="Cambria" panose="02040503050406030204" pitchFamily="18" charset="0"/>
                          </a:rPr>
                          <m:t>𝑛</m:t>
                        </m:r>
                      </m:sup>
                    </m:sSup>
                    <m:r>
                      <a:rPr lang="en-GB" sz="2000" b="0" i="1" noProof="0" smtClean="0">
                        <a:solidFill>
                          <a:srgbClr val="162230"/>
                        </a:solidFill>
                        <a:latin typeface="Cambria Math" panose="02040503050406030204" pitchFamily="18" charset="0"/>
                        <a:ea typeface="Cambria" panose="02040503050406030204" pitchFamily="18" charset="0"/>
                      </a:rPr>
                      <m:t>=</m:t>
                    </m:r>
                    <m:sSub>
                      <m:sSubPr>
                        <m:ctrlPr>
                          <a:rPr lang="en-GB" sz="2000" b="0" i="1" noProof="0" smtClean="0">
                            <a:solidFill>
                              <a:srgbClr val="162230"/>
                            </a:solidFill>
                            <a:latin typeface="Cambria Math" panose="02040503050406030204" pitchFamily="18" charset="0"/>
                            <a:ea typeface="Cambria" panose="02040503050406030204" pitchFamily="18" charset="0"/>
                          </a:rPr>
                        </m:ctrlPr>
                      </m:sSubPr>
                      <m:e>
                        <m:acc>
                          <m:accPr>
                            <m:chr m:val="̈"/>
                            <m:ctrlPr>
                              <a:rPr lang="en-GB" sz="2000" b="0" i="1" noProof="0" smtClean="0">
                                <a:solidFill>
                                  <a:srgbClr val="162230"/>
                                </a:solidFill>
                                <a:latin typeface="Cambria Math" panose="02040503050406030204" pitchFamily="18" charset="0"/>
                                <a:ea typeface="Cambria" panose="02040503050406030204" pitchFamily="18" charset="0"/>
                              </a:rPr>
                            </m:ctrlPr>
                          </m:accPr>
                          <m:e>
                            <m:r>
                              <a:rPr lang="en-GB" sz="2000" b="0" i="1" noProof="0" smtClean="0">
                                <a:solidFill>
                                  <a:srgbClr val="162230"/>
                                </a:solidFill>
                                <a:latin typeface="Cambria Math" panose="02040503050406030204" pitchFamily="18" charset="0"/>
                                <a:ea typeface="Cambria Math" panose="02040503050406030204" pitchFamily="18" charset="0"/>
                              </a:rPr>
                              <m:t>𝜂</m:t>
                            </m:r>
                          </m:e>
                        </m:acc>
                      </m:e>
                      <m:sub>
                        <m:r>
                          <a:rPr lang="en-GB" sz="2000" b="0" i="1" noProof="0" smtClean="0">
                            <a:solidFill>
                              <a:srgbClr val="162230"/>
                            </a:solidFill>
                            <a:latin typeface="Cambria Math" panose="02040503050406030204" pitchFamily="18" charset="0"/>
                            <a:ea typeface="Cambria" panose="02040503050406030204" pitchFamily="18" charset="0"/>
                          </a:rPr>
                          <m:t>𝑑</m:t>
                        </m:r>
                      </m:sub>
                    </m:sSub>
                    <m:r>
                      <a:rPr lang="en-GB" sz="2000" b="0" i="1" noProof="0" smtClean="0">
                        <a:solidFill>
                          <a:srgbClr val="162230"/>
                        </a:solidFill>
                        <a:latin typeface="Cambria Math" panose="02040503050406030204" pitchFamily="18" charset="0"/>
                        <a:ea typeface="Cambria" panose="02040503050406030204" pitchFamily="18" charset="0"/>
                      </a:rPr>
                      <m:t>+</m:t>
                    </m:r>
                    <m:sSub>
                      <m:sSubPr>
                        <m:ctrlPr>
                          <a:rPr lang="en-GB" sz="2000" b="0" i="1" noProof="0" smtClean="0">
                            <a:solidFill>
                              <a:srgbClr val="162230"/>
                            </a:solidFill>
                            <a:latin typeface="Cambria Math" panose="02040503050406030204" pitchFamily="18" charset="0"/>
                            <a:ea typeface="Cambria" panose="02040503050406030204" pitchFamily="18" charset="0"/>
                          </a:rPr>
                        </m:ctrlPr>
                      </m:sSubPr>
                      <m:e>
                        <m:r>
                          <a:rPr lang="en-GB" sz="2000" b="0" i="1" noProof="0" smtClean="0">
                            <a:solidFill>
                              <a:srgbClr val="162230"/>
                            </a:solidFill>
                            <a:latin typeface="Cambria Math" panose="02040503050406030204" pitchFamily="18" charset="0"/>
                            <a:ea typeface="Cambria" panose="02040503050406030204" pitchFamily="18" charset="0"/>
                          </a:rPr>
                          <m:t>𝐾</m:t>
                        </m:r>
                      </m:e>
                      <m:sub>
                        <m:r>
                          <a:rPr lang="en-GB" sz="2000" b="0" i="1" noProof="0" smtClean="0">
                            <a:solidFill>
                              <a:srgbClr val="162230"/>
                            </a:solidFill>
                            <a:latin typeface="Cambria Math" panose="02040503050406030204" pitchFamily="18" charset="0"/>
                            <a:ea typeface="Cambria" panose="02040503050406030204" pitchFamily="18" charset="0"/>
                          </a:rPr>
                          <m:t>𝐷</m:t>
                        </m:r>
                      </m:sub>
                    </m:sSub>
                    <m:acc>
                      <m:accPr>
                        <m:chr m:val="̇"/>
                        <m:ctrlPr>
                          <a:rPr lang="en-GB" sz="2000" b="0" i="1" noProof="0" smtClean="0">
                            <a:solidFill>
                              <a:srgbClr val="162230"/>
                            </a:solidFill>
                            <a:latin typeface="Cambria Math" panose="02040503050406030204" pitchFamily="18" charset="0"/>
                            <a:ea typeface="Cambria" panose="02040503050406030204" pitchFamily="18" charset="0"/>
                          </a:rPr>
                        </m:ctrlPr>
                      </m:accPr>
                      <m:e>
                        <m:acc>
                          <m:accPr>
                            <m:chr m:val="̃"/>
                            <m:ctrlPr>
                              <a:rPr lang="en-GB" sz="2000" b="0" i="1" noProof="0" smtClean="0">
                                <a:solidFill>
                                  <a:srgbClr val="162230"/>
                                </a:solidFill>
                                <a:latin typeface="Cambria Math" panose="02040503050406030204" pitchFamily="18" charset="0"/>
                                <a:ea typeface="Cambria" panose="02040503050406030204" pitchFamily="18" charset="0"/>
                              </a:rPr>
                            </m:ctrlPr>
                          </m:accPr>
                          <m:e>
                            <m:r>
                              <a:rPr lang="en-GB" sz="2000" b="0" i="1" noProof="0" smtClean="0">
                                <a:solidFill>
                                  <a:srgbClr val="162230"/>
                                </a:solidFill>
                                <a:latin typeface="Cambria Math" panose="02040503050406030204" pitchFamily="18" charset="0"/>
                                <a:ea typeface="Cambria Math" panose="02040503050406030204" pitchFamily="18" charset="0"/>
                              </a:rPr>
                              <m:t>𝜂</m:t>
                            </m:r>
                          </m:e>
                        </m:acc>
                      </m:e>
                    </m:acc>
                    <m:r>
                      <a:rPr lang="en-GB" sz="2000" b="0" i="1" noProof="0" smtClean="0">
                        <a:solidFill>
                          <a:srgbClr val="162230"/>
                        </a:solidFill>
                        <a:latin typeface="Cambria Math" panose="02040503050406030204" pitchFamily="18" charset="0"/>
                        <a:ea typeface="Cambria" panose="02040503050406030204" pitchFamily="18" charset="0"/>
                      </a:rPr>
                      <m:t>+</m:t>
                    </m:r>
                    <m:sSub>
                      <m:sSubPr>
                        <m:ctrlPr>
                          <a:rPr lang="en-GB" sz="2000" b="0" i="1" noProof="0" smtClean="0">
                            <a:solidFill>
                              <a:srgbClr val="162230"/>
                            </a:solidFill>
                            <a:latin typeface="Cambria Math" panose="02040503050406030204" pitchFamily="18" charset="0"/>
                            <a:ea typeface="Cambria" panose="02040503050406030204" pitchFamily="18" charset="0"/>
                          </a:rPr>
                        </m:ctrlPr>
                      </m:sSubPr>
                      <m:e>
                        <m:r>
                          <a:rPr lang="en-GB" sz="2000" b="0" i="1" noProof="0" smtClean="0">
                            <a:solidFill>
                              <a:srgbClr val="162230"/>
                            </a:solidFill>
                            <a:latin typeface="Cambria Math" panose="02040503050406030204" pitchFamily="18" charset="0"/>
                            <a:ea typeface="Cambria" panose="02040503050406030204" pitchFamily="18" charset="0"/>
                          </a:rPr>
                          <m:t>𝐾</m:t>
                        </m:r>
                      </m:e>
                      <m:sub>
                        <m:r>
                          <a:rPr lang="en-GB" sz="2000" b="0" i="1" noProof="0" smtClean="0">
                            <a:solidFill>
                              <a:srgbClr val="162230"/>
                            </a:solidFill>
                            <a:latin typeface="Cambria Math" panose="02040503050406030204" pitchFamily="18" charset="0"/>
                            <a:ea typeface="Cambria" panose="02040503050406030204" pitchFamily="18" charset="0"/>
                          </a:rPr>
                          <m:t>𝑃</m:t>
                        </m:r>
                      </m:sub>
                    </m:sSub>
                    <m:acc>
                      <m:accPr>
                        <m:chr m:val="̃"/>
                        <m:ctrlPr>
                          <a:rPr lang="en-GB" sz="2000" b="0" i="1" noProof="0" smtClean="0">
                            <a:solidFill>
                              <a:srgbClr val="162230"/>
                            </a:solidFill>
                            <a:latin typeface="Cambria Math" panose="02040503050406030204" pitchFamily="18" charset="0"/>
                            <a:ea typeface="Cambria" panose="02040503050406030204" pitchFamily="18" charset="0"/>
                          </a:rPr>
                        </m:ctrlPr>
                      </m:accPr>
                      <m:e>
                        <m:r>
                          <a:rPr lang="en-GB" sz="2000" b="0" i="1" noProof="0" smtClean="0">
                            <a:solidFill>
                              <a:srgbClr val="162230"/>
                            </a:solidFill>
                            <a:latin typeface="Cambria Math" panose="02040503050406030204" pitchFamily="18" charset="0"/>
                            <a:ea typeface="Cambria Math" panose="02040503050406030204" pitchFamily="18" charset="0"/>
                          </a:rPr>
                          <m:t>𝜂</m:t>
                        </m:r>
                      </m:e>
                    </m:acc>
                    <m:r>
                      <a:rPr lang="en-GB" sz="2000" b="0" i="1" noProof="0" smtClean="0">
                        <a:solidFill>
                          <a:srgbClr val="162230"/>
                        </a:solidFill>
                        <a:latin typeface="Cambria Math" panose="02040503050406030204" pitchFamily="18" charset="0"/>
                        <a:ea typeface="Cambria" panose="02040503050406030204" pitchFamily="18" charset="0"/>
                      </a:rPr>
                      <m:t> </m:t>
                    </m:r>
                  </m:oMath>
                </a14:m>
                <a:r>
                  <a:rPr lang="en-GB" sz="2000" noProof="0" dirty="0">
                    <a:solidFill>
                      <a:srgbClr val="162230"/>
                    </a:solidFill>
                    <a:latin typeface="Cambria" panose="02040503050406030204" pitchFamily="18" charset="0"/>
                    <a:ea typeface="Cambria" panose="02040503050406030204" pitchFamily="18" charset="0"/>
                  </a:rPr>
                  <a:t> </a:t>
                </a:r>
                <a:r>
                  <a:rPr lang="en-GB" noProof="0" dirty="0">
                    <a:solidFill>
                      <a:srgbClr val="162230"/>
                    </a:solidFill>
                    <a:latin typeface="Cambria" panose="02040503050406030204" pitchFamily="18" charset="0"/>
                    <a:ea typeface="Cambria" panose="02040503050406030204" pitchFamily="18" charset="0"/>
                  </a:rPr>
                  <a:t>where </a:t>
                </a:r>
                <a14:m>
                  <m:oMath xmlns:m="http://schemas.openxmlformats.org/officeDocument/2006/math">
                    <m:acc>
                      <m:accPr>
                        <m:chr m:val="̃"/>
                        <m:ctrlPr>
                          <a:rPr lang="en-GB" i="1" noProof="0" smtClean="0">
                            <a:solidFill>
                              <a:srgbClr val="162230"/>
                            </a:solidFill>
                            <a:latin typeface="Cambria Math" panose="02040503050406030204" pitchFamily="18" charset="0"/>
                            <a:ea typeface="Cambria" panose="02040503050406030204" pitchFamily="18" charset="0"/>
                          </a:rPr>
                        </m:ctrlPr>
                      </m:accPr>
                      <m:e>
                        <m:r>
                          <a:rPr lang="en-GB" i="1" noProof="0" smtClean="0">
                            <a:solidFill>
                              <a:srgbClr val="162230"/>
                            </a:solidFill>
                            <a:latin typeface="Cambria Math" panose="02040503050406030204" pitchFamily="18" charset="0"/>
                            <a:ea typeface="Cambria Math" panose="02040503050406030204" pitchFamily="18" charset="0"/>
                          </a:rPr>
                          <m:t>𝜂</m:t>
                        </m:r>
                      </m:e>
                    </m:acc>
                  </m:oMath>
                </a14:m>
                <a:r>
                  <a:rPr lang="en-GB" noProof="0" dirty="0">
                    <a:solidFill>
                      <a:srgbClr val="162230"/>
                    </a:solidFill>
                    <a:latin typeface="Cambria" panose="02040503050406030204" pitchFamily="18" charset="0"/>
                    <a:ea typeface="Cambria" panose="02040503050406030204" pitchFamily="18" charset="0"/>
                  </a:rPr>
                  <a:t> is the tracking error</a:t>
                </a:r>
              </a:p>
              <a:p>
                <a:pPr lvl="1">
                  <a:lnSpc>
                    <a:spcPct val="150000"/>
                  </a:lnSpc>
                  <a:spcBef>
                    <a:spcPct val="20000"/>
                  </a:spcBef>
                  <a:buClr>
                    <a:srgbClr val="971720"/>
                  </a:buClr>
                  <a:buSzPct val="70000"/>
                </a:pPr>
                <a:endParaRPr lang="en-GB" sz="2000" noProof="0" dirty="0">
                  <a:solidFill>
                    <a:srgbClr val="162230"/>
                  </a:solidFill>
                  <a:latin typeface="Century Gothic" pitchFamily="34" charset="0"/>
                </a:endParaRPr>
              </a:p>
            </p:txBody>
          </p:sp>
        </mc:Choice>
        <mc:Fallback>
          <p:sp>
            <p:nvSpPr>
              <p:cNvPr id="3" name="Rectangle 2">
                <a:extLst>
                  <a:ext uri="{FF2B5EF4-FFF2-40B4-BE49-F238E27FC236}">
                    <a16:creationId xmlns:a16="http://schemas.microsoft.com/office/drawing/2014/main" id="{7B5D0AD3-3CA2-8AE3-A837-E113D09DE40A}"/>
                  </a:ext>
                </a:extLst>
              </p:cNvPr>
              <p:cNvSpPr>
                <a:spLocks noRot="1" noChangeAspect="1" noMove="1" noResize="1" noEditPoints="1" noAdjustHandles="1" noChangeArrowheads="1" noChangeShapeType="1" noTextEdit="1"/>
              </p:cNvSpPr>
              <p:nvPr/>
            </p:nvSpPr>
            <p:spPr>
              <a:xfrm>
                <a:off x="111616" y="122442"/>
                <a:ext cx="12080384" cy="5250283"/>
              </a:xfrm>
              <a:prstGeom prst="rect">
                <a:avLst/>
              </a:prstGeom>
              <a:blipFill>
                <a:blip r:embed="rId4"/>
                <a:stretch>
                  <a:fillRect l="-656" t="-929"/>
                </a:stretch>
              </a:blipFill>
            </p:spPr>
            <p:txBody>
              <a:bodyPr/>
              <a:lstStyle/>
              <a:p>
                <a:r>
                  <a:rPr lang="it-IT">
                    <a:noFill/>
                  </a:rPr>
                  <a:t> </a:t>
                </a:r>
              </a:p>
            </p:txBody>
          </p:sp>
        </mc:Fallback>
      </mc:AlternateContent>
    </p:spTree>
    <p:extLst>
      <p:ext uri="{BB962C8B-B14F-4D97-AF65-F5344CB8AC3E}">
        <p14:creationId xmlns:p14="http://schemas.microsoft.com/office/powerpoint/2010/main" val="87694532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7B2B0-D90A-D546-CA16-DF9452FFEB7E}"/>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643516F8-D474-15D2-D3D3-0EB9C489D12F}"/>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pic>
        <p:nvPicPr>
          <p:cNvPr id="10" name="Picture 2" descr="C:\Bruno\campus\unina\Stationery\Dipartimenti\DIETI\Logo_DIETI_Porte.png">
            <a:extLst>
              <a:ext uri="{FF2B5EF4-FFF2-40B4-BE49-F238E27FC236}">
                <a16:creationId xmlns:a16="http://schemas.microsoft.com/office/drawing/2014/main" id="{8183A32F-B02C-A75E-F83A-0761C0D1DA6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B9D1B8C3-90C2-4EB7-08F7-1A256FBC51FB}"/>
              </a:ext>
            </a:extLst>
          </p:cNvPr>
          <p:cNvSpPr/>
          <p:nvPr/>
        </p:nvSpPr>
        <p:spPr>
          <a:xfrm>
            <a:off x="14286" y="6598816"/>
            <a:ext cx="12177714" cy="307777"/>
          </a:xfrm>
          <a:prstGeom prst="rect">
            <a:avLst/>
          </a:prstGeom>
        </p:spPr>
        <p:txBody>
          <a:bodyPr wrap="square">
            <a:spAutoFit/>
          </a:bodyPr>
          <a:lstStyle/>
          <a:p>
            <a:pPr marL="0" marR="0" lvl="0" indent="0" algn="ctr" defTabSz="457200" rtl="0" eaLnBrk="1" fontAlgn="auto" latinLnBrk="0" hangingPunct="1">
              <a:lnSpc>
                <a:spcPct val="100000"/>
              </a:lnSpc>
              <a:spcBef>
                <a:spcPts val="175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0" i="0" u="none" strike="noStrike" kern="1200" cap="none" spc="0" normalizeH="0" baseline="0" noProof="0" dirty="0">
                <a:ln>
                  <a:noFill/>
                </a:ln>
                <a:solidFill>
                  <a:srgbClr val="162230"/>
                </a:solidFill>
                <a:effectLst/>
                <a:uLnTx/>
                <a:uFillTx/>
                <a:latin typeface="Century Gothic"/>
                <a:ea typeface="+mn-ea"/>
                <a:cs typeface="Century Gothic"/>
              </a:rPr>
              <a:t>SIMULATION (1)</a:t>
            </a:r>
          </a:p>
        </p:txBody>
      </p:sp>
      <p:sp>
        <p:nvSpPr>
          <p:cNvPr id="3" name="Rectangle 2">
            <a:extLst>
              <a:ext uri="{FF2B5EF4-FFF2-40B4-BE49-F238E27FC236}">
                <a16:creationId xmlns:a16="http://schemas.microsoft.com/office/drawing/2014/main" id="{1502D849-E43C-029E-05CB-13B41D0394A1}"/>
              </a:ext>
            </a:extLst>
          </p:cNvPr>
          <p:cNvSpPr/>
          <p:nvPr/>
        </p:nvSpPr>
        <p:spPr>
          <a:xfrm>
            <a:off x="111616" y="48016"/>
            <a:ext cx="11224978" cy="2152769"/>
          </a:xfrm>
          <a:prstGeom prst="rect">
            <a:avLst/>
          </a:prstGeom>
          <a:solidFill>
            <a:schemeClr val="bg1"/>
          </a:solidFill>
        </p:spPr>
        <p:txBody>
          <a:bodyPr wrap="square" numCol="2">
            <a:spAutoFit/>
          </a:bodyPr>
          <a:lstStyle/>
          <a:p>
            <a:pPr marL="457200" marR="0" lvl="0" indent="-457200" algn="l" defTabSz="457200" rtl="0" eaLnBrk="1" fontAlgn="auto" latinLnBrk="0" hangingPunct="1">
              <a:lnSpc>
                <a:spcPct val="100000"/>
              </a:lnSpc>
              <a:spcBef>
                <a:spcPts val="0"/>
              </a:spcBef>
              <a:spcAft>
                <a:spcPts val="600"/>
              </a:spcAft>
              <a:buClr>
                <a:srgbClr val="971720"/>
              </a:buClr>
              <a:buSzTx/>
              <a:buFont typeface="Wingdings" panose="05000000000000000000" pitchFamily="2" charset="2"/>
              <a:buChar char="v"/>
              <a:tabLst/>
              <a:defRPr/>
            </a:pPr>
            <a:r>
              <a:rPr kumimoji="0" lang="en-GB" sz="2400" b="1" i="0" u="none" strike="noStrike" kern="1200" cap="none" spc="0" normalizeH="0" baseline="0" noProof="0" dirty="0">
                <a:ln>
                  <a:noFill/>
                </a:ln>
                <a:solidFill>
                  <a:srgbClr val="971720"/>
                </a:solidFill>
                <a:effectLst/>
                <a:uLnTx/>
                <a:uFillTx/>
                <a:latin typeface="Cambria" panose="02040503050406030204" pitchFamily="18" charset="0"/>
                <a:ea typeface="Cambria" panose="02040503050406030204" pitchFamily="18" charset="0"/>
                <a:cs typeface="Century Gothic"/>
              </a:rPr>
              <a:t>Simulation</a:t>
            </a:r>
          </a:p>
          <a:p>
            <a:pPr>
              <a:lnSpc>
                <a:spcPct val="150000"/>
              </a:lnSpc>
              <a:spcBef>
                <a:spcPct val="20000"/>
              </a:spcBef>
              <a:buClr>
                <a:srgbClr val="FFC000"/>
              </a:buClr>
              <a:buSzPct val="70000"/>
            </a:pPr>
            <a:r>
              <a:rPr kumimoji="0" lang="en-GB" sz="2200" b="1" i="0" u="none" strike="noStrike" kern="1200" cap="none" spc="0" normalizeH="0" baseline="0" noProof="0" dirty="0">
                <a:ln>
                  <a:noFill/>
                </a:ln>
                <a:solidFill>
                  <a:srgbClr val="162230"/>
                </a:solidFill>
                <a:effectLst/>
                <a:uLnTx/>
                <a:uFillTx/>
                <a:latin typeface="Cambria" panose="02040503050406030204" pitchFamily="18" charset="0"/>
                <a:ea typeface="Cambria" panose="02040503050406030204" pitchFamily="18" charset="0"/>
                <a:cs typeface="+mn-cs"/>
              </a:rPr>
              <a:t>						</a:t>
            </a:r>
          </a:p>
          <a:p>
            <a:pPr marL="800100" lvl="1" indent="-342900">
              <a:lnSpc>
                <a:spcPct val="150000"/>
              </a:lnSpc>
              <a:spcBef>
                <a:spcPct val="20000"/>
              </a:spcBef>
              <a:buClr>
                <a:srgbClr val="FFC000"/>
              </a:buClr>
              <a:buSzPct val="70000"/>
              <a:buFont typeface="Wingdings" panose="05000000000000000000" pitchFamily="2" charset="2"/>
              <a:buChar char="v"/>
            </a:pPr>
            <a:endParaRPr kumimoji="0" lang="en-GB" b="1" i="0" u="none" strike="noStrike" kern="1200" cap="none" spc="0" normalizeH="0" baseline="0" noProof="0" dirty="0">
              <a:ln>
                <a:noFill/>
              </a:ln>
              <a:solidFill>
                <a:srgbClr val="162230"/>
              </a:solidFill>
              <a:effectLst/>
              <a:uLnTx/>
              <a:uFillTx/>
              <a:latin typeface="Cambria" panose="02040503050406030204" pitchFamily="18" charset="0"/>
              <a:ea typeface="Cambria" panose="02040503050406030204" pitchFamily="18" charset="0"/>
              <a:cs typeface="+mn-cs"/>
            </a:endParaRPr>
          </a:p>
          <a:p>
            <a:pPr lvl="3">
              <a:lnSpc>
                <a:spcPct val="150000"/>
              </a:lnSpc>
              <a:spcBef>
                <a:spcPct val="20000"/>
              </a:spcBef>
              <a:buClr>
                <a:srgbClr val="971720"/>
              </a:buClr>
              <a:buSzPct val="70000"/>
            </a:pPr>
            <a:r>
              <a:rPr kumimoji="0" lang="en-GB" sz="2000" b="0" i="0" u="none" strike="noStrike" kern="1200" cap="none" spc="0" normalizeH="0" baseline="0" noProof="0" dirty="0">
                <a:ln>
                  <a:noFill/>
                </a:ln>
                <a:solidFill>
                  <a:srgbClr val="162230"/>
                </a:solidFill>
                <a:effectLst/>
                <a:uLnTx/>
                <a:uFillTx/>
                <a:latin typeface="Century Gothic" pitchFamily="34" charset="0"/>
                <a:ea typeface="+mn-ea"/>
                <a:cs typeface="+mn-cs"/>
              </a:rPr>
              <a:t>	</a:t>
            </a:r>
          </a:p>
          <a:p>
            <a:pPr marL="1714500" lvl="3" indent="-342900">
              <a:lnSpc>
                <a:spcPct val="150000"/>
              </a:lnSpc>
              <a:spcBef>
                <a:spcPct val="20000"/>
              </a:spcBef>
              <a:buClr>
                <a:srgbClr val="971720"/>
              </a:buClr>
              <a:buSzPct val="70000"/>
              <a:buFont typeface="Wingdings" panose="05000000000000000000" pitchFamily="2" charset="2"/>
              <a:buChar char="v"/>
            </a:pPr>
            <a:endParaRPr kumimoji="0" lang="en-GB" sz="2000" b="0" i="0" u="none" strike="noStrike" kern="1200" cap="none" spc="0" normalizeH="0" baseline="0" noProof="0" dirty="0">
              <a:ln>
                <a:noFill/>
              </a:ln>
              <a:solidFill>
                <a:srgbClr val="FFDC00"/>
              </a:solidFill>
              <a:effectLst/>
              <a:uLnTx/>
              <a:uFillTx/>
              <a:latin typeface="Century Gothic" pitchFamily="34" charset="0"/>
              <a:ea typeface="+mn-ea"/>
              <a:cs typeface="+mn-cs"/>
            </a:endParaRPr>
          </a:p>
        </p:txBody>
      </p:sp>
      <p:sp>
        <p:nvSpPr>
          <p:cNvPr id="4" name="CasellaDiTesto 3">
            <a:extLst>
              <a:ext uri="{FF2B5EF4-FFF2-40B4-BE49-F238E27FC236}">
                <a16:creationId xmlns:a16="http://schemas.microsoft.com/office/drawing/2014/main" id="{1F38E785-9DEC-AAD2-402C-6577ECB94927}"/>
              </a:ext>
            </a:extLst>
          </p:cNvPr>
          <p:cNvSpPr txBox="1"/>
          <p:nvPr/>
        </p:nvSpPr>
        <p:spPr>
          <a:xfrm>
            <a:off x="385703" y="1916580"/>
            <a:ext cx="6703355" cy="3139321"/>
          </a:xfrm>
          <a:prstGeom prst="rect">
            <a:avLst/>
          </a:prstGeom>
          <a:noFill/>
        </p:spPr>
        <p:txBody>
          <a:bodyPr wrap="square" numCol="1" rtlCol="0">
            <a:spAutoFit/>
          </a:bodyPr>
          <a:lstStyle/>
          <a:p>
            <a:pPr marL="285750" indent="-285750">
              <a:buClr>
                <a:srgbClr val="FFDC00"/>
              </a:buClr>
              <a:buFont typeface="Wingdings" panose="05000000000000000000" pitchFamily="2" charset="2"/>
              <a:buChar char="v"/>
            </a:pPr>
            <a:r>
              <a:rPr lang="en-GB" noProof="0" dirty="0">
                <a:latin typeface="Cambria" panose="02040503050406030204" pitchFamily="18" charset="0"/>
                <a:ea typeface="Cambria" panose="02040503050406030204" pitchFamily="18" charset="0"/>
              </a:rPr>
              <a:t>Carried out in </a:t>
            </a:r>
            <a:r>
              <a:rPr lang="en-GB" b="1" noProof="0" dirty="0" err="1">
                <a:latin typeface="Cambria" panose="02040503050406030204" pitchFamily="18" charset="0"/>
                <a:ea typeface="Cambria" panose="02040503050406030204" pitchFamily="18" charset="0"/>
              </a:rPr>
              <a:t>Matlab</a:t>
            </a:r>
            <a:r>
              <a:rPr lang="en-GB" b="1" noProof="0" dirty="0">
                <a:latin typeface="Cambria" panose="02040503050406030204" pitchFamily="18" charset="0"/>
                <a:ea typeface="Cambria" panose="02040503050406030204" pitchFamily="18" charset="0"/>
              </a:rPr>
              <a:t>-Simulink</a:t>
            </a: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noProof="0" dirty="0">
                <a:latin typeface="Cambria" panose="02040503050406030204" pitchFamily="18" charset="0"/>
                <a:ea typeface="Cambria" panose="02040503050406030204" pitchFamily="18" charset="0"/>
              </a:rPr>
              <a:t>Solver </a:t>
            </a:r>
            <a:r>
              <a:rPr lang="en-GB" b="1" noProof="0" dirty="0">
                <a:latin typeface="Cambria" panose="02040503050406030204" pitchFamily="18" charset="0"/>
                <a:ea typeface="Cambria" panose="02040503050406030204" pitchFamily="18" charset="0"/>
              </a:rPr>
              <a:t>ode45</a:t>
            </a:r>
            <a:r>
              <a:rPr lang="en-GB" noProof="0" dirty="0">
                <a:latin typeface="Cambria" panose="02040503050406030204" pitchFamily="18" charset="0"/>
                <a:ea typeface="Cambria" panose="02040503050406030204" pitchFamily="18" charset="0"/>
              </a:rPr>
              <a:t> (</a:t>
            </a:r>
            <a:r>
              <a:rPr lang="en-GB" b="1" noProof="0" dirty="0">
                <a:latin typeface="Cambria" panose="02040503050406030204" pitchFamily="18" charset="0"/>
                <a:ea typeface="Cambria" panose="02040503050406030204" pitchFamily="18" charset="0"/>
              </a:rPr>
              <a:t>Dormand-Prince</a:t>
            </a:r>
            <a:r>
              <a:rPr lang="en-GB" noProof="0" dirty="0">
                <a:latin typeface="Cambria" panose="02040503050406030204" pitchFamily="18" charset="0"/>
                <a:ea typeface="Cambria" panose="02040503050406030204" pitchFamily="18" charset="0"/>
              </a:rPr>
              <a:t>), otherwise singular solutions may occur in the integration</a:t>
            </a:r>
          </a:p>
          <a:p>
            <a:pPr>
              <a:buClr>
                <a:srgbClr val="FFDC00"/>
              </a:buClr>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noProof="0" dirty="0">
                <a:latin typeface="Cambria" panose="02040503050406030204" pitchFamily="18" charset="0"/>
                <a:ea typeface="Cambria" panose="02040503050406030204" pitchFamily="18" charset="0"/>
              </a:rPr>
              <a:t>The objective is to make the ROV follow a desired 3D trajectory</a:t>
            </a: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noProof="0" dirty="0">
                <a:latin typeface="Cambria" panose="02040503050406030204" pitchFamily="18" charset="0"/>
                <a:ea typeface="Cambria" panose="02040503050406030204" pitchFamily="18" charset="0"/>
              </a:rPr>
              <a:t>Tuning of the parameters </a:t>
            </a:r>
            <a:r>
              <a:rPr lang="en-GB" i="1" noProof="0" dirty="0">
                <a:latin typeface="Cambria" panose="02040503050406030204" pitchFamily="18" charset="0"/>
                <a:ea typeface="Cambria" panose="02040503050406030204" pitchFamily="18" charset="0"/>
              </a:rPr>
              <a:t>via</a:t>
            </a:r>
            <a:r>
              <a:rPr lang="en-GB" noProof="0" dirty="0">
                <a:latin typeface="Cambria" panose="02040503050406030204" pitchFamily="18" charset="0"/>
                <a:ea typeface="Cambria" panose="02040503050406030204" pitchFamily="18" charset="0"/>
              </a:rPr>
              <a:t> tiral-and-error</a:t>
            </a: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p:txBody>
      </p:sp>
      <p:pic>
        <p:nvPicPr>
          <p:cNvPr id="13" name="Immagine 12" descr="Immagine che contiene testo, diagramma, schizzo, design&#10;&#10;Il contenuto generato dall'IA potrebbe non essere corretto.">
            <a:extLst>
              <a:ext uri="{FF2B5EF4-FFF2-40B4-BE49-F238E27FC236}">
                <a16:creationId xmlns:a16="http://schemas.microsoft.com/office/drawing/2014/main" id="{3498543E-69F3-7BF2-565E-834ED2F55385}"/>
              </a:ext>
            </a:extLst>
          </p:cNvPr>
          <p:cNvPicPr>
            <a:picLocks noChangeAspect="1"/>
          </p:cNvPicPr>
          <p:nvPr/>
        </p:nvPicPr>
        <p:blipFill>
          <a:blip r:embed="rId4"/>
          <a:srcRect l="21243" r="22572"/>
          <a:stretch>
            <a:fillRect/>
          </a:stretch>
        </p:blipFill>
        <p:spPr>
          <a:xfrm>
            <a:off x="7798010" y="549023"/>
            <a:ext cx="4393990" cy="5865501"/>
          </a:xfrm>
          <a:prstGeom prst="rect">
            <a:avLst/>
          </a:prstGeom>
        </p:spPr>
      </p:pic>
    </p:spTree>
    <p:extLst>
      <p:ext uri="{BB962C8B-B14F-4D97-AF65-F5344CB8AC3E}">
        <p14:creationId xmlns:p14="http://schemas.microsoft.com/office/powerpoint/2010/main" val="1261593164"/>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12A51-215C-BD3B-3275-6D81B976A184}"/>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D864D520-3C52-6310-60E4-2C497596AF08}"/>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en-GB" kern="0" noProof="0" dirty="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06D2D916-FF45-EE44-B01C-7DA2591EA94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45CD1594-0A52-8865-33EB-8D1D098C4757}"/>
              </a:ext>
            </a:extLst>
          </p:cNvPr>
          <p:cNvSpPr/>
          <p:nvPr/>
        </p:nvSpPr>
        <p:spPr>
          <a:xfrm>
            <a:off x="14286" y="6598816"/>
            <a:ext cx="12177714" cy="307777"/>
          </a:xfrm>
          <a:prstGeom prst="rect">
            <a:avLst/>
          </a:prstGeom>
        </p:spPr>
        <p:txBody>
          <a:bodyPr wrap="square">
            <a:spAutoFit/>
          </a:bodyPr>
          <a:lstStyle/>
          <a:p>
            <a:pPr algn="ct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noProof="0" dirty="0">
                <a:solidFill>
                  <a:srgbClr val="162230"/>
                </a:solidFill>
                <a:latin typeface="Century Gothic"/>
                <a:cs typeface="Century Gothic"/>
              </a:rPr>
              <a:t>SIMULATION (2)</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22DC0D29-D1BE-D482-DD43-D799D32B611D}"/>
                  </a:ext>
                </a:extLst>
              </p:cNvPr>
              <p:cNvSpPr/>
              <p:nvPr/>
            </p:nvSpPr>
            <p:spPr>
              <a:xfrm>
                <a:off x="111616" y="122442"/>
                <a:ext cx="5640256" cy="3939476"/>
              </a:xfrm>
              <a:prstGeom prst="rect">
                <a:avLst/>
              </a:prstGeom>
              <a:solidFill>
                <a:schemeClr val="bg1"/>
              </a:solidFill>
            </p:spPr>
            <p:txBody>
              <a:bodyPr wrap="square">
                <a:spAutoFit/>
              </a:bodyPr>
              <a:lstStyle/>
              <a:p>
                <a:pPr marL="457200" indent="-457200">
                  <a:spcAft>
                    <a:spcPts val="600"/>
                  </a:spcAft>
                  <a:buClr>
                    <a:srgbClr val="971720"/>
                  </a:buClr>
                  <a:buFont typeface="Wingdings" panose="05000000000000000000" pitchFamily="2" charset="2"/>
                  <a:buChar char="v"/>
                </a:pPr>
                <a:r>
                  <a:rPr lang="en-GB" sz="2400" b="1" noProof="0" dirty="0">
                    <a:solidFill>
                      <a:srgbClr val="971720"/>
                    </a:solidFill>
                    <a:latin typeface="Cambria" panose="02040503050406030204" pitchFamily="18" charset="0"/>
                    <a:ea typeface="Cambria" panose="02040503050406030204" pitchFamily="18" charset="0"/>
                    <a:cs typeface="Century Gothic"/>
                  </a:rPr>
                  <a:t>Simulation</a:t>
                </a:r>
                <a:endParaRPr lang="en-GB" sz="2800" b="1" noProof="0" dirty="0">
                  <a:solidFill>
                    <a:srgbClr val="971720"/>
                  </a:solidFill>
                  <a:latin typeface="Cambria" panose="02040503050406030204" pitchFamily="18" charset="0"/>
                  <a:ea typeface="Cambria" panose="02040503050406030204" pitchFamily="18" charset="0"/>
                  <a:cs typeface="Century Gothic"/>
                </a:endParaRPr>
              </a:p>
              <a:p>
                <a:pPr marL="457200" lvl="0" indent="-457200">
                  <a:lnSpc>
                    <a:spcPct val="150000"/>
                  </a:lnSpc>
                  <a:spcBef>
                    <a:spcPct val="20000"/>
                  </a:spcBef>
                  <a:buClr>
                    <a:srgbClr val="FFC000"/>
                  </a:buClr>
                  <a:buSzPct val="70000"/>
                  <a:buFont typeface="Wingdings" panose="05000000000000000000" pitchFamily="2" charset="2"/>
                  <a:buChar char="v"/>
                </a:pPr>
                <a:r>
                  <a:rPr lang="en-GB" sz="2000" b="1" noProof="0" dirty="0">
                    <a:solidFill>
                      <a:srgbClr val="162230"/>
                    </a:solidFill>
                    <a:latin typeface="Cambria" panose="02040503050406030204" pitchFamily="18" charset="0"/>
                    <a:ea typeface="Cambria" panose="02040503050406030204" pitchFamily="18" charset="0"/>
                  </a:rPr>
                  <a:t>Sliding controller	</a:t>
                </a:r>
                <a:r>
                  <a:rPr lang="en-GB" sz="2200" b="1" noProof="0" dirty="0">
                    <a:solidFill>
                      <a:srgbClr val="162230"/>
                    </a:solidFill>
                    <a:latin typeface="Cambria" panose="02040503050406030204" pitchFamily="18" charset="0"/>
                    <a:ea typeface="Cambria" panose="02040503050406030204" pitchFamily="18" charset="0"/>
                  </a:rPr>
                  <a:t>				</a:t>
                </a:r>
              </a:p>
              <a:p>
                <a:pPr marL="914400" lvl="1" indent="-457200">
                  <a:lnSpc>
                    <a:spcPct val="150000"/>
                  </a:lnSpc>
                  <a:spcBef>
                    <a:spcPct val="20000"/>
                  </a:spcBef>
                  <a:buClr>
                    <a:srgbClr val="FFDC00"/>
                  </a:buClr>
                  <a:buSzPct val="70000"/>
                  <a:buFont typeface="Wingdings" panose="05000000000000000000" pitchFamily="2" charset="2"/>
                  <a:buChar char="v"/>
                </a:pPr>
                <a14:m>
                  <m:oMath xmlns:m="http://schemas.openxmlformats.org/officeDocument/2006/math">
                    <m:sSub>
                      <m:sSubPr>
                        <m:ctrlPr>
                          <a:rPr lang="en-GB" b="1" i="1" noProof="0" smtClean="0">
                            <a:latin typeface="Cambria Math" panose="02040503050406030204" pitchFamily="18" charset="0"/>
                            <a:ea typeface="Cambria" panose="02040503050406030204" pitchFamily="18" charset="0"/>
                          </a:rPr>
                        </m:ctrlPr>
                      </m:sSubPr>
                      <m:e>
                        <m:r>
                          <a:rPr lang="en-GB" b="1" i="1" noProof="0" smtClean="0">
                            <a:latin typeface="Cambria Math" panose="02040503050406030204" pitchFamily="18" charset="0"/>
                            <a:ea typeface="Cambria" panose="02040503050406030204" pitchFamily="18" charset="0"/>
                          </a:rPr>
                          <m:t>𝑲</m:t>
                        </m:r>
                      </m:e>
                      <m:sub>
                        <m:r>
                          <a:rPr lang="en-GB" b="1" i="1" noProof="0" smtClean="0">
                            <a:latin typeface="Cambria Math" panose="02040503050406030204" pitchFamily="18" charset="0"/>
                            <a:ea typeface="Cambria" panose="02040503050406030204" pitchFamily="18" charset="0"/>
                          </a:rPr>
                          <m:t>𝑫</m:t>
                        </m:r>
                      </m:sub>
                    </m:sSub>
                    <m:r>
                      <a:rPr lang="en-GB" b="1" i="1" noProof="0" smtClean="0">
                        <a:latin typeface="Cambria Math" panose="02040503050406030204" pitchFamily="18" charset="0"/>
                        <a:ea typeface="Cambria" panose="02040503050406030204" pitchFamily="18" charset="0"/>
                      </a:rPr>
                      <m:t> </m:t>
                    </m:r>
                  </m:oMath>
                </a14:m>
                <a:r>
                  <a:rPr lang="en-GB" b="1" noProof="0" dirty="0">
                    <a:latin typeface="Cambria" panose="02040503050406030204" pitchFamily="18" charset="0"/>
                    <a:ea typeface="Cambria" panose="02040503050406030204" pitchFamily="18" charset="0"/>
                  </a:rPr>
                  <a:t> </a:t>
                </a:r>
                <a:r>
                  <a:rPr lang="en-GB" noProof="0" dirty="0">
                    <a:latin typeface="Cambria" panose="02040503050406030204" pitchFamily="18" charset="0"/>
                    <a:ea typeface="Cambria" panose="02040503050406030204" pitchFamily="18" charset="0"/>
                  </a:rPr>
                  <a:t>and </a:t>
                </a:r>
                <a14:m>
                  <m:oMath xmlns:m="http://schemas.openxmlformats.org/officeDocument/2006/math">
                    <m:r>
                      <a:rPr lang="en-GB" b="1" i="1" noProof="0" smtClean="0">
                        <a:latin typeface="Cambria Math" panose="02040503050406030204" pitchFamily="18" charset="0"/>
                        <a:ea typeface="Cambria Math" panose="02040503050406030204" pitchFamily="18" charset="0"/>
                      </a:rPr>
                      <m:t>𝜦</m:t>
                    </m:r>
                  </m:oMath>
                </a14:m>
                <a:r>
                  <a:rPr lang="en-GB" noProof="0" dirty="0">
                    <a:latin typeface="Cambria" panose="02040503050406030204" pitchFamily="18" charset="0"/>
                    <a:ea typeface="Cambria" panose="02040503050406030204" pitchFamily="18" charset="0"/>
                  </a:rPr>
                  <a:t> influenced the most the tracking accuracy</a:t>
                </a:r>
              </a:p>
              <a:p>
                <a:pPr marL="914400" lvl="1" indent="-457200">
                  <a:lnSpc>
                    <a:spcPct val="150000"/>
                  </a:lnSpc>
                  <a:spcBef>
                    <a:spcPct val="20000"/>
                  </a:spcBef>
                  <a:buClr>
                    <a:srgbClr val="FFDC00"/>
                  </a:buClr>
                  <a:buSzPct val="70000"/>
                  <a:buFont typeface="Wingdings" panose="05000000000000000000" pitchFamily="2" charset="2"/>
                  <a:buChar char="v"/>
                </a:pPr>
                <a14:m>
                  <m:oMath xmlns:m="http://schemas.openxmlformats.org/officeDocument/2006/math">
                    <m:sSub>
                      <m:sSubPr>
                        <m:ctrlPr>
                          <a:rPr lang="en-GB" b="0" i="1" noProof="0" smtClean="0">
                            <a:latin typeface="Cambria Math" panose="02040503050406030204" pitchFamily="18" charset="0"/>
                            <a:ea typeface="Cambria" panose="02040503050406030204" pitchFamily="18" charset="0"/>
                          </a:rPr>
                        </m:ctrlPr>
                      </m:sSubPr>
                      <m:e>
                        <m:r>
                          <a:rPr lang="en-GB" b="0" i="1" noProof="0" smtClean="0">
                            <a:latin typeface="Cambria Math" panose="02040503050406030204" pitchFamily="18" charset="0"/>
                            <a:ea typeface="Cambria" panose="02040503050406030204" pitchFamily="18" charset="0"/>
                          </a:rPr>
                          <m:t>𝐾</m:t>
                        </m:r>
                      </m:e>
                      <m:sub>
                        <m:r>
                          <a:rPr lang="en-GB" b="0" i="1" noProof="0" smtClean="0">
                            <a:latin typeface="Cambria Math" panose="02040503050406030204" pitchFamily="18" charset="0"/>
                            <a:ea typeface="Cambria" panose="02040503050406030204" pitchFamily="18" charset="0"/>
                          </a:rPr>
                          <m:t>𝐷</m:t>
                        </m:r>
                      </m:sub>
                    </m:sSub>
                    <m:r>
                      <a:rPr lang="en-GB" b="0" i="1" noProof="0" smtClean="0">
                        <a:latin typeface="Cambria Math" panose="02040503050406030204" pitchFamily="18" charset="0"/>
                        <a:ea typeface="Cambria" panose="02040503050406030204" pitchFamily="18" charset="0"/>
                      </a:rPr>
                      <m:t>=</m:t>
                    </m:r>
                    <m:r>
                      <a:rPr lang="en-GB" b="0" i="1" noProof="0" smtClean="0">
                        <a:latin typeface="Cambria Math" panose="02040503050406030204" pitchFamily="18" charset="0"/>
                        <a:ea typeface="Cambria" panose="02040503050406030204" pitchFamily="18" charset="0"/>
                      </a:rPr>
                      <m:t>8</m:t>
                    </m:r>
                  </m:oMath>
                </a14:m>
                <a:endParaRPr lang="en-GB" b="0" noProof="0" dirty="0">
                  <a:latin typeface="Cambria" panose="02040503050406030204" pitchFamily="18" charset="0"/>
                  <a:ea typeface="Cambria" panose="02040503050406030204" pitchFamily="18" charset="0"/>
                </a:endParaRPr>
              </a:p>
              <a:p>
                <a:pPr marL="914400" lvl="1" indent="-457200">
                  <a:lnSpc>
                    <a:spcPct val="150000"/>
                  </a:lnSpc>
                  <a:spcBef>
                    <a:spcPct val="20000"/>
                  </a:spcBef>
                  <a:buClr>
                    <a:srgbClr val="FFDC00"/>
                  </a:buClr>
                  <a:buSzPct val="70000"/>
                  <a:buFont typeface="Wingdings" panose="05000000000000000000" pitchFamily="2" charset="2"/>
                  <a:buChar char="v"/>
                </a:pPr>
                <a14:m>
                  <m:oMath xmlns:m="http://schemas.openxmlformats.org/officeDocument/2006/math">
                    <m:sSub>
                      <m:sSubPr>
                        <m:ctrlPr>
                          <a:rPr lang="en-GB" b="0" i="1" noProof="0" smtClean="0">
                            <a:latin typeface="Cambria Math" panose="02040503050406030204" pitchFamily="18" charset="0"/>
                            <a:ea typeface="Cambria" panose="02040503050406030204" pitchFamily="18" charset="0"/>
                          </a:rPr>
                        </m:ctrlPr>
                      </m:sSubPr>
                      <m:e>
                        <m:r>
                          <a:rPr lang="en-GB" b="0" i="1" noProof="0" smtClean="0">
                            <a:latin typeface="Cambria Math" panose="02040503050406030204" pitchFamily="18" charset="0"/>
                            <a:ea typeface="Cambria" panose="02040503050406030204" pitchFamily="18" charset="0"/>
                          </a:rPr>
                          <m:t>𝐾</m:t>
                        </m:r>
                      </m:e>
                      <m:sub>
                        <m:r>
                          <a:rPr lang="en-GB" b="0" i="1" noProof="0" smtClean="0">
                            <a:latin typeface="Cambria Math" panose="02040503050406030204" pitchFamily="18" charset="0"/>
                            <a:ea typeface="Cambria" panose="02040503050406030204" pitchFamily="18" charset="0"/>
                          </a:rPr>
                          <m:t>𝑆</m:t>
                        </m:r>
                      </m:sub>
                    </m:sSub>
                    <m:r>
                      <a:rPr lang="en-GB" b="0" i="1" noProof="0" smtClean="0">
                        <a:latin typeface="Cambria Math" panose="02040503050406030204" pitchFamily="18" charset="0"/>
                        <a:ea typeface="Cambria" panose="02040503050406030204" pitchFamily="18" charset="0"/>
                      </a:rPr>
                      <m:t>=</m:t>
                    </m:r>
                  </m:oMath>
                </a14:m>
                <a:r>
                  <a:rPr lang="en-GB" noProof="0" dirty="0">
                    <a:latin typeface="Cambria" panose="02040503050406030204" pitchFamily="18" charset="0"/>
                    <a:ea typeface="Cambria" panose="02040503050406030204" pitchFamily="18" charset="0"/>
                  </a:rPr>
                  <a:t> 67</a:t>
                </a:r>
              </a:p>
              <a:p>
                <a:pPr marL="914400" lvl="1" indent="-457200">
                  <a:lnSpc>
                    <a:spcPct val="150000"/>
                  </a:lnSpc>
                  <a:spcBef>
                    <a:spcPct val="20000"/>
                  </a:spcBef>
                  <a:buClr>
                    <a:srgbClr val="FFDC00"/>
                  </a:buClr>
                  <a:buSzPct val="70000"/>
                  <a:buFont typeface="Wingdings" panose="05000000000000000000" pitchFamily="2" charset="2"/>
                  <a:buChar char="v"/>
                </a:pPr>
                <a14:m>
                  <m:oMath xmlns:m="http://schemas.openxmlformats.org/officeDocument/2006/math">
                    <m:r>
                      <m:rPr>
                        <m:sty m:val="p"/>
                      </m:rPr>
                      <a:rPr lang="en-GB" b="0" i="0" noProof="0" smtClean="0">
                        <a:latin typeface="Cambria Math" panose="02040503050406030204" pitchFamily="18" charset="0"/>
                        <a:ea typeface="Cambria" panose="02040503050406030204" pitchFamily="18" charset="0"/>
                      </a:rPr>
                      <m:t>Λ</m:t>
                    </m:r>
                    <m:r>
                      <a:rPr lang="en-GB" b="0" i="1" noProof="0" smtClean="0">
                        <a:latin typeface="Cambria Math" panose="02040503050406030204" pitchFamily="18" charset="0"/>
                        <a:ea typeface="Cambria" panose="02040503050406030204" pitchFamily="18" charset="0"/>
                      </a:rPr>
                      <m:t>=</m:t>
                    </m:r>
                    <m:r>
                      <a:rPr lang="en-GB" b="0" i="1" noProof="0" smtClean="0">
                        <a:latin typeface="Cambria Math" panose="02040503050406030204" pitchFamily="18" charset="0"/>
                        <a:ea typeface="Cambria" panose="02040503050406030204" pitchFamily="18" charset="0"/>
                      </a:rPr>
                      <m:t>58</m:t>
                    </m:r>
                  </m:oMath>
                </a14:m>
                <a:endParaRPr lang="en-GB" noProof="0" dirty="0">
                  <a:latin typeface="Cambria" panose="02040503050406030204" pitchFamily="18" charset="0"/>
                  <a:ea typeface="Cambria" panose="02040503050406030204" pitchFamily="18" charset="0"/>
                </a:endParaRPr>
              </a:p>
              <a:p>
                <a:pPr marL="914400" lvl="1" indent="-457200">
                  <a:lnSpc>
                    <a:spcPct val="150000"/>
                  </a:lnSpc>
                  <a:spcBef>
                    <a:spcPct val="20000"/>
                  </a:spcBef>
                  <a:buClr>
                    <a:srgbClr val="FFDC00"/>
                  </a:buClr>
                  <a:buSzPct val="70000"/>
                  <a:buFont typeface="Wingdings" panose="05000000000000000000" pitchFamily="2" charset="2"/>
                  <a:buChar char="v"/>
                </a:pPr>
                <a:endParaRPr lang="en-GB" sz="2000" noProof="0" dirty="0">
                  <a:solidFill>
                    <a:srgbClr val="162230"/>
                  </a:solidFill>
                  <a:latin typeface="Century Gothic" pitchFamily="34" charset="0"/>
                </a:endParaRPr>
              </a:p>
            </p:txBody>
          </p:sp>
        </mc:Choice>
        <mc:Fallback xmlns="">
          <p:sp>
            <p:nvSpPr>
              <p:cNvPr id="3" name="Rectangle 2">
                <a:extLst>
                  <a:ext uri="{FF2B5EF4-FFF2-40B4-BE49-F238E27FC236}">
                    <a16:creationId xmlns:a16="http://schemas.microsoft.com/office/drawing/2014/main" id="{22DC0D29-D1BE-D482-DD43-D799D32B611D}"/>
                  </a:ext>
                </a:extLst>
              </p:cNvPr>
              <p:cNvSpPr>
                <a:spLocks noRot="1" noChangeAspect="1" noMove="1" noResize="1" noEditPoints="1" noAdjustHandles="1" noChangeArrowheads="1" noChangeShapeType="1" noTextEdit="1"/>
              </p:cNvSpPr>
              <p:nvPr/>
            </p:nvSpPr>
            <p:spPr>
              <a:xfrm>
                <a:off x="111616" y="122442"/>
                <a:ext cx="5640256" cy="3939476"/>
              </a:xfrm>
              <a:prstGeom prst="rect">
                <a:avLst/>
              </a:prstGeom>
              <a:blipFill>
                <a:blip r:embed="rId6"/>
                <a:stretch>
                  <a:fillRect l="-1404" t="-1238"/>
                </a:stretch>
              </a:blipFill>
            </p:spPr>
            <p:txBody>
              <a:bodyPr/>
              <a:lstStyle/>
              <a:p>
                <a:r>
                  <a:rPr lang="it-IT">
                    <a:noFill/>
                  </a:rPr>
                  <a:t> </a:t>
                </a:r>
              </a:p>
            </p:txBody>
          </p:sp>
        </mc:Fallback>
      </mc:AlternateContent>
      <p:pic>
        <p:nvPicPr>
          <p:cNvPr id="17" name="Video senza titolo - Realizzato con Clipchamp (2)">
            <a:hlinkClick r:id="" action="ppaction://media"/>
            <a:extLst>
              <a:ext uri="{FF2B5EF4-FFF2-40B4-BE49-F238E27FC236}">
                <a16:creationId xmlns:a16="http://schemas.microsoft.com/office/drawing/2014/main" id="{2892EF7D-C718-C2BF-98D2-7F62F6B7EF41}"/>
              </a:ext>
            </a:extLst>
          </p:cNvPr>
          <p:cNvPicPr>
            <a:picLocks noChangeAspect="1"/>
          </p:cNvPicPr>
          <p:nvPr>
            <a:videoFile r:link="rId2"/>
            <p:extLst>
              <p:ext uri="{DAA4B4D4-6D71-4841-9C94-3DE7FCFB9230}">
                <p14:media xmlns:p14="http://schemas.microsoft.com/office/powerpoint/2010/main" r:embed="rId1"/>
              </p:ext>
            </p:extLst>
          </p:nvPr>
        </p:nvPicPr>
        <p:blipFill>
          <a:blip r:embed="rId7"/>
          <a:srcRect l="23468" t="4588" r="25564" b="4912"/>
          <a:stretch>
            <a:fillRect/>
          </a:stretch>
        </p:blipFill>
        <p:spPr>
          <a:xfrm>
            <a:off x="6096000" y="486750"/>
            <a:ext cx="5891610" cy="5884500"/>
          </a:xfrm>
          <a:prstGeom prst="rect">
            <a:avLst/>
          </a:prstGeom>
        </p:spPr>
      </p:pic>
    </p:spTree>
    <p:extLst>
      <p:ext uri="{BB962C8B-B14F-4D97-AF65-F5344CB8AC3E}">
        <p14:creationId xmlns:p14="http://schemas.microsoft.com/office/powerpoint/2010/main" val="66380346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9743"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17"/>
                </p:tgtEl>
              </p:cMediaNode>
            </p:video>
            <p:seq concurrent="1" nextAc="seek">
              <p:cTn id="8" restart="whenNotActive" fill="hold" evtFilter="cancelBubble" nodeType="interactiveSeq">
                <p:stCondLst>
                  <p:cond evt="onClick" delay="0">
                    <p:tgtEl>
                      <p:spTgt spid="1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7"/>
                                        </p:tgtEl>
                                      </p:cBhvr>
                                    </p:cmd>
                                  </p:childTnLst>
                                </p:cTn>
                              </p:par>
                            </p:childTnLst>
                          </p:cTn>
                        </p:par>
                      </p:childTnLst>
                    </p:cTn>
                  </p:par>
                </p:childTnLst>
              </p:cTn>
              <p:nextCondLst>
                <p:cond evt="onClick" delay="0">
                  <p:tgtEl>
                    <p:spTgt spid="17"/>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E8998-635A-42E9-CB9F-8BAC9A098B23}"/>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EB07DFB1-4AE4-57E6-F2D9-1584A342E7B2}"/>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en-GB" kern="0" noProof="0" dirty="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F9E165C8-BDC1-93A9-D508-F542566A15B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0BAE3934-CFAD-3428-1B58-AC626EA4CF2F}"/>
              </a:ext>
            </a:extLst>
          </p:cNvPr>
          <p:cNvSpPr/>
          <p:nvPr/>
        </p:nvSpPr>
        <p:spPr>
          <a:xfrm>
            <a:off x="14286" y="6598816"/>
            <a:ext cx="12177714" cy="307777"/>
          </a:xfrm>
          <a:prstGeom prst="rect">
            <a:avLst/>
          </a:prstGeom>
        </p:spPr>
        <p:txBody>
          <a:bodyPr wrap="square">
            <a:spAutoFit/>
          </a:bodyPr>
          <a:lstStyle/>
          <a:p>
            <a:pPr algn="ct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noProof="0" dirty="0">
                <a:solidFill>
                  <a:srgbClr val="162230"/>
                </a:solidFill>
                <a:latin typeface="Century Gothic"/>
                <a:cs typeface="Century Gothic"/>
              </a:rPr>
              <a:t>SIMULATION (3)</a:t>
            </a:r>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D7B63E8D-7A64-15BA-6BE7-9F8E473C18FC}"/>
                  </a:ext>
                </a:extLst>
              </p:cNvPr>
              <p:cNvSpPr/>
              <p:nvPr/>
            </p:nvSpPr>
            <p:spPr>
              <a:xfrm>
                <a:off x="111615" y="122442"/>
                <a:ext cx="5872771" cy="3991798"/>
              </a:xfrm>
              <a:prstGeom prst="rect">
                <a:avLst/>
              </a:prstGeom>
              <a:solidFill>
                <a:schemeClr val="bg1"/>
              </a:solidFill>
            </p:spPr>
            <p:txBody>
              <a:bodyPr wrap="square">
                <a:spAutoFit/>
              </a:bodyPr>
              <a:lstStyle/>
              <a:p>
                <a:pPr marL="457200" indent="-457200">
                  <a:spcAft>
                    <a:spcPts val="600"/>
                  </a:spcAft>
                  <a:buClr>
                    <a:srgbClr val="971720"/>
                  </a:buClr>
                  <a:buFont typeface="Wingdings" panose="05000000000000000000" pitchFamily="2" charset="2"/>
                  <a:buChar char="v"/>
                </a:pPr>
                <a:r>
                  <a:rPr lang="en-GB" sz="2400" b="1" noProof="0" dirty="0">
                    <a:solidFill>
                      <a:srgbClr val="971720"/>
                    </a:solidFill>
                    <a:latin typeface="Cambria" panose="02040503050406030204" pitchFamily="18" charset="0"/>
                    <a:ea typeface="Cambria" panose="02040503050406030204" pitchFamily="18" charset="0"/>
                    <a:cs typeface="Century Gothic"/>
                  </a:rPr>
                  <a:t>Simulation</a:t>
                </a:r>
                <a:r>
                  <a:rPr lang="en-GB" sz="2800" b="1" noProof="0" dirty="0">
                    <a:solidFill>
                      <a:srgbClr val="971720"/>
                    </a:solidFill>
                    <a:latin typeface="Cambria" panose="02040503050406030204" pitchFamily="18" charset="0"/>
                    <a:ea typeface="Cambria" panose="02040503050406030204" pitchFamily="18" charset="0"/>
                    <a:cs typeface="Century Gothic"/>
                  </a:rPr>
                  <a:t> </a:t>
                </a:r>
              </a:p>
              <a:p>
                <a:pPr marL="457200" lvl="0" indent="-457200">
                  <a:lnSpc>
                    <a:spcPct val="150000"/>
                  </a:lnSpc>
                  <a:spcBef>
                    <a:spcPct val="20000"/>
                  </a:spcBef>
                  <a:buClr>
                    <a:srgbClr val="FFC000"/>
                  </a:buClr>
                  <a:buSzPct val="70000"/>
                  <a:buFont typeface="Wingdings" panose="05000000000000000000" pitchFamily="2" charset="2"/>
                  <a:buChar char="v"/>
                </a:pPr>
                <a:r>
                  <a:rPr lang="en-GB" sz="2000" b="1" noProof="0" dirty="0">
                    <a:solidFill>
                      <a:srgbClr val="162230"/>
                    </a:solidFill>
                    <a:latin typeface="Cambria" panose="02040503050406030204" pitchFamily="18" charset="0"/>
                    <a:ea typeface="Cambria" panose="02040503050406030204" pitchFamily="18" charset="0"/>
                  </a:rPr>
                  <a:t>Feedback Linearizing Controller</a:t>
                </a:r>
                <a:endParaRPr lang="en-GB" noProof="0" dirty="0">
                  <a:solidFill>
                    <a:srgbClr val="162230"/>
                  </a:solidFill>
                  <a:latin typeface="Cambria" panose="02040503050406030204" pitchFamily="18" charset="0"/>
                  <a:ea typeface="Cambria" panose="02040503050406030204" pitchFamily="18" charset="0"/>
                </a:endParaRPr>
              </a:p>
              <a:p>
                <a:pPr marL="914400" lvl="1" indent="-457200">
                  <a:lnSpc>
                    <a:spcPct val="150000"/>
                  </a:lnSpc>
                  <a:spcBef>
                    <a:spcPct val="20000"/>
                  </a:spcBef>
                  <a:buClr>
                    <a:srgbClr val="FFC000"/>
                  </a:buClr>
                  <a:buSzPct val="70000"/>
                  <a:buFont typeface="Wingdings" panose="05000000000000000000" pitchFamily="2" charset="2"/>
                  <a:buChar char="v"/>
                </a:pPr>
                <a:r>
                  <a:rPr lang="en-GB" noProof="0" dirty="0">
                    <a:solidFill>
                      <a:srgbClr val="162230"/>
                    </a:solidFill>
                    <a:latin typeface="Cambria" panose="02040503050406030204" pitchFamily="18" charset="0"/>
                    <a:ea typeface="Cambria" panose="02040503050406030204" pitchFamily="18" charset="0"/>
                  </a:rPr>
                  <a:t>Gains of the commanded acceleration </a:t>
                </a:r>
                <a14:m>
                  <m:oMath xmlns:m="http://schemas.openxmlformats.org/officeDocument/2006/math">
                    <m:sSup>
                      <m:sSupPr>
                        <m:ctrlPr>
                          <a:rPr lang="en-GB" i="1" noProof="0">
                            <a:solidFill>
                              <a:srgbClr val="162230"/>
                            </a:solidFill>
                            <a:latin typeface="Cambria Math" panose="02040503050406030204" pitchFamily="18" charset="0"/>
                            <a:ea typeface="Cambria" panose="02040503050406030204" pitchFamily="18" charset="0"/>
                          </a:rPr>
                        </m:ctrlPr>
                      </m:sSupPr>
                      <m:e>
                        <m:r>
                          <a:rPr lang="en-GB" i="1" noProof="0">
                            <a:solidFill>
                              <a:srgbClr val="162230"/>
                            </a:solidFill>
                            <a:latin typeface="Cambria Math" panose="02040503050406030204" pitchFamily="18" charset="0"/>
                            <a:ea typeface="Cambria Math" panose="02040503050406030204" pitchFamily="18" charset="0"/>
                          </a:rPr>
                          <m:t>𝜆</m:t>
                        </m:r>
                      </m:e>
                      <m:sup>
                        <m:r>
                          <a:rPr lang="en-GB" i="1" noProof="0" smtClean="0">
                            <a:solidFill>
                              <a:srgbClr val="162230"/>
                            </a:solidFill>
                            <a:latin typeface="Cambria Math" panose="02040503050406030204" pitchFamily="18" charset="0"/>
                            <a:ea typeface="Cambria" panose="02040503050406030204" pitchFamily="18" charset="0"/>
                          </a:rPr>
                          <m:t>𝑛</m:t>
                        </m:r>
                      </m:sup>
                    </m:sSup>
                  </m:oMath>
                </a14:m>
                <a:r>
                  <a:rPr lang="en-GB" noProof="0" dirty="0">
                    <a:solidFill>
                      <a:srgbClr val="162230"/>
                    </a:solidFill>
                    <a:latin typeface="Cambria" panose="02040503050406030204" pitchFamily="18" charset="0"/>
                    <a:ea typeface="Cambria" panose="02040503050406030204" pitchFamily="18" charset="0"/>
                  </a:rPr>
                  <a:t> are</a:t>
                </a:r>
              </a:p>
              <a:p>
                <a:pPr marL="914400" lvl="1" indent="-457200">
                  <a:lnSpc>
                    <a:spcPct val="150000"/>
                  </a:lnSpc>
                  <a:spcBef>
                    <a:spcPct val="20000"/>
                  </a:spcBef>
                  <a:buClr>
                    <a:srgbClr val="FFC000"/>
                  </a:buClr>
                  <a:buSzPct val="70000"/>
                  <a:buFont typeface="Wingdings" panose="05000000000000000000" pitchFamily="2" charset="2"/>
                  <a:buChar char="v"/>
                </a:pPr>
                <a14:m>
                  <m:oMath xmlns:m="http://schemas.openxmlformats.org/officeDocument/2006/math">
                    <m:sSub>
                      <m:sSubPr>
                        <m:ctrlPr>
                          <a:rPr lang="en-GB" i="1" noProof="0" smtClean="0">
                            <a:solidFill>
                              <a:srgbClr val="162230"/>
                            </a:solidFill>
                            <a:latin typeface="Cambria Math" panose="02040503050406030204" pitchFamily="18" charset="0"/>
                            <a:ea typeface="Cambria" panose="02040503050406030204" pitchFamily="18" charset="0"/>
                          </a:rPr>
                        </m:ctrlPr>
                      </m:sSubPr>
                      <m:e>
                        <m:r>
                          <a:rPr lang="en-GB" i="1" noProof="0" smtClean="0">
                            <a:solidFill>
                              <a:srgbClr val="162230"/>
                            </a:solidFill>
                            <a:latin typeface="Cambria Math" panose="02040503050406030204" pitchFamily="18" charset="0"/>
                            <a:ea typeface="Cambria" panose="02040503050406030204" pitchFamily="18" charset="0"/>
                          </a:rPr>
                          <m:t>𝐾</m:t>
                        </m:r>
                      </m:e>
                      <m:sub>
                        <m:r>
                          <a:rPr lang="en-GB" i="1" noProof="0" smtClean="0">
                            <a:solidFill>
                              <a:srgbClr val="162230"/>
                            </a:solidFill>
                            <a:latin typeface="Cambria Math" panose="02040503050406030204" pitchFamily="18" charset="0"/>
                            <a:ea typeface="Cambria" panose="02040503050406030204" pitchFamily="18" charset="0"/>
                          </a:rPr>
                          <m:t>𝐷</m:t>
                        </m:r>
                      </m:sub>
                    </m:sSub>
                  </m:oMath>
                </a14:m>
                <a:r>
                  <a:rPr lang="en-GB" noProof="0" dirty="0">
                    <a:solidFill>
                      <a:srgbClr val="162230"/>
                    </a:solidFill>
                    <a:latin typeface="Cambria" panose="02040503050406030204" pitchFamily="18" charset="0"/>
                    <a:ea typeface="Cambria" panose="02040503050406030204" pitchFamily="18" charset="0"/>
                  </a:rPr>
                  <a:t>=43</a:t>
                </a:r>
              </a:p>
              <a:p>
                <a:pPr marL="914400" lvl="1" indent="-457200">
                  <a:lnSpc>
                    <a:spcPct val="150000"/>
                  </a:lnSpc>
                  <a:spcBef>
                    <a:spcPct val="20000"/>
                  </a:spcBef>
                  <a:buClr>
                    <a:srgbClr val="FFC000"/>
                  </a:buClr>
                  <a:buSzPct val="70000"/>
                  <a:buFont typeface="Wingdings" panose="05000000000000000000" pitchFamily="2" charset="2"/>
                  <a:buChar char="v"/>
                </a:pPr>
                <a14:m>
                  <m:oMath xmlns:m="http://schemas.openxmlformats.org/officeDocument/2006/math">
                    <m:sSub>
                      <m:sSubPr>
                        <m:ctrlPr>
                          <a:rPr lang="en-GB" i="1" noProof="0" smtClean="0">
                            <a:solidFill>
                              <a:srgbClr val="162230"/>
                            </a:solidFill>
                            <a:latin typeface="Cambria Math" panose="02040503050406030204" pitchFamily="18" charset="0"/>
                            <a:ea typeface="Cambria" panose="02040503050406030204" pitchFamily="18" charset="0"/>
                          </a:rPr>
                        </m:ctrlPr>
                      </m:sSubPr>
                      <m:e>
                        <m:r>
                          <a:rPr lang="en-GB" i="1" noProof="0" smtClean="0">
                            <a:solidFill>
                              <a:srgbClr val="162230"/>
                            </a:solidFill>
                            <a:latin typeface="Cambria Math" panose="02040503050406030204" pitchFamily="18" charset="0"/>
                            <a:ea typeface="Cambria" panose="02040503050406030204" pitchFamily="18" charset="0"/>
                          </a:rPr>
                          <m:t>𝐾</m:t>
                        </m:r>
                      </m:e>
                      <m:sub>
                        <m:r>
                          <a:rPr lang="en-GB" i="1" noProof="0" smtClean="0">
                            <a:solidFill>
                              <a:srgbClr val="162230"/>
                            </a:solidFill>
                            <a:latin typeface="Cambria Math" panose="02040503050406030204" pitchFamily="18" charset="0"/>
                            <a:ea typeface="Cambria" panose="02040503050406030204" pitchFamily="18" charset="0"/>
                          </a:rPr>
                          <m:t>𝑃</m:t>
                        </m:r>
                      </m:sub>
                    </m:sSub>
                  </m:oMath>
                </a14:m>
                <a:r>
                  <a:rPr lang="en-GB" noProof="0" dirty="0">
                    <a:solidFill>
                      <a:srgbClr val="162230"/>
                    </a:solidFill>
                    <a:latin typeface="Cambria" panose="02040503050406030204" pitchFamily="18" charset="0"/>
                    <a:ea typeface="Cambria" panose="02040503050406030204" pitchFamily="18" charset="0"/>
                  </a:rPr>
                  <a:t>=78 (influences the most the tracking accuracy)</a:t>
                </a:r>
              </a:p>
              <a:p>
                <a:pPr lvl="1">
                  <a:lnSpc>
                    <a:spcPct val="150000"/>
                  </a:lnSpc>
                  <a:spcBef>
                    <a:spcPct val="20000"/>
                  </a:spcBef>
                  <a:buClr>
                    <a:srgbClr val="FFC000"/>
                  </a:buClr>
                  <a:buSzPct val="70000"/>
                </a:pPr>
                <a:r>
                  <a:rPr lang="en-GB" sz="2200" b="1" noProof="0" dirty="0">
                    <a:solidFill>
                      <a:srgbClr val="162230"/>
                    </a:solidFill>
                    <a:latin typeface="Cambria" panose="02040503050406030204" pitchFamily="18" charset="0"/>
                    <a:ea typeface="Cambria" panose="02040503050406030204" pitchFamily="18" charset="0"/>
                  </a:rPr>
                  <a:t>			</a:t>
                </a:r>
              </a:p>
              <a:p>
                <a:pPr lvl="1">
                  <a:lnSpc>
                    <a:spcPct val="150000"/>
                  </a:lnSpc>
                  <a:spcBef>
                    <a:spcPct val="20000"/>
                  </a:spcBef>
                  <a:buClr>
                    <a:srgbClr val="971720"/>
                  </a:buClr>
                  <a:buSzPct val="70000"/>
                </a:pPr>
                <a:endParaRPr lang="en-GB" sz="2000" noProof="0" dirty="0">
                  <a:solidFill>
                    <a:srgbClr val="162230"/>
                  </a:solidFill>
                  <a:latin typeface="Century Gothic" pitchFamily="34" charset="0"/>
                </a:endParaRPr>
              </a:p>
            </p:txBody>
          </p:sp>
        </mc:Choice>
        <mc:Fallback xmlns="">
          <p:sp>
            <p:nvSpPr>
              <p:cNvPr id="3" name="Rectangle 2">
                <a:extLst>
                  <a:ext uri="{FF2B5EF4-FFF2-40B4-BE49-F238E27FC236}">
                    <a16:creationId xmlns:a16="http://schemas.microsoft.com/office/drawing/2014/main" id="{D7B63E8D-7A64-15BA-6BE7-9F8E473C18FC}"/>
                  </a:ext>
                </a:extLst>
              </p:cNvPr>
              <p:cNvSpPr>
                <a:spLocks noRot="1" noChangeAspect="1" noMove="1" noResize="1" noEditPoints="1" noAdjustHandles="1" noChangeArrowheads="1" noChangeShapeType="1" noTextEdit="1"/>
              </p:cNvSpPr>
              <p:nvPr/>
            </p:nvSpPr>
            <p:spPr>
              <a:xfrm>
                <a:off x="111615" y="122442"/>
                <a:ext cx="5872771" cy="3991798"/>
              </a:xfrm>
              <a:prstGeom prst="rect">
                <a:avLst/>
              </a:prstGeom>
              <a:blipFill>
                <a:blip r:embed="rId6"/>
                <a:stretch>
                  <a:fillRect l="-1349"/>
                </a:stretch>
              </a:blipFill>
            </p:spPr>
            <p:txBody>
              <a:bodyPr/>
              <a:lstStyle/>
              <a:p>
                <a:r>
                  <a:rPr lang="it-IT">
                    <a:noFill/>
                  </a:rPr>
                  <a:t> </a:t>
                </a:r>
              </a:p>
            </p:txBody>
          </p:sp>
        </mc:Fallback>
      </mc:AlternateContent>
      <p:pic>
        <p:nvPicPr>
          <p:cNvPr id="16" name="feedback">
            <a:hlinkClick r:id="" action="ppaction://media"/>
            <a:extLst>
              <a:ext uri="{FF2B5EF4-FFF2-40B4-BE49-F238E27FC236}">
                <a16:creationId xmlns:a16="http://schemas.microsoft.com/office/drawing/2014/main" id="{ED3D379B-D2A6-BD74-2BC1-F23E7F1A2519}"/>
              </a:ext>
            </a:extLst>
          </p:cNvPr>
          <p:cNvPicPr>
            <a:picLocks noChangeAspect="1"/>
          </p:cNvPicPr>
          <p:nvPr>
            <a:videoFile r:link="rId2"/>
            <p:extLst>
              <p:ext uri="{DAA4B4D4-6D71-4841-9C94-3DE7FCFB9230}">
                <p14:media xmlns:p14="http://schemas.microsoft.com/office/powerpoint/2010/main" r:embed="rId1"/>
              </p:ext>
            </p:extLst>
          </p:nvPr>
        </p:nvPicPr>
        <p:blipFill>
          <a:blip r:embed="rId7"/>
          <a:srcRect l="23065" t="5018" r="20564" b="4620"/>
          <a:stretch>
            <a:fillRect/>
          </a:stretch>
        </p:blipFill>
        <p:spPr>
          <a:xfrm>
            <a:off x="5984387" y="630367"/>
            <a:ext cx="6207614" cy="5597266"/>
          </a:xfrm>
          <a:prstGeom prst="rect">
            <a:avLst/>
          </a:prstGeom>
        </p:spPr>
      </p:pic>
    </p:spTree>
    <p:extLst>
      <p:ext uri="{BB962C8B-B14F-4D97-AF65-F5344CB8AC3E}">
        <p14:creationId xmlns:p14="http://schemas.microsoft.com/office/powerpoint/2010/main" val="38201194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527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16"/>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48A58-10CE-657F-4342-1477AAED903C}"/>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6B1339ED-66F9-570D-1A4E-BD815388C724}"/>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prstClr val="white"/>
              </a:solidFill>
              <a:effectLst/>
              <a:uLnTx/>
              <a:uFillTx/>
              <a:latin typeface="Calibri"/>
              <a:ea typeface="+mn-ea"/>
              <a:cs typeface="+mn-cs"/>
            </a:endParaRPr>
          </a:p>
        </p:txBody>
      </p:sp>
      <p:pic>
        <p:nvPicPr>
          <p:cNvPr id="10" name="Picture 2" descr="C:\Bruno\campus\unina\Stationery\Dipartimenti\DIETI\Logo_DIETI_Porte.png">
            <a:extLst>
              <a:ext uri="{FF2B5EF4-FFF2-40B4-BE49-F238E27FC236}">
                <a16:creationId xmlns:a16="http://schemas.microsoft.com/office/drawing/2014/main" id="{BC2C2999-BAF1-C58F-2B5C-91A9F4DA779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1A75CC83-68D4-5D0A-BC50-554B659E4C52}"/>
              </a:ext>
            </a:extLst>
          </p:cNvPr>
          <p:cNvSpPr/>
          <p:nvPr/>
        </p:nvSpPr>
        <p:spPr>
          <a:xfrm>
            <a:off x="14286" y="6598816"/>
            <a:ext cx="12177714" cy="307777"/>
          </a:xfrm>
          <a:prstGeom prst="rect">
            <a:avLst/>
          </a:prstGeom>
        </p:spPr>
        <p:txBody>
          <a:bodyPr wrap="square">
            <a:spAutoFit/>
          </a:bodyPr>
          <a:lstStyle/>
          <a:p>
            <a:pPr marL="0" marR="0" lvl="0" indent="0" algn="ctr" defTabSz="457200" rtl="0" eaLnBrk="1" fontAlgn="auto" latinLnBrk="0" hangingPunct="1">
              <a:lnSpc>
                <a:spcPct val="100000"/>
              </a:lnSpc>
              <a:spcBef>
                <a:spcPts val="1750"/>
              </a:spcBef>
              <a:spcAft>
                <a:spcPts val="0"/>
              </a:spcAft>
              <a:buClrTx/>
              <a:buSz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pPr>
            <a:r>
              <a:rPr kumimoji="0" lang="en-GB" sz="1400" b="0" i="0" u="none" strike="noStrike" kern="1200" cap="none" spc="0" normalizeH="0" baseline="0" noProof="0" dirty="0">
                <a:ln>
                  <a:noFill/>
                </a:ln>
                <a:solidFill>
                  <a:srgbClr val="162230"/>
                </a:solidFill>
                <a:effectLst/>
                <a:uLnTx/>
                <a:uFillTx/>
                <a:latin typeface="Century Gothic"/>
                <a:ea typeface="+mn-ea"/>
                <a:cs typeface="Century Gothic"/>
              </a:rPr>
              <a:t>RESULTS AND COMPARISON (1)</a:t>
            </a:r>
          </a:p>
        </p:txBody>
      </p:sp>
      <p:sp>
        <p:nvSpPr>
          <p:cNvPr id="3" name="Rectangle 2">
            <a:extLst>
              <a:ext uri="{FF2B5EF4-FFF2-40B4-BE49-F238E27FC236}">
                <a16:creationId xmlns:a16="http://schemas.microsoft.com/office/drawing/2014/main" id="{D7E38B64-EE8A-E12D-05CD-5ED5301BCA15}"/>
              </a:ext>
            </a:extLst>
          </p:cNvPr>
          <p:cNvSpPr/>
          <p:nvPr/>
        </p:nvSpPr>
        <p:spPr>
          <a:xfrm>
            <a:off x="111616" y="48016"/>
            <a:ext cx="11224978" cy="2152769"/>
          </a:xfrm>
          <a:prstGeom prst="rect">
            <a:avLst/>
          </a:prstGeom>
          <a:solidFill>
            <a:schemeClr val="bg1"/>
          </a:solidFill>
        </p:spPr>
        <p:txBody>
          <a:bodyPr wrap="square" numCol="2">
            <a:spAutoFit/>
          </a:bodyPr>
          <a:lstStyle/>
          <a:p>
            <a:pPr marL="457200" marR="0" lvl="0" indent="-457200" algn="l" defTabSz="457200" rtl="0" eaLnBrk="1" fontAlgn="auto" latinLnBrk="0" hangingPunct="1">
              <a:lnSpc>
                <a:spcPct val="100000"/>
              </a:lnSpc>
              <a:spcBef>
                <a:spcPts val="0"/>
              </a:spcBef>
              <a:spcAft>
                <a:spcPts val="600"/>
              </a:spcAft>
              <a:buClr>
                <a:srgbClr val="971720"/>
              </a:buClr>
              <a:buSzTx/>
              <a:buFont typeface="Wingdings" panose="05000000000000000000" pitchFamily="2" charset="2"/>
              <a:buChar char="v"/>
              <a:tabLst/>
              <a:defRPr/>
            </a:pPr>
            <a:r>
              <a:rPr kumimoji="0" lang="en-GB" sz="2400" b="1" i="0" u="none" strike="noStrike" kern="1200" cap="none" spc="0" normalizeH="0" baseline="0" noProof="0" dirty="0">
                <a:ln>
                  <a:noFill/>
                </a:ln>
                <a:solidFill>
                  <a:srgbClr val="971720"/>
                </a:solidFill>
                <a:effectLst/>
                <a:uLnTx/>
                <a:uFillTx/>
                <a:latin typeface="Cambria" panose="02040503050406030204" pitchFamily="18" charset="0"/>
                <a:ea typeface="Cambria" panose="02040503050406030204" pitchFamily="18" charset="0"/>
                <a:cs typeface="Century Gothic"/>
              </a:rPr>
              <a:t>Results and Comparison</a:t>
            </a:r>
            <a:r>
              <a:rPr lang="en-GB" sz="2800" b="1" noProof="0" dirty="0">
                <a:solidFill>
                  <a:srgbClr val="971720"/>
                </a:solidFill>
                <a:latin typeface="Cambria" panose="02040503050406030204" pitchFamily="18" charset="0"/>
                <a:ea typeface="Cambria" panose="02040503050406030204" pitchFamily="18" charset="0"/>
                <a:cs typeface="Century Gothic"/>
              </a:rPr>
              <a:t> </a:t>
            </a:r>
            <a:r>
              <a:rPr kumimoji="0" lang="en-GB" sz="2400" b="1" i="0" u="none" strike="noStrike" kern="1200" cap="none" spc="0" normalizeH="0" baseline="0" noProof="0" dirty="0">
                <a:ln>
                  <a:noFill/>
                </a:ln>
                <a:solidFill>
                  <a:srgbClr val="971720"/>
                </a:solidFill>
                <a:effectLst/>
                <a:uLnTx/>
                <a:uFillTx/>
                <a:latin typeface="Cambria" panose="02040503050406030204" pitchFamily="18" charset="0"/>
                <a:ea typeface="Cambria" panose="02040503050406030204" pitchFamily="18" charset="0"/>
                <a:cs typeface="Century Gothic"/>
              </a:rPr>
              <a:t>(errors)</a:t>
            </a:r>
          </a:p>
          <a:p>
            <a:pPr>
              <a:lnSpc>
                <a:spcPct val="150000"/>
              </a:lnSpc>
              <a:spcBef>
                <a:spcPct val="20000"/>
              </a:spcBef>
              <a:buClr>
                <a:srgbClr val="FFC000"/>
              </a:buClr>
              <a:buSzPct val="70000"/>
            </a:pPr>
            <a:r>
              <a:rPr kumimoji="0" lang="en-GB" sz="2200" b="1" i="0" u="none" strike="noStrike" kern="1200" cap="none" spc="0" normalizeH="0" baseline="0" noProof="0" dirty="0">
                <a:ln>
                  <a:noFill/>
                </a:ln>
                <a:solidFill>
                  <a:srgbClr val="162230"/>
                </a:solidFill>
                <a:effectLst/>
                <a:uLnTx/>
                <a:uFillTx/>
                <a:latin typeface="Cambria" panose="02040503050406030204" pitchFamily="18" charset="0"/>
                <a:ea typeface="Cambria" panose="02040503050406030204" pitchFamily="18" charset="0"/>
                <a:cs typeface="+mn-cs"/>
              </a:rPr>
              <a:t>						</a:t>
            </a:r>
          </a:p>
          <a:p>
            <a:pPr marL="800100" lvl="1" indent="-342900">
              <a:lnSpc>
                <a:spcPct val="150000"/>
              </a:lnSpc>
              <a:spcBef>
                <a:spcPct val="20000"/>
              </a:spcBef>
              <a:buClr>
                <a:srgbClr val="FFC000"/>
              </a:buClr>
              <a:buSzPct val="70000"/>
              <a:buFont typeface="Wingdings" panose="05000000000000000000" pitchFamily="2" charset="2"/>
              <a:buChar char="v"/>
            </a:pPr>
            <a:endParaRPr kumimoji="0" lang="en-GB" b="1" i="0" u="none" strike="noStrike" kern="1200" cap="none" spc="0" normalizeH="0" baseline="0" noProof="0" dirty="0">
              <a:ln>
                <a:noFill/>
              </a:ln>
              <a:solidFill>
                <a:srgbClr val="162230"/>
              </a:solidFill>
              <a:effectLst/>
              <a:uLnTx/>
              <a:uFillTx/>
              <a:latin typeface="Cambria" panose="02040503050406030204" pitchFamily="18" charset="0"/>
              <a:ea typeface="Cambria" panose="02040503050406030204" pitchFamily="18" charset="0"/>
              <a:cs typeface="+mn-cs"/>
            </a:endParaRPr>
          </a:p>
          <a:p>
            <a:pPr lvl="3">
              <a:lnSpc>
                <a:spcPct val="150000"/>
              </a:lnSpc>
              <a:spcBef>
                <a:spcPct val="20000"/>
              </a:spcBef>
              <a:buClr>
                <a:srgbClr val="971720"/>
              </a:buClr>
              <a:buSzPct val="70000"/>
            </a:pPr>
            <a:r>
              <a:rPr kumimoji="0" lang="en-GB" sz="2000" b="0" i="0" u="none" strike="noStrike" kern="1200" cap="none" spc="0" normalizeH="0" baseline="0" noProof="0" dirty="0">
                <a:ln>
                  <a:noFill/>
                </a:ln>
                <a:solidFill>
                  <a:srgbClr val="162230"/>
                </a:solidFill>
                <a:effectLst/>
                <a:uLnTx/>
                <a:uFillTx/>
                <a:latin typeface="Century Gothic" pitchFamily="34" charset="0"/>
                <a:ea typeface="+mn-ea"/>
                <a:cs typeface="+mn-cs"/>
              </a:rPr>
              <a:t>	</a:t>
            </a:r>
          </a:p>
          <a:p>
            <a:pPr marL="1714500" lvl="3" indent="-342900">
              <a:lnSpc>
                <a:spcPct val="150000"/>
              </a:lnSpc>
              <a:spcBef>
                <a:spcPct val="20000"/>
              </a:spcBef>
              <a:buClr>
                <a:srgbClr val="971720"/>
              </a:buClr>
              <a:buSzPct val="70000"/>
              <a:buFont typeface="Wingdings" panose="05000000000000000000" pitchFamily="2" charset="2"/>
              <a:buChar char="v"/>
            </a:pPr>
            <a:endParaRPr kumimoji="0" lang="en-GB" sz="2000" b="0" i="0" u="none" strike="noStrike" kern="1200" cap="none" spc="0" normalizeH="0" baseline="0" noProof="0" dirty="0">
              <a:ln>
                <a:noFill/>
              </a:ln>
              <a:solidFill>
                <a:srgbClr val="FFDC00"/>
              </a:solidFill>
              <a:effectLst/>
              <a:uLnTx/>
              <a:uFillTx/>
              <a:latin typeface="Century Gothic" pitchFamily="34" charset="0"/>
              <a:ea typeface="+mn-ea"/>
              <a:cs typeface="+mn-cs"/>
            </a:endParaRPr>
          </a:p>
        </p:txBody>
      </p:sp>
      <p:sp>
        <p:nvSpPr>
          <p:cNvPr id="4" name="CasellaDiTesto 3">
            <a:extLst>
              <a:ext uri="{FF2B5EF4-FFF2-40B4-BE49-F238E27FC236}">
                <a16:creationId xmlns:a16="http://schemas.microsoft.com/office/drawing/2014/main" id="{C13D1D16-FBCC-B5C6-0669-57DFD2EA9FE3}"/>
              </a:ext>
            </a:extLst>
          </p:cNvPr>
          <p:cNvSpPr txBox="1"/>
          <p:nvPr/>
        </p:nvSpPr>
        <p:spPr>
          <a:xfrm>
            <a:off x="111616" y="543335"/>
            <a:ext cx="11892542" cy="369332"/>
          </a:xfrm>
          <a:prstGeom prst="rect">
            <a:avLst/>
          </a:prstGeom>
          <a:noFill/>
        </p:spPr>
        <p:txBody>
          <a:bodyPr wrap="square" numCol="2" rtlCol="0">
            <a:spAutoFit/>
          </a:bodyPr>
          <a:lstStyle/>
          <a:p>
            <a:pPr marL="285750" indent="-285750">
              <a:buClr>
                <a:srgbClr val="FFDC00"/>
              </a:buClr>
              <a:buFont typeface="Wingdings" panose="05000000000000000000" pitchFamily="2" charset="2"/>
              <a:buChar char="v"/>
            </a:pPr>
            <a:r>
              <a:rPr lang="en-GB" b="1" noProof="0" dirty="0">
                <a:latin typeface="Cambria" panose="02040503050406030204" pitchFamily="18" charset="0"/>
                <a:ea typeface="Cambria" panose="02040503050406030204" pitchFamily="18" charset="0"/>
              </a:rPr>
              <a:t>Sliding Control</a:t>
            </a:r>
          </a:p>
          <a:p>
            <a:pPr marL="285750" indent="-285750" algn="r">
              <a:buClr>
                <a:srgbClr val="FFDC00"/>
              </a:buClr>
              <a:buFont typeface="Wingdings" panose="05000000000000000000" pitchFamily="2" charset="2"/>
              <a:buChar char="v"/>
            </a:pPr>
            <a:r>
              <a:rPr lang="en-GB" b="1" noProof="0" dirty="0">
                <a:latin typeface="Cambria" panose="02040503050406030204" pitchFamily="18" charset="0"/>
                <a:ea typeface="Cambria" panose="02040503050406030204" pitchFamily="18" charset="0"/>
              </a:rPr>
              <a:t>Feedback linearizing controller</a:t>
            </a:r>
          </a:p>
        </p:txBody>
      </p:sp>
      <p:pic>
        <p:nvPicPr>
          <p:cNvPr id="6" name="Immagine 5" descr="Immagine che contiene testo, linea, Diagramma, diagramma&#10;&#10;Il contenuto generato dall'IA potrebbe non essere corretto.">
            <a:extLst>
              <a:ext uri="{FF2B5EF4-FFF2-40B4-BE49-F238E27FC236}">
                <a16:creationId xmlns:a16="http://schemas.microsoft.com/office/drawing/2014/main" id="{52048E02-C134-E65B-99D7-BC40FB8C19CD}"/>
              </a:ext>
            </a:extLst>
          </p:cNvPr>
          <p:cNvPicPr>
            <a:picLocks noChangeAspect="1"/>
          </p:cNvPicPr>
          <p:nvPr/>
        </p:nvPicPr>
        <p:blipFill>
          <a:blip r:embed="rId4"/>
          <a:stretch>
            <a:fillRect/>
          </a:stretch>
        </p:blipFill>
        <p:spPr>
          <a:xfrm>
            <a:off x="8588920" y="899111"/>
            <a:ext cx="3415237" cy="2784766"/>
          </a:xfrm>
          <a:prstGeom prst="rect">
            <a:avLst/>
          </a:prstGeom>
        </p:spPr>
      </p:pic>
      <p:pic>
        <p:nvPicPr>
          <p:cNvPr id="8" name="Immagine 7" descr="Immagine che contiene linea, Diagramma, diagramma, testo&#10;&#10;Il contenuto generato dall'IA potrebbe non essere corretto.">
            <a:extLst>
              <a:ext uri="{FF2B5EF4-FFF2-40B4-BE49-F238E27FC236}">
                <a16:creationId xmlns:a16="http://schemas.microsoft.com/office/drawing/2014/main" id="{90D893B5-4C98-F164-D822-8201AF3D0364}"/>
              </a:ext>
            </a:extLst>
          </p:cNvPr>
          <p:cNvPicPr>
            <a:picLocks noChangeAspect="1"/>
          </p:cNvPicPr>
          <p:nvPr/>
        </p:nvPicPr>
        <p:blipFill>
          <a:blip r:embed="rId5"/>
          <a:stretch>
            <a:fillRect/>
          </a:stretch>
        </p:blipFill>
        <p:spPr>
          <a:xfrm>
            <a:off x="111616" y="918810"/>
            <a:ext cx="3415237" cy="2784766"/>
          </a:xfrm>
          <a:prstGeom prst="rect">
            <a:avLst/>
          </a:prstGeom>
        </p:spPr>
      </p:pic>
      <p:pic>
        <p:nvPicPr>
          <p:cNvPr id="12" name="Immagine 11" descr="Immagine che contiene testo, linea, Diagramma, diagramma&#10;&#10;Il contenuto generato dall'IA potrebbe non essere corretto.">
            <a:extLst>
              <a:ext uri="{FF2B5EF4-FFF2-40B4-BE49-F238E27FC236}">
                <a16:creationId xmlns:a16="http://schemas.microsoft.com/office/drawing/2014/main" id="{A8A2FF47-5438-977E-2FC2-C4CC7F16FD48}"/>
              </a:ext>
            </a:extLst>
          </p:cNvPr>
          <p:cNvPicPr>
            <a:picLocks noChangeAspect="1"/>
          </p:cNvPicPr>
          <p:nvPr/>
        </p:nvPicPr>
        <p:blipFill>
          <a:blip r:embed="rId6"/>
          <a:stretch>
            <a:fillRect/>
          </a:stretch>
        </p:blipFill>
        <p:spPr>
          <a:xfrm>
            <a:off x="8640618" y="3750797"/>
            <a:ext cx="3415237" cy="2784766"/>
          </a:xfrm>
          <a:prstGeom prst="rect">
            <a:avLst/>
          </a:prstGeom>
        </p:spPr>
      </p:pic>
      <p:pic>
        <p:nvPicPr>
          <p:cNvPr id="14" name="Immagine 13" descr="Immagine che contiene testo, linea, diagramma, Diagramma&#10;&#10;Il contenuto generato dall'IA potrebbe non essere corretto.">
            <a:extLst>
              <a:ext uri="{FF2B5EF4-FFF2-40B4-BE49-F238E27FC236}">
                <a16:creationId xmlns:a16="http://schemas.microsoft.com/office/drawing/2014/main" id="{655014B7-E535-1096-70FF-5A794CC5F46A}"/>
              </a:ext>
            </a:extLst>
          </p:cNvPr>
          <p:cNvPicPr>
            <a:picLocks noChangeAspect="1"/>
          </p:cNvPicPr>
          <p:nvPr/>
        </p:nvPicPr>
        <p:blipFill>
          <a:blip r:embed="rId7"/>
          <a:stretch>
            <a:fillRect/>
          </a:stretch>
        </p:blipFill>
        <p:spPr>
          <a:xfrm>
            <a:off x="87084" y="3727879"/>
            <a:ext cx="3464300" cy="2786599"/>
          </a:xfrm>
          <a:prstGeom prst="rect">
            <a:avLst/>
          </a:prstGeom>
        </p:spPr>
      </p:pic>
      <p:sp>
        <p:nvSpPr>
          <p:cNvPr id="15" name="CasellaDiTesto 14">
            <a:extLst>
              <a:ext uri="{FF2B5EF4-FFF2-40B4-BE49-F238E27FC236}">
                <a16:creationId xmlns:a16="http://schemas.microsoft.com/office/drawing/2014/main" id="{F2A0583F-8CE5-0D11-BA10-C420751EBB1A}"/>
              </a:ext>
            </a:extLst>
          </p:cNvPr>
          <p:cNvSpPr txBox="1"/>
          <p:nvPr/>
        </p:nvSpPr>
        <p:spPr>
          <a:xfrm>
            <a:off x="3970887" y="2136338"/>
            <a:ext cx="4280598" cy="2585323"/>
          </a:xfrm>
          <a:prstGeom prst="rect">
            <a:avLst/>
          </a:prstGeom>
          <a:noFill/>
        </p:spPr>
        <p:txBody>
          <a:bodyPr wrap="square" rtlCol="0">
            <a:spAutoFit/>
          </a:bodyPr>
          <a:lstStyle/>
          <a:p>
            <a:pPr marL="285750" indent="-285750">
              <a:buClr>
                <a:srgbClr val="FFDC00"/>
              </a:buClr>
              <a:buFont typeface="Wingdings" panose="05000000000000000000" pitchFamily="2" charset="2"/>
              <a:buChar char="v"/>
            </a:pPr>
            <a:r>
              <a:rPr lang="en-GB" b="1" noProof="0" dirty="0">
                <a:latin typeface="Cambria" panose="02040503050406030204" pitchFamily="18" charset="0"/>
                <a:ea typeface="Cambria" panose="02040503050406030204" pitchFamily="18" charset="0"/>
              </a:rPr>
              <a:t>Norm bounded-errors </a:t>
            </a:r>
            <a:r>
              <a:rPr lang="en-GB" noProof="0" dirty="0">
                <a:latin typeface="Cambria" panose="02040503050406030204" pitchFamily="18" charset="0"/>
                <a:ea typeface="Cambria" panose="02040503050406030204" pitchFamily="18" charset="0"/>
              </a:rPr>
              <a:t>in both cases</a:t>
            </a: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b="1" noProof="0" dirty="0">
                <a:latin typeface="Cambria" panose="02040503050406030204" pitchFamily="18" charset="0"/>
                <a:ea typeface="Cambria" panose="02040503050406030204" pitchFamily="18" charset="0"/>
              </a:rPr>
              <a:t>z-component</a:t>
            </a:r>
            <a:r>
              <a:rPr lang="en-GB" noProof="0" dirty="0">
                <a:latin typeface="Cambria" panose="02040503050406030204" pitchFamily="18" charset="0"/>
                <a:ea typeface="Cambria" panose="02040503050406030204" pitchFamily="18" charset="0"/>
              </a:rPr>
              <a:t> tracked better with </a:t>
            </a:r>
            <a:r>
              <a:rPr lang="en-GB" b="1" noProof="0" dirty="0">
                <a:latin typeface="Cambria" panose="02040503050406030204" pitchFamily="18" charset="0"/>
                <a:ea typeface="Cambria" panose="02040503050406030204" pitchFamily="18" charset="0"/>
              </a:rPr>
              <a:t>sliding mode</a:t>
            </a: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b="1" noProof="0" dirty="0">
                <a:latin typeface="Cambria" panose="02040503050406030204" pitchFamily="18" charset="0"/>
                <a:ea typeface="Cambria" panose="02040503050406030204" pitchFamily="18" charset="0"/>
              </a:rPr>
              <a:t>Higher orientation error </a:t>
            </a:r>
            <a:r>
              <a:rPr lang="en-GB" noProof="0" dirty="0">
                <a:latin typeface="Cambria" panose="02040503050406030204" pitchFamily="18" charset="0"/>
                <a:ea typeface="Cambria" panose="02040503050406030204" pitchFamily="18" charset="0"/>
              </a:rPr>
              <a:t>with FL control</a:t>
            </a:r>
          </a:p>
        </p:txBody>
      </p:sp>
    </p:spTree>
    <p:extLst>
      <p:ext uri="{BB962C8B-B14F-4D97-AF65-F5344CB8AC3E}">
        <p14:creationId xmlns:p14="http://schemas.microsoft.com/office/powerpoint/2010/main" val="48126449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6B7C3-A81B-FBE0-7D5C-83335EF18048}"/>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677C36E5-E6D3-6F25-4C34-9656FEEC8DD4}"/>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en-GB" kern="0" noProof="0" dirty="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EA484B9C-0CCB-6371-ACF7-1CA3387D8F8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3C48606D-AA59-5760-9095-81CE32E37F4F}"/>
              </a:ext>
            </a:extLst>
          </p:cNvPr>
          <p:cNvSpPr/>
          <p:nvPr/>
        </p:nvSpPr>
        <p:spPr>
          <a:xfrm>
            <a:off x="14286" y="6598816"/>
            <a:ext cx="12177714" cy="307777"/>
          </a:xfrm>
          <a:prstGeom prst="rect">
            <a:avLst/>
          </a:prstGeom>
        </p:spPr>
        <p:txBody>
          <a:bodyPr wrap="square">
            <a:spAutoFit/>
          </a:bodyPr>
          <a:lstStyle/>
          <a:p>
            <a:pPr algn="ct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noProof="0" dirty="0">
                <a:solidFill>
                  <a:srgbClr val="162230"/>
                </a:solidFill>
                <a:latin typeface="Century Gothic"/>
                <a:cs typeface="Century Gothic"/>
              </a:rPr>
              <a:t>RESULTS AND COMPARISON (2)</a:t>
            </a:r>
          </a:p>
        </p:txBody>
      </p:sp>
      <p:sp>
        <p:nvSpPr>
          <p:cNvPr id="3" name="Rectangle 2">
            <a:extLst>
              <a:ext uri="{FF2B5EF4-FFF2-40B4-BE49-F238E27FC236}">
                <a16:creationId xmlns:a16="http://schemas.microsoft.com/office/drawing/2014/main" id="{08D30BF9-074C-9006-B909-3F87244F7912}"/>
              </a:ext>
            </a:extLst>
          </p:cNvPr>
          <p:cNvSpPr/>
          <p:nvPr/>
        </p:nvSpPr>
        <p:spPr>
          <a:xfrm>
            <a:off x="111616" y="1862"/>
            <a:ext cx="12080384" cy="461665"/>
          </a:xfrm>
          <a:prstGeom prst="rect">
            <a:avLst/>
          </a:prstGeom>
          <a:solidFill>
            <a:schemeClr val="bg1"/>
          </a:solidFill>
        </p:spPr>
        <p:txBody>
          <a:bodyPr wrap="square">
            <a:spAutoFit/>
          </a:bodyPr>
          <a:lstStyle/>
          <a:p>
            <a:pPr marL="457200" indent="-457200">
              <a:spcAft>
                <a:spcPts val="600"/>
              </a:spcAft>
              <a:buClr>
                <a:srgbClr val="971720"/>
              </a:buClr>
              <a:buFont typeface="Wingdings" panose="05000000000000000000" pitchFamily="2" charset="2"/>
              <a:buChar char="v"/>
            </a:pPr>
            <a:r>
              <a:rPr lang="en-GB" sz="2400" b="1" noProof="0" dirty="0">
                <a:solidFill>
                  <a:srgbClr val="971720"/>
                </a:solidFill>
                <a:latin typeface="Cambria" panose="02040503050406030204" pitchFamily="18" charset="0"/>
                <a:ea typeface="Cambria" panose="02040503050406030204" pitchFamily="18" charset="0"/>
                <a:cs typeface="Century Gothic"/>
              </a:rPr>
              <a:t>Results and Comparison (control inputs)</a:t>
            </a:r>
          </a:p>
        </p:txBody>
      </p:sp>
      <p:sp>
        <p:nvSpPr>
          <p:cNvPr id="4" name="CasellaDiTesto 3">
            <a:extLst>
              <a:ext uri="{FF2B5EF4-FFF2-40B4-BE49-F238E27FC236}">
                <a16:creationId xmlns:a16="http://schemas.microsoft.com/office/drawing/2014/main" id="{870BDE8F-D236-2F2F-E811-9040F4887B4F}"/>
              </a:ext>
            </a:extLst>
          </p:cNvPr>
          <p:cNvSpPr txBox="1"/>
          <p:nvPr/>
        </p:nvSpPr>
        <p:spPr>
          <a:xfrm>
            <a:off x="299458" y="567251"/>
            <a:ext cx="11892542" cy="369332"/>
          </a:xfrm>
          <a:prstGeom prst="rect">
            <a:avLst/>
          </a:prstGeom>
          <a:noFill/>
        </p:spPr>
        <p:txBody>
          <a:bodyPr wrap="square" numCol="2" rtlCol="0">
            <a:spAutoFit/>
          </a:bodyPr>
          <a:lstStyle/>
          <a:p>
            <a:pPr marL="285750" indent="-285750">
              <a:buClr>
                <a:srgbClr val="FFDC00"/>
              </a:buClr>
              <a:buFont typeface="Wingdings" panose="05000000000000000000" pitchFamily="2" charset="2"/>
              <a:buChar char="v"/>
            </a:pPr>
            <a:r>
              <a:rPr lang="en-GB" b="1" noProof="0" dirty="0">
                <a:latin typeface="Cambria" panose="02040503050406030204" pitchFamily="18" charset="0"/>
                <a:ea typeface="Cambria" panose="02040503050406030204" pitchFamily="18" charset="0"/>
              </a:rPr>
              <a:t>Sliding mode controller </a:t>
            </a:r>
          </a:p>
          <a:p>
            <a:pPr marL="285750" indent="-285750" algn="r">
              <a:buClr>
                <a:srgbClr val="FFDC00"/>
              </a:buClr>
              <a:buFont typeface="Wingdings" panose="05000000000000000000" pitchFamily="2" charset="2"/>
              <a:buChar char="v"/>
            </a:pPr>
            <a:r>
              <a:rPr lang="en-GB" b="1" noProof="0" dirty="0">
                <a:latin typeface="Cambria" panose="02040503050406030204" pitchFamily="18" charset="0"/>
                <a:ea typeface="Cambria" panose="02040503050406030204" pitchFamily="18" charset="0"/>
              </a:rPr>
              <a:t>Feedback linearizing controller</a:t>
            </a:r>
          </a:p>
        </p:txBody>
      </p:sp>
      <p:pic>
        <p:nvPicPr>
          <p:cNvPr id="14" name="Immagine 13" descr="Immagine che contiene testo, Diagramma, diagramma, linea&#10;&#10;Il contenuto generato dall'IA potrebbe non essere corretto.">
            <a:extLst>
              <a:ext uri="{FF2B5EF4-FFF2-40B4-BE49-F238E27FC236}">
                <a16:creationId xmlns:a16="http://schemas.microsoft.com/office/drawing/2014/main" id="{0994EF79-1DAB-F03C-04EF-F1EACAB95571}"/>
              </a:ext>
            </a:extLst>
          </p:cNvPr>
          <p:cNvPicPr>
            <a:picLocks noChangeAspect="1"/>
          </p:cNvPicPr>
          <p:nvPr/>
        </p:nvPicPr>
        <p:blipFill>
          <a:blip r:embed="rId4"/>
          <a:stretch>
            <a:fillRect/>
          </a:stretch>
        </p:blipFill>
        <p:spPr>
          <a:xfrm>
            <a:off x="299458" y="1001118"/>
            <a:ext cx="3348094" cy="2663982"/>
          </a:xfrm>
          <a:prstGeom prst="rect">
            <a:avLst/>
          </a:prstGeom>
        </p:spPr>
      </p:pic>
      <p:pic>
        <p:nvPicPr>
          <p:cNvPr id="22" name="Immagine 21" descr="Immagine che contiene testo, linea, diagramma, Diagramma&#10;&#10;Il contenuto generato dall'IA potrebbe non essere corretto.">
            <a:extLst>
              <a:ext uri="{FF2B5EF4-FFF2-40B4-BE49-F238E27FC236}">
                <a16:creationId xmlns:a16="http://schemas.microsoft.com/office/drawing/2014/main" id="{FA1EE939-799D-8674-EB29-A8A0EA199EF4}"/>
              </a:ext>
            </a:extLst>
          </p:cNvPr>
          <p:cNvPicPr>
            <a:picLocks noChangeAspect="1"/>
          </p:cNvPicPr>
          <p:nvPr/>
        </p:nvPicPr>
        <p:blipFill>
          <a:blip r:embed="rId5"/>
          <a:stretch>
            <a:fillRect/>
          </a:stretch>
        </p:blipFill>
        <p:spPr>
          <a:xfrm>
            <a:off x="8704091" y="960886"/>
            <a:ext cx="3348094" cy="2744446"/>
          </a:xfrm>
          <a:prstGeom prst="rect">
            <a:avLst/>
          </a:prstGeom>
        </p:spPr>
      </p:pic>
      <p:sp>
        <p:nvSpPr>
          <p:cNvPr id="23" name="CasellaDiTesto 22">
            <a:extLst>
              <a:ext uri="{FF2B5EF4-FFF2-40B4-BE49-F238E27FC236}">
                <a16:creationId xmlns:a16="http://schemas.microsoft.com/office/drawing/2014/main" id="{45D97E2C-A954-8D56-B436-02F5984B0F12}"/>
              </a:ext>
            </a:extLst>
          </p:cNvPr>
          <p:cNvSpPr txBox="1"/>
          <p:nvPr/>
        </p:nvSpPr>
        <p:spPr>
          <a:xfrm>
            <a:off x="4105430" y="2233939"/>
            <a:ext cx="4280598" cy="2585323"/>
          </a:xfrm>
          <a:prstGeom prst="rect">
            <a:avLst/>
          </a:prstGeom>
          <a:noFill/>
        </p:spPr>
        <p:txBody>
          <a:bodyPr wrap="square" rtlCol="0">
            <a:spAutoFit/>
          </a:bodyPr>
          <a:lstStyle/>
          <a:p>
            <a:pPr>
              <a:buClr>
                <a:srgbClr val="FFDC00"/>
              </a:buClr>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b="1" noProof="0" dirty="0">
                <a:latin typeface="Cambria" panose="02040503050406030204" pitchFamily="18" charset="0"/>
                <a:ea typeface="Cambria" panose="02040503050406030204" pitchFamily="18" charset="0"/>
              </a:rPr>
              <a:t>Order of magnitude</a:t>
            </a:r>
            <a:r>
              <a:rPr lang="en-GB" noProof="0" dirty="0">
                <a:latin typeface="Cambria" panose="02040503050406030204" pitchFamily="18" charset="0"/>
                <a:ea typeface="Cambria" panose="02040503050406030204" pitchFamily="18" charset="0"/>
              </a:rPr>
              <a:t> of the forces is comparable, although in the FL case the initial </a:t>
            </a:r>
            <a:r>
              <a:rPr lang="en-GB" b="1" noProof="0" dirty="0">
                <a:latin typeface="Cambria" panose="02040503050406030204" pitchFamily="18" charset="0"/>
                <a:ea typeface="Cambria" panose="02040503050406030204" pitchFamily="18" charset="0"/>
              </a:rPr>
              <a:t>peaks are greater</a:t>
            </a:r>
          </a:p>
          <a:p>
            <a:pPr>
              <a:buClr>
                <a:srgbClr val="FFDC00"/>
              </a:buClr>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b="1" noProof="0" dirty="0">
                <a:latin typeface="Cambria" panose="02040503050406030204" pitchFamily="18" charset="0"/>
                <a:ea typeface="Cambria" panose="02040503050406030204" pitchFamily="18" charset="0"/>
              </a:rPr>
              <a:t>Torques </a:t>
            </a:r>
            <a:r>
              <a:rPr lang="en-GB" noProof="0" dirty="0">
                <a:latin typeface="Cambria" panose="02040503050406030204" pitchFamily="18" charset="0"/>
                <a:ea typeface="Cambria" panose="02040503050406030204" pitchFamily="18" charset="0"/>
              </a:rPr>
              <a:t>slightly smaller in the FL case</a:t>
            </a: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b="1" noProof="0" dirty="0">
                <a:latin typeface="Cambria" panose="02040503050406030204" pitchFamily="18" charset="0"/>
                <a:ea typeface="Cambria" panose="02040503050406030204" pitchFamily="18" charset="0"/>
              </a:rPr>
              <a:t>High frequency </a:t>
            </a:r>
            <a:r>
              <a:rPr lang="en-GB" noProof="0" dirty="0">
                <a:latin typeface="Cambria" panose="02040503050406030204" pitchFamily="18" charset="0"/>
                <a:ea typeface="Cambria" panose="02040503050406030204" pitchFamily="18" charset="0"/>
              </a:rPr>
              <a:t>components in the FL control action</a:t>
            </a:r>
          </a:p>
        </p:txBody>
      </p:sp>
      <p:pic>
        <p:nvPicPr>
          <p:cNvPr id="25" name="Immagine 24" descr="Immagine che contiene linea, Diagramma, diagramma, testo&#10;&#10;Il contenuto generato dall'IA potrebbe non essere corretto.">
            <a:extLst>
              <a:ext uri="{FF2B5EF4-FFF2-40B4-BE49-F238E27FC236}">
                <a16:creationId xmlns:a16="http://schemas.microsoft.com/office/drawing/2014/main" id="{3822664A-6111-8EB3-4357-A81A44EA3C85}"/>
              </a:ext>
            </a:extLst>
          </p:cNvPr>
          <p:cNvPicPr>
            <a:picLocks noChangeAspect="1"/>
          </p:cNvPicPr>
          <p:nvPr/>
        </p:nvPicPr>
        <p:blipFill>
          <a:blip r:embed="rId6"/>
          <a:stretch>
            <a:fillRect/>
          </a:stretch>
        </p:blipFill>
        <p:spPr>
          <a:xfrm>
            <a:off x="380443" y="3798998"/>
            <a:ext cx="3267109" cy="2663983"/>
          </a:xfrm>
          <a:prstGeom prst="rect">
            <a:avLst/>
          </a:prstGeom>
        </p:spPr>
      </p:pic>
      <p:pic>
        <p:nvPicPr>
          <p:cNvPr id="27" name="Immagine 26" descr="Immagine che contiene testo, linea, diagramma, Diagramma&#10;&#10;Il contenuto generato dall'IA potrebbe non essere corretto.">
            <a:extLst>
              <a:ext uri="{FF2B5EF4-FFF2-40B4-BE49-F238E27FC236}">
                <a16:creationId xmlns:a16="http://schemas.microsoft.com/office/drawing/2014/main" id="{5DD2CC44-52B2-98C1-BEC9-D3C4077A8197}"/>
              </a:ext>
            </a:extLst>
          </p:cNvPr>
          <p:cNvPicPr>
            <a:picLocks noChangeAspect="1"/>
          </p:cNvPicPr>
          <p:nvPr/>
        </p:nvPicPr>
        <p:blipFill>
          <a:blip r:embed="rId7"/>
          <a:stretch>
            <a:fillRect/>
          </a:stretch>
        </p:blipFill>
        <p:spPr>
          <a:xfrm>
            <a:off x="8704091" y="3758820"/>
            <a:ext cx="3348094" cy="2744339"/>
          </a:xfrm>
          <a:prstGeom prst="rect">
            <a:avLst/>
          </a:prstGeom>
        </p:spPr>
      </p:pic>
    </p:spTree>
    <p:extLst>
      <p:ext uri="{BB962C8B-B14F-4D97-AF65-F5344CB8AC3E}">
        <p14:creationId xmlns:p14="http://schemas.microsoft.com/office/powerpoint/2010/main" val="3848705660"/>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2F126-FB66-B1AA-4CB0-12909B576A2E}"/>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5E1EE376-AF7A-E766-451D-6FAEAB8F38B9}"/>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en-GB" kern="0" noProof="0" dirty="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B7DC3072-A8A3-D675-35DD-AD589D25902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3222059D-05F6-27A5-641B-F393FDE7CC07}"/>
              </a:ext>
            </a:extLst>
          </p:cNvPr>
          <p:cNvSpPr/>
          <p:nvPr/>
        </p:nvSpPr>
        <p:spPr>
          <a:xfrm>
            <a:off x="14286" y="6598816"/>
            <a:ext cx="12177714" cy="307777"/>
          </a:xfrm>
          <a:prstGeom prst="rect">
            <a:avLst/>
          </a:prstGeom>
        </p:spPr>
        <p:txBody>
          <a:bodyPr wrap="square">
            <a:spAutoFit/>
          </a:bodyPr>
          <a:lstStyle/>
          <a:p>
            <a:pPr algn="ct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noProof="0" dirty="0">
                <a:solidFill>
                  <a:srgbClr val="162230"/>
                </a:solidFill>
                <a:latin typeface="Century Gothic"/>
                <a:cs typeface="Century Gothic"/>
              </a:rPr>
              <a:t>RESULTS AND COMPARISON (3)</a:t>
            </a:r>
          </a:p>
        </p:txBody>
      </p:sp>
      <p:sp>
        <p:nvSpPr>
          <p:cNvPr id="3" name="Rectangle 2">
            <a:extLst>
              <a:ext uri="{FF2B5EF4-FFF2-40B4-BE49-F238E27FC236}">
                <a16:creationId xmlns:a16="http://schemas.microsoft.com/office/drawing/2014/main" id="{F8BFE3A5-9641-3BA3-C574-1430EAD24624}"/>
              </a:ext>
            </a:extLst>
          </p:cNvPr>
          <p:cNvSpPr/>
          <p:nvPr/>
        </p:nvSpPr>
        <p:spPr>
          <a:xfrm>
            <a:off x="111616" y="1862"/>
            <a:ext cx="12080384" cy="461665"/>
          </a:xfrm>
          <a:prstGeom prst="rect">
            <a:avLst/>
          </a:prstGeom>
          <a:solidFill>
            <a:schemeClr val="bg1"/>
          </a:solidFill>
        </p:spPr>
        <p:txBody>
          <a:bodyPr wrap="square">
            <a:spAutoFit/>
          </a:bodyPr>
          <a:lstStyle/>
          <a:p>
            <a:pPr marL="457200" indent="-457200">
              <a:spcAft>
                <a:spcPts val="600"/>
              </a:spcAft>
              <a:buClr>
                <a:srgbClr val="971720"/>
              </a:buClr>
              <a:buFont typeface="Wingdings" panose="05000000000000000000" pitchFamily="2" charset="2"/>
              <a:buChar char="v"/>
            </a:pPr>
            <a:r>
              <a:rPr lang="en-GB" sz="2400" b="1" noProof="0" dirty="0">
                <a:solidFill>
                  <a:srgbClr val="971720"/>
                </a:solidFill>
                <a:latin typeface="Cambria" panose="02040503050406030204" pitchFamily="18" charset="0"/>
                <a:ea typeface="Cambria" panose="02040503050406030204" pitchFamily="18" charset="0"/>
                <a:cs typeface="Century Gothic"/>
              </a:rPr>
              <a:t>Results and Comparison (twists)</a:t>
            </a:r>
          </a:p>
        </p:txBody>
      </p:sp>
      <p:sp>
        <p:nvSpPr>
          <p:cNvPr id="4" name="CasellaDiTesto 3">
            <a:extLst>
              <a:ext uri="{FF2B5EF4-FFF2-40B4-BE49-F238E27FC236}">
                <a16:creationId xmlns:a16="http://schemas.microsoft.com/office/drawing/2014/main" id="{EC0C1989-FDDA-E141-3C1F-6E3895E3C36B}"/>
              </a:ext>
            </a:extLst>
          </p:cNvPr>
          <p:cNvSpPr txBox="1"/>
          <p:nvPr/>
        </p:nvSpPr>
        <p:spPr>
          <a:xfrm>
            <a:off x="299458" y="567251"/>
            <a:ext cx="11892542" cy="369332"/>
          </a:xfrm>
          <a:prstGeom prst="rect">
            <a:avLst/>
          </a:prstGeom>
          <a:noFill/>
        </p:spPr>
        <p:txBody>
          <a:bodyPr wrap="square" numCol="2" rtlCol="0">
            <a:spAutoFit/>
          </a:bodyPr>
          <a:lstStyle/>
          <a:p>
            <a:pPr marL="285750" indent="-285750">
              <a:buClr>
                <a:srgbClr val="FFDC00"/>
              </a:buClr>
              <a:buFont typeface="Wingdings" panose="05000000000000000000" pitchFamily="2" charset="2"/>
              <a:buChar char="v"/>
            </a:pPr>
            <a:r>
              <a:rPr lang="en-GB" b="1" noProof="0" dirty="0">
                <a:latin typeface="Cambria" panose="02040503050406030204" pitchFamily="18" charset="0"/>
                <a:ea typeface="Cambria" panose="02040503050406030204" pitchFamily="18" charset="0"/>
              </a:rPr>
              <a:t>Sliding mode controller </a:t>
            </a:r>
          </a:p>
          <a:p>
            <a:pPr marL="285750" indent="-285750" algn="r">
              <a:buClr>
                <a:srgbClr val="FFDC00"/>
              </a:buClr>
              <a:buFont typeface="Wingdings" panose="05000000000000000000" pitchFamily="2" charset="2"/>
              <a:buChar char="v"/>
            </a:pPr>
            <a:r>
              <a:rPr lang="en-GB" b="1" noProof="0" dirty="0">
                <a:latin typeface="Cambria" panose="02040503050406030204" pitchFamily="18" charset="0"/>
                <a:ea typeface="Cambria" panose="02040503050406030204" pitchFamily="18" charset="0"/>
              </a:rPr>
              <a:t>Feedback linearizing controller</a:t>
            </a:r>
          </a:p>
        </p:txBody>
      </p:sp>
      <p:sp>
        <p:nvSpPr>
          <p:cNvPr id="23" name="CasellaDiTesto 22">
            <a:extLst>
              <a:ext uri="{FF2B5EF4-FFF2-40B4-BE49-F238E27FC236}">
                <a16:creationId xmlns:a16="http://schemas.microsoft.com/office/drawing/2014/main" id="{D2FCF876-D4D1-A32F-8A96-50A7E2FEE58D}"/>
              </a:ext>
            </a:extLst>
          </p:cNvPr>
          <p:cNvSpPr txBox="1"/>
          <p:nvPr/>
        </p:nvSpPr>
        <p:spPr>
          <a:xfrm>
            <a:off x="4105430" y="2136338"/>
            <a:ext cx="4280598" cy="3416320"/>
          </a:xfrm>
          <a:prstGeom prst="rect">
            <a:avLst/>
          </a:prstGeom>
          <a:noFill/>
        </p:spPr>
        <p:txBody>
          <a:bodyPr wrap="square" rtlCol="0">
            <a:spAutoFit/>
          </a:bodyPr>
          <a:lstStyle/>
          <a:p>
            <a:pPr>
              <a:buClr>
                <a:srgbClr val="FFDC00"/>
              </a:buClr>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noProof="0" dirty="0">
                <a:latin typeface="Cambria" panose="02040503050406030204" pitchFamily="18" charset="0"/>
                <a:ea typeface="Cambria" panose="02040503050406030204" pitchFamily="18" charset="0"/>
              </a:rPr>
              <a:t>Angular velocities reach </a:t>
            </a:r>
            <a:r>
              <a:rPr lang="en-GB" b="1" noProof="0" dirty="0">
                <a:latin typeface="Cambria" panose="02040503050406030204" pitchFamily="18" charset="0"/>
                <a:ea typeface="Cambria" panose="02040503050406030204" pitchFamily="18" charset="0"/>
              </a:rPr>
              <a:t>smaller values </a:t>
            </a:r>
            <a:r>
              <a:rPr lang="en-GB" noProof="0" dirty="0">
                <a:latin typeface="Cambria" panose="02040503050406030204" pitchFamily="18" charset="0"/>
                <a:ea typeface="Cambria" panose="02040503050406030204" pitchFamily="18" charset="0"/>
              </a:rPr>
              <a:t>in the Sliding mode case</a:t>
            </a: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noProof="0" dirty="0">
                <a:latin typeface="Cambria" panose="02040503050406030204" pitchFamily="18" charset="0"/>
                <a:ea typeface="Cambria" panose="02040503050406030204" pitchFamily="18" charset="0"/>
              </a:rPr>
              <a:t>Yaw component </a:t>
            </a:r>
            <a:r>
              <a:rPr lang="en-GB" b="1" i="1" noProof="0" dirty="0">
                <a:latin typeface="Cambria" panose="02040503050406030204" pitchFamily="18" charset="0"/>
                <a:ea typeface="Cambria" panose="02040503050406030204" pitchFamily="18" charset="0"/>
              </a:rPr>
              <a:t>r</a:t>
            </a:r>
            <a:r>
              <a:rPr lang="en-GB" noProof="0" dirty="0">
                <a:latin typeface="Cambria" panose="02040503050406030204" pitchFamily="18" charset="0"/>
                <a:ea typeface="Cambria" panose="02040503050406030204" pitchFamily="18" charset="0"/>
              </a:rPr>
              <a:t> oscillates around </a:t>
            </a:r>
            <a:r>
              <a:rPr lang="en-GB" b="1" noProof="0" dirty="0">
                <a:latin typeface="Cambria" panose="02040503050406030204" pitchFamily="18" charset="0"/>
                <a:ea typeface="Cambria" panose="02040503050406030204" pitchFamily="18" charset="0"/>
              </a:rPr>
              <a:t>zero</a:t>
            </a:r>
            <a:r>
              <a:rPr lang="en-GB" noProof="0" dirty="0">
                <a:latin typeface="Cambria" panose="02040503050406030204" pitchFamily="18" charset="0"/>
                <a:ea typeface="Cambria" panose="02040503050406030204" pitchFamily="18" charset="0"/>
              </a:rPr>
              <a:t> in both cases</a:t>
            </a: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dirty="0">
                <a:latin typeface="Cambria" panose="02040503050406030204" pitchFamily="18" charset="0"/>
                <a:ea typeface="Cambria" panose="02040503050406030204" pitchFamily="18" charset="0"/>
              </a:rPr>
              <a:t>He</a:t>
            </a:r>
            <a:r>
              <a:rPr lang="en-GB" noProof="0" dirty="0" err="1">
                <a:latin typeface="Cambria" panose="02040503050406030204" pitchFamily="18" charset="0"/>
                <a:ea typeface="Cambria" panose="02040503050406030204" pitchFamily="18" charset="0"/>
              </a:rPr>
              <a:t>ave</a:t>
            </a:r>
            <a:r>
              <a:rPr lang="en-GB" noProof="0" dirty="0">
                <a:latin typeface="Cambria" panose="02040503050406030204" pitchFamily="18" charset="0"/>
                <a:ea typeface="Cambria" panose="02040503050406030204" pitchFamily="18" charset="0"/>
              </a:rPr>
              <a:t> component </a:t>
            </a:r>
            <a:r>
              <a:rPr lang="en-GB" b="1" i="1" noProof="0" dirty="0">
                <a:latin typeface="Cambria" panose="02040503050406030204" pitchFamily="18" charset="0"/>
                <a:ea typeface="Cambria" panose="02040503050406030204" pitchFamily="18" charset="0"/>
              </a:rPr>
              <a:t>w </a:t>
            </a:r>
            <a:r>
              <a:rPr lang="en-GB" noProof="0" dirty="0">
                <a:latin typeface="Cambria" panose="02040503050406030204" pitchFamily="18" charset="0"/>
                <a:ea typeface="Cambria" panose="02040503050406030204" pitchFamily="18" charset="0"/>
              </a:rPr>
              <a:t>constant in sliding mode </a:t>
            </a:r>
            <a:endParaRPr lang="en-GB" b="1" i="1"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b="1" noProof="0" dirty="0">
                <a:latin typeface="Cambria" panose="02040503050406030204" pitchFamily="18" charset="0"/>
                <a:ea typeface="Cambria" panose="02040503050406030204" pitchFamily="18" charset="0"/>
              </a:rPr>
              <a:t>Peaks </a:t>
            </a:r>
            <a:r>
              <a:rPr lang="en-GB" noProof="0" dirty="0">
                <a:latin typeface="Cambria" panose="02040503050406030204" pitchFamily="18" charset="0"/>
                <a:ea typeface="Cambria" panose="02040503050406030204" pitchFamily="18" charset="0"/>
              </a:rPr>
              <a:t>of linear velocities smaller in the FL case</a:t>
            </a:r>
          </a:p>
        </p:txBody>
      </p:sp>
      <p:pic>
        <p:nvPicPr>
          <p:cNvPr id="12" name="Immagine 11" descr="Immagine che contiene testo, linea, diagramma, Diagramma&#10;&#10;Il contenuto generato dall'IA potrebbe non essere corretto.">
            <a:extLst>
              <a:ext uri="{FF2B5EF4-FFF2-40B4-BE49-F238E27FC236}">
                <a16:creationId xmlns:a16="http://schemas.microsoft.com/office/drawing/2014/main" id="{00559218-F9D4-D988-8C58-6DAF8DA2F5BD}"/>
              </a:ext>
            </a:extLst>
          </p:cNvPr>
          <p:cNvPicPr>
            <a:picLocks noChangeAspect="1"/>
          </p:cNvPicPr>
          <p:nvPr/>
        </p:nvPicPr>
        <p:blipFill>
          <a:blip r:embed="rId4"/>
          <a:stretch>
            <a:fillRect/>
          </a:stretch>
        </p:blipFill>
        <p:spPr>
          <a:xfrm>
            <a:off x="8826938" y="936583"/>
            <a:ext cx="3212558" cy="2677132"/>
          </a:xfrm>
          <a:prstGeom prst="rect">
            <a:avLst/>
          </a:prstGeom>
        </p:spPr>
      </p:pic>
      <p:pic>
        <p:nvPicPr>
          <p:cNvPr id="15" name="Immagine 14" descr="Immagine che contiene testo, linea, diagramma, Parallelo&#10;&#10;Il contenuto generato dall'IA potrebbe non essere corretto.">
            <a:extLst>
              <a:ext uri="{FF2B5EF4-FFF2-40B4-BE49-F238E27FC236}">
                <a16:creationId xmlns:a16="http://schemas.microsoft.com/office/drawing/2014/main" id="{336A31F7-B1BC-B62C-D5A2-7F8E766B3419}"/>
              </a:ext>
            </a:extLst>
          </p:cNvPr>
          <p:cNvPicPr>
            <a:picLocks noChangeAspect="1"/>
          </p:cNvPicPr>
          <p:nvPr/>
        </p:nvPicPr>
        <p:blipFill>
          <a:blip r:embed="rId5"/>
          <a:stretch>
            <a:fillRect/>
          </a:stretch>
        </p:blipFill>
        <p:spPr>
          <a:xfrm>
            <a:off x="8756261" y="3734032"/>
            <a:ext cx="3283235" cy="2677132"/>
          </a:xfrm>
          <a:prstGeom prst="rect">
            <a:avLst/>
          </a:prstGeom>
        </p:spPr>
      </p:pic>
      <p:pic>
        <p:nvPicPr>
          <p:cNvPr id="17" name="Immagine 16" descr="Immagine che contiene testo, linea, Diagramma, diagramma&#10;&#10;Il contenuto generato dall'IA potrebbe non essere corretto.">
            <a:extLst>
              <a:ext uri="{FF2B5EF4-FFF2-40B4-BE49-F238E27FC236}">
                <a16:creationId xmlns:a16="http://schemas.microsoft.com/office/drawing/2014/main" id="{E1372C16-59DF-8598-6FE4-8F36E638DF8E}"/>
              </a:ext>
            </a:extLst>
          </p:cNvPr>
          <p:cNvPicPr>
            <a:picLocks noChangeAspect="1"/>
          </p:cNvPicPr>
          <p:nvPr/>
        </p:nvPicPr>
        <p:blipFill>
          <a:blip r:embed="rId6"/>
          <a:stretch>
            <a:fillRect/>
          </a:stretch>
        </p:blipFill>
        <p:spPr>
          <a:xfrm>
            <a:off x="187843" y="972888"/>
            <a:ext cx="3283236" cy="2677133"/>
          </a:xfrm>
          <a:prstGeom prst="rect">
            <a:avLst/>
          </a:prstGeom>
        </p:spPr>
      </p:pic>
      <p:pic>
        <p:nvPicPr>
          <p:cNvPr id="19" name="Immagine 18" descr="Immagine che contiene testo, linea, Diagramma, diagramma&#10;&#10;Il contenuto generato dall'IA potrebbe non essere corretto.">
            <a:extLst>
              <a:ext uri="{FF2B5EF4-FFF2-40B4-BE49-F238E27FC236}">
                <a16:creationId xmlns:a16="http://schemas.microsoft.com/office/drawing/2014/main" id="{AD0097F8-922C-9334-F87A-4EFF70F4E0D2}"/>
              </a:ext>
            </a:extLst>
          </p:cNvPr>
          <p:cNvPicPr>
            <a:picLocks noChangeAspect="1"/>
          </p:cNvPicPr>
          <p:nvPr/>
        </p:nvPicPr>
        <p:blipFill>
          <a:blip r:embed="rId7"/>
          <a:stretch>
            <a:fillRect/>
          </a:stretch>
        </p:blipFill>
        <p:spPr>
          <a:xfrm>
            <a:off x="223182" y="3686326"/>
            <a:ext cx="3212558" cy="2677132"/>
          </a:xfrm>
          <a:prstGeom prst="rect">
            <a:avLst/>
          </a:prstGeom>
        </p:spPr>
      </p:pic>
    </p:spTree>
    <p:extLst>
      <p:ext uri="{BB962C8B-B14F-4D97-AF65-F5344CB8AC3E}">
        <p14:creationId xmlns:p14="http://schemas.microsoft.com/office/powerpoint/2010/main" val="3249948748"/>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87314-A2A9-6B6B-8E33-83C1DECD86F6}"/>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F5CA7A79-77AB-6DB2-7C2D-4C2C557107CB}"/>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en-GB" kern="0" noProof="0" dirty="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B2A91AEB-E9C7-AFEA-6DEC-5968FE68107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9BE82442-3E3D-BD3A-2E71-C1CB77411C0F}"/>
              </a:ext>
            </a:extLst>
          </p:cNvPr>
          <p:cNvSpPr/>
          <p:nvPr/>
        </p:nvSpPr>
        <p:spPr>
          <a:xfrm>
            <a:off x="14286" y="6598816"/>
            <a:ext cx="12177714" cy="307777"/>
          </a:xfrm>
          <a:prstGeom prst="rect">
            <a:avLst/>
          </a:prstGeom>
        </p:spPr>
        <p:txBody>
          <a:bodyPr wrap="square">
            <a:spAutoFit/>
          </a:bodyPr>
          <a:lstStyle/>
          <a:p>
            <a:pPr algn="ct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noProof="0" dirty="0">
                <a:solidFill>
                  <a:srgbClr val="162230"/>
                </a:solidFill>
                <a:latin typeface="Century Gothic"/>
                <a:cs typeface="Century Gothic"/>
              </a:rPr>
              <a:t>CONCLUSIONS AND FURTHER DEVELOPMENTS</a:t>
            </a:r>
          </a:p>
        </p:txBody>
      </p:sp>
      <p:sp>
        <p:nvSpPr>
          <p:cNvPr id="3" name="Rectangle 2">
            <a:extLst>
              <a:ext uri="{FF2B5EF4-FFF2-40B4-BE49-F238E27FC236}">
                <a16:creationId xmlns:a16="http://schemas.microsoft.com/office/drawing/2014/main" id="{3FD4732F-E014-17CE-DDFF-FD2AA9000D49}"/>
              </a:ext>
            </a:extLst>
          </p:cNvPr>
          <p:cNvSpPr/>
          <p:nvPr/>
        </p:nvSpPr>
        <p:spPr>
          <a:xfrm>
            <a:off x="111616" y="1862"/>
            <a:ext cx="12080384" cy="907941"/>
          </a:xfrm>
          <a:prstGeom prst="rect">
            <a:avLst/>
          </a:prstGeom>
          <a:solidFill>
            <a:schemeClr val="bg1"/>
          </a:solidFill>
        </p:spPr>
        <p:txBody>
          <a:bodyPr wrap="square">
            <a:spAutoFit/>
          </a:bodyPr>
          <a:lstStyle/>
          <a:p>
            <a:pPr marL="457200" indent="-457200">
              <a:spcAft>
                <a:spcPts val="600"/>
              </a:spcAft>
              <a:buClr>
                <a:srgbClr val="971720"/>
              </a:buClr>
              <a:buFont typeface="Wingdings" panose="05000000000000000000" pitchFamily="2" charset="2"/>
              <a:buChar char="v"/>
            </a:pPr>
            <a:r>
              <a:rPr lang="en-GB" sz="2400" b="1" noProof="0" dirty="0">
                <a:solidFill>
                  <a:srgbClr val="971720"/>
                </a:solidFill>
                <a:latin typeface="Cambria" panose="02040503050406030204" pitchFamily="18" charset="0"/>
                <a:ea typeface="Cambria" panose="02040503050406030204" pitchFamily="18" charset="0"/>
                <a:cs typeface="Century Gothic"/>
              </a:rPr>
              <a:t>Conclusions</a:t>
            </a:r>
          </a:p>
          <a:p>
            <a:pPr marL="457200" indent="-457200">
              <a:spcAft>
                <a:spcPts val="600"/>
              </a:spcAft>
              <a:buClr>
                <a:srgbClr val="971720"/>
              </a:buClr>
              <a:buFont typeface="Wingdings" panose="05000000000000000000" pitchFamily="2" charset="2"/>
              <a:buChar char="v"/>
            </a:pPr>
            <a:endParaRPr lang="en-GB" sz="2400" b="1" noProof="0" dirty="0">
              <a:solidFill>
                <a:srgbClr val="971720"/>
              </a:solidFill>
              <a:latin typeface="Cambria" panose="02040503050406030204" pitchFamily="18" charset="0"/>
              <a:ea typeface="Cambria" panose="02040503050406030204" pitchFamily="18" charset="0"/>
              <a:cs typeface="Century Gothic"/>
            </a:endParaRPr>
          </a:p>
        </p:txBody>
      </p:sp>
      <p:sp>
        <p:nvSpPr>
          <p:cNvPr id="5" name="Rectangle 2">
            <a:extLst>
              <a:ext uri="{FF2B5EF4-FFF2-40B4-BE49-F238E27FC236}">
                <a16:creationId xmlns:a16="http://schemas.microsoft.com/office/drawing/2014/main" id="{17F86D99-B330-262C-3F13-B5583B94B2FB}"/>
              </a:ext>
            </a:extLst>
          </p:cNvPr>
          <p:cNvSpPr/>
          <p:nvPr/>
        </p:nvSpPr>
        <p:spPr>
          <a:xfrm>
            <a:off x="111616" y="2317359"/>
            <a:ext cx="12080384" cy="907941"/>
          </a:xfrm>
          <a:prstGeom prst="rect">
            <a:avLst/>
          </a:prstGeom>
          <a:solidFill>
            <a:schemeClr val="bg1"/>
          </a:solidFill>
        </p:spPr>
        <p:txBody>
          <a:bodyPr wrap="square">
            <a:spAutoFit/>
          </a:bodyPr>
          <a:lstStyle/>
          <a:p>
            <a:pPr marL="457200" indent="-457200">
              <a:spcAft>
                <a:spcPts val="600"/>
              </a:spcAft>
              <a:buClr>
                <a:srgbClr val="971720"/>
              </a:buClr>
              <a:buFont typeface="Wingdings" panose="05000000000000000000" pitchFamily="2" charset="2"/>
              <a:buChar char="v"/>
            </a:pPr>
            <a:r>
              <a:rPr lang="en-GB" sz="2400" b="1" noProof="0" dirty="0">
                <a:solidFill>
                  <a:srgbClr val="971720"/>
                </a:solidFill>
                <a:latin typeface="Cambria" panose="02040503050406030204" pitchFamily="18" charset="0"/>
                <a:ea typeface="Cambria" panose="02040503050406030204" pitchFamily="18" charset="0"/>
                <a:cs typeface="Century Gothic"/>
              </a:rPr>
              <a:t>Further Developments</a:t>
            </a:r>
            <a:endParaRPr lang="en-GB" sz="2400" b="1" noProof="0" dirty="0">
              <a:latin typeface="Cambria" panose="02040503050406030204" pitchFamily="18" charset="0"/>
              <a:ea typeface="Cambria" panose="02040503050406030204" pitchFamily="18" charset="0"/>
            </a:endParaRPr>
          </a:p>
          <a:p>
            <a:pPr marL="457200" indent="-457200">
              <a:spcAft>
                <a:spcPts val="600"/>
              </a:spcAft>
              <a:buClr>
                <a:srgbClr val="971720"/>
              </a:buClr>
              <a:buFont typeface="Wingdings" panose="05000000000000000000" pitchFamily="2" charset="2"/>
              <a:buChar char="v"/>
            </a:pPr>
            <a:endParaRPr lang="en-GB" sz="2400" b="1" noProof="0" dirty="0">
              <a:solidFill>
                <a:srgbClr val="971720"/>
              </a:solidFill>
              <a:latin typeface="Cambria" panose="02040503050406030204" pitchFamily="18" charset="0"/>
              <a:ea typeface="Cambria" panose="02040503050406030204" pitchFamily="18" charset="0"/>
              <a:cs typeface="Century Gothic"/>
            </a:endParaRPr>
          </a:p>
        </p:txBody>
      </p:sp>
      <p:sp>
        <p:nvSpPr>
          <p:cNvPr id="6" name="CasellaDiTesto 5">
            <a:extLst>
              <a:ext uri="{FF2B5EF4-FFF2-40B4-BE49-F238E27FC236}">
                <a16:creationId xmlns:a16="http://schemas.microsoft.com/office/drawing/2014/main" id="{F1D22D52-7155-37B7-C622-37A805960C56}"/>
              </a:ext>
            </a:extLst>
          </p:cNvPr>
          <p:cNvSpPr txBox="1"/>
          <p:nvPr/>
        </p:nvSpPr>
        <p:spPr>
          <a:xfrm>
            <a:off x="306601" y="609199"/>
            <a:ext cx="11892542" cy="3416320"/>
          </a:xfrm>
          <a:prstGeom prst="rect">
            <a:avLst/>
          </a:prstGeom>
          <a:noFill/>
        </p:spPr>
        <p:txBody>
          <a:bodyPr wrap="square" numCol="1" rtlCol="0">
            <a:spAutoFit/>
          </a:bodyPr>
          <a:lstStyle/>
          <a:p>
            <a:pPr marL="285750" indent="-285750">
              <a:buClr>
                <a:srgbClr val="FFDC00"/>
              </a:buClr>
              <a:buFont typeface="Wingdings" panose="05000000000000000000" pitchFamily="2" charset="2"/>
              <a:buChar char="v"/>
            </a:pPr>
            <a:r>
              <a:rPr lang="en-GB" noProof="0" dirty="0">
                <a:latin typeface="Cambria" panose="02040503050406030204" pitchFamily="18" charset="0"/>
                <a:ea typeface="Cambria" panose="02040503050406030204" pitchFamily="18" charset="0"/>
              </a:rPr>
              <a:t>The project compared two </a:t>
            </a:r>
            <a:r>
              <a:rPr lang="en-GB" b="1" noProof="0" dirty="0">
                <a:latin typeface="Cambria" panose="02040503050406030204" pitchFamily="18" charset="0"/>
                <a:ea typeface="Cambria" panose="02040503050406030204" pitchFamily="18" charset="0"/>
              </a:rPr>
              <a:t>non linear control strategies </a:t>
            </a: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noProof="0" dirty="0">
                <a:latin typeface="Cambria" panose="02040503050406030204" pitchFamily="18" charset="0"/>
                <a:ea typeface="Cambria" panose="02040503050406030204" pitchFamily="18" charset="0"/>
              </a:rPr>
              <a:t>Both the controllers exhibited </a:t>
            </a:r>
            <a:r>
              <a:rPr lang="en-GB" b="1" noProof="0" dirty="0">
                <a:latin typeface="Cambria" panose="02040503050406030204" pitchFamily="18" charset="0"/>
                <a:ea typeface="Cambria" panose="02040503050406030204" pitchFamily="18" charset="0"/>
              </a:rPr>
              <a:t>satisfatory behaviour </a:t>
            </a:r>
            <a:r>
              <a:rPr lang="en-GB" noProof="0" dirty="0">
                <a:latin typeface="Cambria" panose="02040503050406030204" pitchFamily="18" charset="0"/>
                <a:ea typeface="Cambria" panose="02040503050406030204" pitchFamily="18" charset="0"/>
              </a:rPr>
              <a:t>in terms of tracking</a:t>
            </a:r>
          </a:p>
          <a:p>
            <a:pPr>
              <a:buClr>
                <a:srgbClr val="FFDC00"/>
              </a:buClr>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noProof="0" dirty="0">
                <a:latin typeface="Cambria" panose="02040503050406030204" pitchFamily="18" charset="0"/>
                <a:ea typeface="Cambria" panose="02040503050406030204" pitchFamily="18" charset="0"/>
              </a:rPr>
              <a:t>Sliding Control demonstrated </a:t>
            </a:r>
            <a:r>
              <a:rPr lang="en-GB" b="1" noProof="0" dirty="0">
                <a:latin typeface="Cambria" panose="02040503050406030204" pitchFamily="18" charset="0"/>
                <a:ea typeface="Cambria" panose="02040503050406030204" pitchFamily="18" charset="0"/>
              </a:rPr>
              <a:t>greater accuracy </a:t>
            </a:r>
            <a:r>
              <a:rPr lang="en-GB" noProof="0" dirty="0">
                <a:latin typeface="Cambria" panose="02040503050406030204" pitchFamily="18" charset="0"/>
                <a:ea typeface="Cambria" panose="02040503050406030204" pitchFamily="18" charset="0"/>
              </a:rPr>
              <a:t>once the chattering problem has been solved</a:t>
            </a: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a:p>
            <a:pPr>
              <a:buClr>
                <a:srgbClr val="FFDC00"/>
              </a:buClr>
            </a:pPr>
            <a:endParaRPr lang="en-GB" b="1"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p:txBody>
      </p:sp>
      <p:sp>
        <p:nvSpPr>
          <p:cNvPr id="8" name="CasellaDiTesto 7">
            <a:extLst>
              <a:ext uri="{FF2B5EF4-FFF2-40B4-BE49-F238E27FC236}">
                <a16:creationId xmlns:a16="http://schemas.microsoft.com/office/drawing/2014/main" id="{5CDCB6D2-B5D5-1E6C-1F27-6B8D7C22AF74}"/>
              </a:ext>
            </a:extLst>
          </p:cNvPr>
          <p:cNvSpPr txBox="1"/>
          <p:nvPr/>
        </p:nvSpPr>
        <p:spPr>
          <a:xfrm>
            <a:off x="306601" y="2929375"/>
            <a:ext cx="11892542" cy="4801314"/>
          </a:xfrm>
          <a:prstGeom prst="rect">
            <a:avLst/>
          </a:prstGeom>
          <a:noFill/>
        </p:spPr>
        <p:txBody>
          <a:bodyPr wrap="square" numCol="1" rtlCol="0">
            <a:spAutoFit/>
          </a:bodyPr>
          <a:lstStyle/>
          <a:p>
            <a:pPr marL="285750" indent="-285750">
              <a:buClr>
                <a:srgbClr val="FFDC00"/>
              </a:buClr>
              <a:buFont typeface="Wingdings" panose="05000000000000000000" pitchFamily="2" charset="2"/>
              <a:buChar char="v"/>
            </a:pPr>
            <a:r>
              <a:rPr lang="en-GB" noProof="0" dirty="0">
                <a:latin typeface="Cambria" panose="02040503050406030204" pitchFamily="18" charset="0"/>
                <a:ea typeface="Cambria" panose="02040503050406030204" pitchFamily="18" charset="0"/>
              </a:rPr>
              <a:t>Insert </a:t>
            </a:r>
            <a:r>
              <a:rPr lang="en-GB" b="1" noProof="0" dirty="0">
                <a:latin typeface="Cambria" panose="02040503050406030204" pitchFamily="18" charset="0"/>
                <a:ea typeface="Cambria" panose="02040503050406030204" pitchFamily="18" charset="0"/>
              </a:rPr>
              <a:t>uncertainties</a:t>
            </a:r>
            <a:r>
              <a:rPr lang="en-GB" noProof="0" dirty="0">
                <a:latin typeface="Cambria" panose="02040503050406030204" pitchFamily="18" charset="0"/>
                <a:ea typeface="Cambria" panose="02040503050406030204" pitchFamily="18" charset="0"/>
              </a:rPr>
              <a:t> in the dynamic model to test robustness</a:t>
            </a:r>
          </a:p>
          <a:p>
            <a:pPr>
              <a:buClr>
                <a:srgbClr val="FFDC00"/>
              </a:buClr>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r>
              <a:rPr lang="en-GB" noProof="0" dirty="0">
                <a:latin typeface="Cambria" panose="02040503050406030204" pitchFamily="18" charset="0"/>
                <a:ea typeface="Cambria" panose="02040503050406030204" pitchFamily="18" charset="0"/>
              </a:rPr>
              <a:t>Motion planning including also a trajectory for the </a:t>
            </a:r>
            <a:r>
              <a:rPr lang="en-GB" b="1" noProof="0" dirty="0">
                <a:latin typeface="Cambria" panose="02040503050406030204" pitchFamily="18" charset="0"/>
                <a:ea typeface="Cambria" panose="02040503050406030204" pitchFamily="18" charset="0"/>
              </a:rPr>
              <a:t>orientational part </a:t>
            </a:r>
            <a:r>
              <a:rPr lang="en-GB" noProof="0" dirty="0">
                <a:latin typeface="Cambria" panose="02040503050406030204" pitchFamily="18" charset="0"/>
                <a:ea typeface="Cambria" panose="02040503050406030204" pitchFamily="18" charset="0"/>
              </a:rPr>
              <a:t>of the ROV</a:t>
            </a: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a:p>
            <a:pPr marL="285750" indent="-285750">
              <a:buClr>
                <a:srgbClr val="FFDC00"/>
              </a:buClr>
              <a:buFont typeface="Wingdings" panose="05000000000000000000" pitchFamily="2" charset="2"/>
              <a:buChar char="v"/>
            </a:pPr>
            <a:endParaRPr lang="en-GB" b="1" noProof="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49045835"/>
      </p:ext>
    </p:extLst>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12A12-43C8-E8B8-B69D-2E34C6BCA5D4}"/>
            </a:ext>
          </a:extLst>
        </p:cNvPr>
        <p:cNvGrpSpPr/>
        <p:nvPr/>
      </p:nvGrpSpPr>
      <p:grpSpPr>
        <a:xfrm>
          <a:off x="0" y="0"/>
          <a:ext cx="0" cy="0"/>
          <a:chOff x="0" y="0"/>
          <a:chExt cx="0" cy="0"/>
        </a:xfrm>
      </p:grpSpPr>
      <p:sp>
        <p:nvSpPr>
          <p:cNvPr id="9" name="Rettangolo 10">
            <a:extLst>
              <a:ext uri="{FF2B5EF4-FFF2-40B4-BE49-F238E27FC236}">
                <a16:creationId xmlns:a16="http://schemas.microsoft.com/office/drawing/2014/main" id="{3DC3F8D6-7E06-C069-070F-9FD50520D948}"/>
              </a:ext>
            </a:extLst>
          </p:cNvPr>
          <p:cNvSpPr/>
          <p:nvPr/>
        </p:nvSpPr>
        <p:spPr>
          <a:xfrm>
            <a:off x="0" y="6556647"/>
            <a:ext cx="12192000" cy="357822"/>
          </a:xfrm>
          <a:prstGeom prst="rect">
            <a:avLst/>
          </a:prstGeom>
          <a:solidFill>
            <a:srgbClr val="FFDC00"/>
          </a:solidFill>
          <a:ln w="9525" cap="flat" cmpd="sng" algn="ctr">
            <a:solidFill>
              <a:srgbClr val="162230"/>
            </a:solidFill>
            <a:prstDash val="solid"/>
          </a:ln>
          <a:effectLst/>
        </p:spPr>
        <p:txBody>
          <a:bodyPr rtlCol="0" anchor="ctr"/>
          <a:lstStyle/>
          <a:p>
            <a:pPr algn="ctr" defTabSz="914400">
              <a:defRPr/>
            </a:pPr>
            <a:endParaRPr lang="en-GB" kern="0" noProof="0" dirty="0">
              <a:solidFill>
                <a:prstClr val="white"/>
              </a:solidFill>
              <a:latin typeface="Calibri"/>
            </a:endParaRPr>
          </a:p>
        </p:txBody>
      </p:sp>
      <p:pic>
        <p:nvPicPr>
          <p:cNvPr id="10" name="Picture 2" descr="C:\Bruno\campus\unina\Stationery\Dipartimenti\DIETI\Logo_DIETI_Porte.png">
            <a:extLst>
              <a:ext uri="{FF2B5EF4-FFF2-40B4-BE49-F238E27FC236}">
                <a16:creationId xmlns:a16="http://schemas.microsoft.com/office/drawing/2014/main" id="{E0F69885-81D6-3E18-D652-2A4549AF3D8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015714" y="6574513"/>
            <a:ext cx="988444" cy="320576"/>
          </a:xfrm>
          <a:prstGeom prst="rect">
            <a:avLst/>
          </a:prstGeom>
          <a:noFill/>
          <a:extLst>
            <a:ext uri="{909E8E84-426E-40DD-AFC4-6F175D3DCCD1}">
              <a14:hiddenFill xmlns:a14="http://schemas.microsoft.com/office/drawing/2010/main">
                <a:solidFill>
                  <a:srgbClr val="FFFFFF"/>
                </a:solidFill>
              </a14:hiddenFill>
            </a:ext>
          </a:extLst>
        </p:spPr>
      </p:pic>
      <p:sp>
        <p:nvSpPr>
          <p:cNvPr id="2" name="Rettangolo 1">
            <a:extLst>
              <a:ext uri="{FF2B5EF4-FFF2-40B4-BE49-F238E27FC236}">
                <a16:creationId xmlns:a16="http://schemas.microsoft.com/office/drawing/2014/main" id="{48005F2A-47B6-321B-33FF-9B40777C7A5E}"/>
              </a:ext>
            </a:extLst>
          </p:cNvPr>
          <p:cNvSpPr/>
          <p:nvPr/>
        </p:nvSpPr>
        <p:spPr>
          <a:xfrm>
            <a:off x="14286" y="6598816"/>
            <a:ext cx="12177714" cy="307777"/>
          </a:xfrm>
          <a:prstGeom prst="rect">
            <a:avLst/>
          </a:prstGeom>
        </p:spPr>
        <p:txBody>
          <a:bodyPr wrap="square">
            <a:spAutoFit/>
          </a:bodyPr>
          <a:lstStyle/>
          <a:p>
            <a:pPr algn="ctr">
              <a:spcBef>
                <a:spcPts val="1750"/>
              </a:spcBef>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400" noProof="0" dirty="0">
                <a:solidFill>
                  <a:srgbClr val="162230"/>
                </a:solidFill>
                <a:latin typeface="Century Gothic"/>
                <a:cs typeface="Century Gothic"/>
              </a:rPr>
              <a:t>GREETINGS</a:t>
            </a:r>
          </a:p>
        </p:txBody>
      </p:sp>
      <p:sp>
        <p:nvSpPr>
          <p:cNvPr id="4" name="Rectangle 2">
            <a:extLst>
              <a:ext uri="{FF2B5EF4-FFF2-40B4-BE49-F238E27FC236}">
                <a16:creationId xmlns:a16="http://schemas.microsoft.com/office/drawing/2014/main" id="{CA209C3E-8D24-E89A-8816-651F601B3F80}"/>
              </a:ext>
            </a:extLst>
          </p:cNvPr>
          <p:cNvSpPr/>
          <p:nvPr/>
        </p:nvSpPr>
        <p:spPr>
          <a:xfrm>
            <a:off x="0" y="254591"/>
            <a:ext cx="12080384" cy="1415772"/>
          </a:xfrm>
          <a:prstGeom prst="rect">
            <a:avLst/>
          </a:prstGeom>
          <a:solidFill>
            <a:schemeClr val="bg1"/>
          </a:solidFill>
        </p:spPr>
        <p:txBody>
          <a:bodyPr wrap="square">
            <a:spAutoFit/>
          </a:bodyPr>
          <a:lstStyle/>
          <a:p>
            <a:pPr marL="457200" indent="-457200" algn="ctr">
              <a:spcAft>
                <a:spcPts val="600"/>
              </a:spcAft>
              <a:buClr>
                <a:srgbClr val="971720"/>
              </a:buClr>
              <a:buFont typeface="Wingdings" panose="05000000000000000000" pitchFamily="2" charset="2"/>
              <a:buChar char="v"/>
            </a:pPr>
            <a:r>
              <a:rPr lang="en-GB" sz="2800" b="1" noProof="0" dirty="0">
                <a:solidFill>
                  <a:srgbClr val="971720"/>
                </a:solidFill>
                <a:latin typeface="Cambria" panose="02040503050406030204" pitchFamily="18" charset="0"/>
                <a:ea typeface="Cambria" panose="02040503050406030204" pitchFamily="18" charset="0"/>
                <a:cs typeface="Century Gothic"/>
              </a:rPr>
              <a:t>THANK YOU FOR THE ATTENTION </a:t>
            </a:r>
            <a:r>
              <a:rPr lang="en-GB" sz="2800" noProof="0" dirty="0"/>
              <a:t>🦈</a:t>
            </a:r>
            <a:r>
              <a:rPr lang="en-GB" sz="2000" b="1" noProof="0" dirty="0"/>
              <a:t>🌊</a:t>
            </a:r>
          </a:p>
          <a:p>
            <a:pPr marL="457200" indent="-457200">
              <a:spcAft>
                <a:spcPts val="600"/>
              </a:spcAft>
              <a:buClr>
                <a:srgbClr val="971720"/>
              </a:buClr>
              <a:buFont typeface="Wingdings" panose="05000000000000000000" pitchFamily="2" charset="2"/>
              <a:buChar char="v"/>
            </a:pPr>
            <a:endParaRPr lang="en-GB" sz="2400" b="1" noProof="0" dirty="0">
              <a:solidFill>
                <a:srgbClr val="971720"/>
              </a:solidFill>
              <a:latin typeface="Cambria" panose="02040503050406030204" pitchFamily="18" charset="0"/>
              <a:ea typeface="Cambria" panose="02040503050406030204" pitchFamily="18" charset="0"/>
              <a:cs typeface="Century Gothic"/>
            </a:endParaRPr>
          </a:p>
          <a:p>
            <a:pPr marL="457200" indent="-457200">
              <a:spcAft>
                <a:spcPts val="600"/>
              </a:spcAft>
              <a:buClr>
                <a:srgbClr val="971720"/>
              </a:buClr>
              <a:buFont typeface="Wingdings" panose="05000000000000000000" pitchFamily="2" charset="2"/>
              <a:buChar char="v"/>
            </a:pPr>
            <a:endParaRPr lang="en-GB" sz="2400" b="1" noProof="0" dirty="0">
              <a:solidFill>
                <a:srgbClr val="971720"/>
              </a:solidFill>
              <a:latin typeface="Cambria" panose="02040503050406030204" pitchFamily="18" charset="0"/>
              <a:ea typeface="Cambria" panose="02040503050406030204" pitchFamily="18" charset="0"/>
              <a:cs typeface="Century Gothic"/>
            </a:endParaRPr>
          </a:p>
        </p:txBody>
      </p:sp>
      <p:pic>
        <p:nvPicPr>
          <p:cNvPr id="11" name="Immagine 10" descr="Immagine che contiene automobile, Ricambio auto, motore&#10;&#10;Il contenuto generato dall'IA potrebbe non essere corretto.">
            <a:extLst>
              <a:ext uri="{FF2B5EF4-FFF2-40B4-BE49-F238E27FC236}">
                <a16:creationId xmlns:a16="http://schemas.microsoft.com/office/drawing/2014/main" id="{57791A87-E62C-3B3F-822A-65FF04BA021A}"/>
              </a:ext>
            </a:extLst>
          </p:cNvPr>
          <p:cNvPicPr>
            <a:picLocks noChangeAspect="1"/>
          </p:cNvPicPr>
          <p:nvPr/>
        </p:nvPicPr>
        <p:blipFill>
          <a:blip r:embed="rId4"/>
          <a:stretch>
            <a:fillRect/>
          </a:stretch>
        </p:blipFill>
        <p:spPr>
          <a:xfrm>
            <a:off x="3048000" y="1143000"/>
            <a:ext cx="6096000" cy="4572000"/>
          </a:xfrm>
          <a:prstGeom prst="rect">
            <a:avLst/>
          </a:prstGeom>
        </p:spPr>
      </p:pic>
    </p:spTree>
    <p:extLst>
      <p:ext uri="{BB962C8B-B14F-4D97-AF65-F5344CB8AC3E}">
        <p14:creationId xmlns:p14="http://schemas.microsoft.com/office/powerpoint/2010/main" val="2914704030"/>
      </p:ext>
    </p:extLst>
  </p:cSld>
  <p:clrMapOvr>
    <a:masterClrMapping/>
  </p:clrMapOvr>
  <p:transition spd="slow">
    <p:push dir="u"/>
  </p:transition>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D2B476F9F3FCE418DEA2CD550DD36A5" ma:contentTypeVersion="15" ma:contentTypeDescription="Create a new document." ma:contentTypeScope="" ma:versionID="1c684b895dee8184ad1f48f965a0c270">
  <xsd:schema xmlns:xsd="http://www.w3.org/2001/XMLSchema" xmlns:xs="http://www.w3.org/2001/XMLSchema" xmlns:p="http://schemas.microsoft.com/office/2006/metadata/properties" xmlns:ns3="23e585a3-b6b1-4c57-812a-728aac619ac8" xmlns:ns4="e4ea8ca7-2a22-400a-a5ca-c3d5b8483985" targetNamespace="http://schemas.microsoft.com/office/2006/metadata/properties" ma:root="true" ma:fieldsID="c5eab66b6e6bb8f0d9873895fbd5c9e8" ns3:_="" ns4:_="">
    <xsd:import namespace="23e585a3-b6b1-4c57-812a-728aac619ac8"/>
    <xsd:import namespace="e4ea8ca7-2a22-400a-a5ca-c3d5b8483985"/>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GenerationTime" minOccurs="0"/>
                <xsd:element ref="ns4:MediaServiceEventHashCode" minOccurs="0"/>
                <xsd:element ref="ns4:_activity" minOccurs="0"/>
                <xsd:element ref="ns4:MediaServiceObjectDetectorVersions" minOccurs="0"/>
                <xsd:element ref="ns4:MediaServiceSearchProperties" minOccurs="0"/>
                <xsd:element ref="ns4:MediaServiceSystemTags" minOccurs="0"/>
                <xsd:element ref="ns4: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e585a3-b6b1-4c57-812a-728aac619ac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4ea8ca7-2a22-400a-a5ca-c3d5b8483985"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_activity" ma:index="18" nillable="true" ma:displayName="_activity" ma:hidden="true" ma:internalName="_activity">
      <xsd:simpleType>
        <xsd:restriction base="dms:Note"/>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SystemTags" ma:index="21" nillable="true" ma:displayName="MediaServiceSystemTags" ma:hidden="true" ma:internalName="MediaServiceSystemTags"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4ea8ca7-2a22-400a-a5ca-c3d5b8483985" xsi:nil="true"/>
  </documentManagement>
</p:properties>
</file>

<file path=customXml/itemProps1.xml><?xml version="1.0" encoding="utf-8"?>
<ds:datastoreItem xmlns:ds="http://schemas.openxmlformats.org/officeDocument/2006/customXml" ds:itemID="{87E185E9-D88A-449C-BC53-643DBAE468B7}">
  <ds:schemaRefs>
    <ds:schemaRef ds:uri="http://schemas.microsoft.com/sharepoint/v3/contenttype/forms"/>
  </ds:schemaRefs>
</ds:datastoreItem>
</file>

<file path=customXml/itemProps2.xml><?xml version="1.0" encoding="utf-8"?>
<ds:datastoreItem xmlns:ds="http://schemas.openxmlformats.org/officeDocument/2006/customXml" ds:itemID="{985BCBA7-E4DA-4105-801A-D620F4026E5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3e585a3-b6b1-4c57-812a-728aac619ac8"/>
    <ds:schemaRef ds:uri="e4ea8ca7-2a22-400a-a5ca-c3d5b84839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52C6A36-6D60-4F76-B6C6-890C86546E82}">
  <ds:schemaRefs>
    <ds:schemaRef ds:uri="http://schemas.microsoft.com/office/infopath/2007/PartnerControls"/>
    <ds:schemaRef ds:uri="http://schemas.microsoft.com/office/2006/documentManagement/types"/>
    <ds:schemaRef ds:uri="23e585a3-b6b1-4c57-812a-728aac619ac8"/>
    <ds:schemaRef ds:uri="http://purl.org/dc/dcmitype/"/>
    <ds:schemaRef ds:uri="http://purl.org/dc/elements/1.1/"/>
    <ds:schemaRef ds:uri="http://schemas.openxmlformats.org/package/2006/metadata/core-properties"/>
    <ds:schemaRef ds:uri="http://schemas.microsoft.com/office/2006/metadata/properties"/>
    <ds:schemaRef ds:uri="e4ea8ca7-2a22-400a-a5ca-c3d5b8483985"/>
    <ds:schemaRef ds:uri="http://purl.org/dc/term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1010</TotalTime>
  <Words>2059</Words>
  <Application>Microsoft Office PowerPoint</Application>
  <PresentationFormat>Widescreen</PresentationFormat>
  <Paragraphs>218</Paragraphs>
  <Slides>16</Slides>
  <Notes>16</Notes>
  <HiddenSlides>0</HiddenSlides>
  <MMClips>2</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16</vt:i4>
      </vt:variant>
    </vt:vector>
  </HeadingPairs>
  <TitlesOfParts>
    <vt:vector size="23" baseType="lpstr">
      <vt:lpstr>Arial</vt:lpstr>
      <vt:lpstr>Calibri</vt:lpstr>
      <vt:lpstr>Cambria</vt:lpstr>
      <vt:lpstr>Cambria Math</vt:lpstr>
      <vt:lpstr>Century Gothic</vt:lpstr>
      <vt:lpstr>Wingdings</vt:lpstr>
      <vt:lpstr>Tema di Office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Università degli Studi Federico II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Corso di studi in Ingegneria dell'Automazione</dc:title>
  <dc:subject>Presentazione</dc:subject>
  <dc:creator>Bruno Siciliano</dc:creator>
  <cp:lastModifiedBy>SALVATORE DE LUCA</cp:lastModifiedBy>
  <cp:revision>94</cp:revision>
  <dcterms:created xsi:type="dcterms:W3CDTF">2013-09-05T14:27:33Z</dcterms:created>
  <dcterms:modified xsi:type="dcterms:W3CDTF">2025-08-30T10:26:00Z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d0b24d-6422-44b0-b3de-abb3a9e8c81a_Enabled">
    <vt:lpwstr>true</vt:lpwstr>
  </property>
  <property fmtid="{D5CDD505-2E9C-101B-9397-08002B2CF9AE}" pid="3" name="MSIP_Label_2ad0b24d-6422-44b0-b3de-abb3a9e8c81a_SetDate">
    <vt:lpwstr>2025-08-19T11:16:06Z</vt:lpwstr>
  </property>
  <property fmtid="{D5CDD505-2E9C-101B-9397-08002B2CF9AE}" pid="4" name="MSIP_Label_2ad0b24d-6422-44b0-b3de-abb3a9e8c81a_Method">
    <vt:lpwstr>Standard</vt:lpwstr>
  </property>
  <property fmtid="{D5CDD505-2E9C-101B-9397-08002B2CF9AE}" pid="5" name="MSIP_Label_2ad0b24d-6422-44b0-b3de-abb3a9e8c81a_Name">
    <vt:lpwstr>defa4170-0d19-0005-0004-bc88714345d2</vt:lpwstr>
  </property>
  <property fmtid="{D5CDD505-2E9C-101B-9397-08002B2CF9AE}" pid="6" name="MSIP_Label_2ad0b24d-6422-44b0-b3de-abb3a9e8c81a_SiteId">
    <vt:lpwstr>2fcfe26a-bb62-46b0-b1e3-28f9da0c45fd</vt:lpwstr>
  </property>
  <property fmtid="{D5CDD505-2E9C-101B-9397-08002B2CF9AE}" pid="7" name="MSIP_Label_2ad0b24d-6422-44b0-b3de-abb3a9e8c81a_ActionId">
    <vt:lpwstr>8f458bdd-8fc5-4c44-95fd-7beb689d0552</vt:lpwstr>
  </property>
  <property fmtid="{D5CDD505-2E9C-101B-9397-08002B2CF9AE}" pid="8" name="MSIP_Label_2ad0b24d-6422-44b0-b3de-abb3a9e8c81a_ContentBits">
    <vt:lpwstr>0</vt:lpwstr>
  </property>
  <property fmtid="{D5CDD505-2E9C-101B-9397-08002B2CF9AE}" pid="9" name="MSIP_Label_2ad0b24d-6422-44b0-b3de-abb3a9e8c81a_Tag">
    <vt:lpwstr>10, 3, 0, 1</vt:lpwstr>
  </property>
  <property fmtid="{D5CDD505-2E9C-101B-9397-08002B2CF9AE}" pid="10" name="ContentTypeId">
    <vt:lpwstr>0x010100BD2B476F9F3FCE418DEA2CD550DD36A5</vt:lpwstr>
  </property>
</Properties>
</file>